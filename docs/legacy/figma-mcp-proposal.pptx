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Lst>
  <p:notesMasterIdLst>
    <p:notesMasterId r:id="rId11"/>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notesMaster" Target="notesMasters/notesMaster1.xml"/><Relationship Id="rId12" Type="http://schemas.openxmlformats.org/officeDocument/2006/relationships/presProps" Target="presProps.xml"/><Relationship Id="rId13" Type="http://schemas.openxmlformats.org/officeDocument/2006/relationships/viewProps" Target="viewProps.xml"/><Relationship Id="rId14" Type="http://schemas.openxmlformats.org/officeDocument/2006/relationships/theme" Target="theme/theme1.xml"/><Relationship Id="rId15"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D1117"/>
        </a:solidFill>
      </p:bgPr>
    </p:bg>
    <p:spTree>
      <p:nvGrpSpPr>
        <p:cNvPr id="1" name=""/>
        <p:cNvGrpSpPr/>
        <p:nvPr/>
      </p:nvGrpSpPr>
      <p:grpSpPr>
        <a:xfrm>
          <a:off x="0" y="0"/>
          <a:ext cx="0" cy="0"/>
          <a:chOff x="0" y="0"/>
          <a:chExt cx="0" cy="0"/>
        </a:xfrm>
      </p:grpSpPr>
      <p:sp>
        <p:nvSpPr>
          <p:cNvPr id="2" name="Shape 0"/>
          <p:cNvSpPr/>
          <p:nvPr/>
        </p:nvSpPr>
        <p:spPr>
          <a:xfrm>
            <a:off x="0" y="0"/>
            <a:ext cx="9144000" cy="50292"/>
          </a:xfrm>
          <a:prstGeom prst="rect">
            <a:avLst/>
          </a:prstGeom>
          <a:solidFill>
            <a:srgbClr val="7C3AED"/>
          </a:solidFill>
          <a:ln w="12700">
            <a:solidFill>
              <a:srgbClr val="7C3AED"/>
            </a:solidFill>
            <a:prstDash val="solid"/>
          </a:ln>
        </p:spPr>
      </p:sp>
      <p:sp>
        <p:nvSpPr>
          <p:cNvPr id="3" name="Shape 1"/>
          <p:cNvSpPr/>
          <p:nvPr/>
        </p:nvSpPr>
        <p:spPr>
          <a:xfrm>
            <a:off x="548640" y="868680"/>
            <a:ext cx="2697480" cy="310896"/>
          </a:xfrm>
          <a:prstGeom prst="rect">
            <a:avLst/>
          </a:prstGeom>
          <a:solidFill>
            <a:srgbClr val="1C2128"/>
          </a:solidFill>
          <a:ln w="12700">
            <a:solidFill>
              <a:srgbClr val="553C9A"/>
            </a:solidFill>
            <a:prstDash val="solid"/>
          </a:ln>
        </p:spPr>
      </p:sp>
      <p:sp>
        <p:nvSpPr>
          <p:cNvPr id="4" name="Shape 2"/>
          <p:cNvSpPr/>
          <p:nvPr/>
        </p:nvSpPr>
        <p:spPr>
          <a:xfrm>
            <a:off x="713232" y="992124"/>
            <a:ext cx="100584" cy="100584"/>
          </a:xfrm>
          <a:prstGeom prst="ellipse">
            <a:avLst/>
          </a:prstGeom>
          <a:solidFill>
            <a:srgbClr val="3FB950"/>
          </a:solidFill>
          <a:ln w="12700">
            <a:solidFill>
              <a:srgbClr val="3FB950"/>
            </a:solidFill>
            <a:prstDash val="solid"/>
          </a:ln>
        </p:spPr>
      </p:sp>
      <p:sp>
        <p:nvSpPr>
          <p:cNvPr id="5" name="Text 3"/>
          <p:cNvSpPr/>
          <p:nvPr/>
        </p:nvSpPr>
        <p:spPr>
          <a:xfrm>
            <a:off x="914400" y="868680"/>
            <a:ext cx="2286000" cy="310896"/>
          </a:xfrm>
          <a:prstGeom prst="rect">
            <a:avLst/>
          </a:prstGeom>
          <a:noFill/>
          <a:ln/>
        </p:spPr>
        <p:txBody>
          <a:bodyPr wrap="square" lIns="0" tIns="0" rIns="0" bIns="0" rtlCol="0" anchor="ctr"/>
          <a:lstStyle/>
          <a:p>
            <a:pPr indent="0" marL="0">
              <a:buNone/>
            </a:pPr>
            <a:r>
              <a:rPr lang="en-US" sz="950" b="1" dirty="0">
                <a:solidFill>
                  <a:srgbClr val="A78BFA"/>
                </a:solidFill>
                <a:latin typeface="Calibri" pitchFamily="34" charset="0"/>
                <a:ea typeface="Calibri" pitchFamily="34" charset="-122"/>
                <a:cs typeface="Calibri" pitchFamily="34" charset="-120"/>
              </a:rPr>
              <a:t>PoC 実装済み — Phase 7 完了</a:t>
            </a:r>
            <a:endParaRPr lang="en-US" sz="950" dirty="0"/>
          </a:p>
        </p:txBody>
      </p:sp>
      <p:sp>
        <p:nvSpPr>
          <p:cNvPr id="6" name="Text 4"/>
          <p:cNvSpPr/>
          <p:nvPr/>
        </p:nvSpPr>
        <p:spPr>
          <a:xfrm>
            <a:off x="530352" y="1371600"/>
            <a:ext cx="4114800" cy="1554480"/>
          </a:xfrm>
          <a:prstGeom prst="rect">
            <a:avLst/>
          </a:prstGeom>
          <a:noFill/>
          <a:ln/>
        </p:spPr>
        <p:txBody>
          <a:bodyPr wrap="square" lIns="0" tIns="0" rIns="0" bIns="0" rtlCol="0" anchor="t"/>
          <a:lstStyle/>
          <a:p>
            <a:pPr indent="0" marL="0">
              <a:lnSpc>
                <a:spcPct val="115000"/>
              </a:lnSpc>
              <a:buNone/>
            </a:pPr>
            <a:r>
              <a:rPr lang="en-US" sz="3300" b="1" dirty="0">
                <a:solidFill>
                  <a:srgbClr val="F0F6FC"/>
                </a:solidFill>
                <a:latin typeface="Calibri" pitchFamily="34" charset="0"/>
                <a:ea typeface="Calibri" pitchFamily="34" charset="-122"/>
                <a:cs typeface="Calibri" pitchFamily="34" charset="-120"/>
              </a:rPr>
              <a:t>Playwright ベースの</a:t>
            </a:r>
            <a:endParaRPr lang="en-US" sz="3300" dirty="0"/>
          </a:p>
          <a:p>
            <a:pPr indent="0" marL="0">
              <a:lnSpc>
                <a:spcPct val="115000"/>
              </a:lnSpc>
              <a:buNone/>
            </a:pPr>
            <a:r>
              <a:rPr lang="en-US" sz="3300" b="1" dirty="0">
                <a:solidFill>
                  <a:srgbClr val="F0F6FC"/>
                </a:solidFill>
                <a:latin typeface="Calibri" pitchFamily="34" charset="0"/>
                <a:ea typeface="Calibri" pitchFamily="34" charset="-122"/>
                <a:cs typeface="Calibri" pitchFamily="34" charset="-120"/>
              </a:rPr>
              <a:t>自作 Figma MCP</a:t>
            </a:r>
            <a:endParaRPr lang="en-US" sz="3300" dirty="0"/>
          </a:p>
        </p:txBody>
      </p:sp>
      <p:sp>
        <p:nvSpPr>
          <p:cNvPr id="7" name="Text 5"/>
          <p:cNvSpPr/>
          <p:nvPr/>
        </p:nvSpPr>
        <p:spPr>
          <a:xfrm>
            <a:off x="548640" y="2880360"/>
            <a:ext cx="4114800" cy="731520"/>
          </a:xfrm>
          <a:prstGeom prst="rect">
            <a:avLst/>
          </a:prstGeom>
          <a:noFill/>
          <a:ln/>
        </p:spPr>
        <p:txBody>
          <a:bodyPr wrap="square" lIns="0" tIns="0" rIns="0" bIns="0" rtlCol="0" anchor="ctr"/>
          <a:lstStyle/>
          <a:p>
            <a:pPr indent="0" marL="0">
              <a:lnSpc>
                <a:spcPct val="130000"/>
              </a:lnSpc>
              <a:buNone/>
            </a:pPr>
            <a:r>
              <a:rPr lang="en-US" sz="1300" dirty="0">
                <a:solidFill>
                  <a:srgbClr val="C9D1D9"/>
                </a:solidFill>
                <a:latin typeface="Calibri" pitchFamily="34" charset="0"/>
                <a:ea typeface="Calibri" pitchFamily="34" charset="-122"/>
                <a:cs typeface="Calibri" pitchFamily="34" charset="-120"/>
              </a:rPr>
              <a:t>ガバナンス制約を回避する、</a:t>
            </a:r>
            <a:endParaRPr lang="en-US" sz="1300" dirty="0"/>
          </a:p>
          <a:p>
            <a:pPr indent="0" marL="0">
              <a:lnSpc>
                <a:spcPct val="130000"/>
              </a:lnSpc>
              <a:buNone/>
            </a:pPr>
            <a:r>
              <a:rPr lang="en-US" sz="1300" dirty="0">
                <a:solidFill>
                  <a:srgbClr val="C9D1D9"/>
                </a:solidFill>
                <a:latin typeface="Calibri" pitchFamily="34" charset="0"/>
                <a:ea typeface="Calibri" pitchFamily="34" charset="-122"/>
                <a:cs typeface="Calibri" pitchFamily="34" charset="-120"/>
              </a:rPr>
              <a:t>安全なデザイン参照の新アプローチ</a:t>
            </a:r>
            <a:endParaRPr lang="en-US" sz="1300" dirty="0"/>
          </a:p>
        </p:txBody>
      </p:sp>
      <p:sp>
        <p:nvSpPr>
          <p:cNvPr id="8" name="Shape 6"/>
          <p:cNvSpPr/>
          <p:nvPr/>
        </p:nvSpPr>
        <p:spPr>
          <a:xfrm>
            <a:off x="566928" y="3794760"/>
            <a:ext cx="3657600" cy="0"/>
          </a:xfrm>
          <a:prstGeom prst="line">
            <a:avLst/>
          </a:prstGeom>
          <a:noFill/>
          <a:ln w="12700">
            <a:solidFill>
              <a:srgbClr val="30363D"/>
            </a:solidFill>
            <a:prstDash val="solid"/>
          </a:ln>
        </p:spPr>
      </p:sp>
      <p:sp>
        <p:nvSpPr>
          <p:cNvPr id="9" name="Text 7"/>
          <p:cNvSpPr/>
          <p:nvPr/>
        </p:nvSpPr>
        <p:spPr>
          <a:xfrm>
            <a:off x="548640" y="3931920"/>
            <a:ext cx="4114800" cy="274320"/>
          </a:xfrm>
          <a:prstGeom prst="rect">
            <a:avLst/>
          </a:prstGeom>
          <a:noFill/>
          <a:ln/>
        </p:spPr>
        <p:txBody>
          <a:bodyPr wrap="square" lIns="0" tIns="0" rIns="0" bIns="0" rtlCol="0" anchor="ctr"/>
          <a:lstStyle/>
          <a:p>
            <a:pPr indent="0" marL="0">
              <a:buNone/>
            </a:pPr>
            <a:r>
              <a:rPr lang="en-US" sz="1000" dirty="0">
                <a:solidFill>
                  <a:srgbClr val="8B949E"/>
                </a:solidFill>
                <a:latin typeface="Calibri" pitchFamily="34" charset="0"/>
                <a:ea typeface="Calibri" pitchFamily="34" charset="-122"/>
                <a:cs typeface="Calibri" pitchFamily="34" charset="-120"/>
              </a:rPr>
              <a:t>デジタルプロダクトデザインチーム   ·   2026</a:t>
            </a:r>
            <a:endParaRPr lang="en-US" sz="1000" dirty="0"/>
          </a:p>
        </p:txBody>
      </p:sp>
      <p:sp>
        <p:nvSpPr>
          <p:cNvPr id="10" name="Shape 8"/>
          <p:cNvSpPr/>
          <p:nvPr/>
        </p:nvSpPr>
        <p:spPr>
          <a:xfrm>
            <a:off x="4800600" y="868680"/>
            <a:ext cx="3931920" cy="3429000"/>
          </a:xfrm>
          <a:prstGeom prst="rect">
            <a:avLst/>
          </a:prstGeom>
          <a:solidFill>
            <a:srgbClr val="161B22"/>
          </a:solidFill>
          <a:ln w="12700">
            <a:solidFill>
              <a:srgbClr val="30363D"/>
            </a:solidFill>
            <a:prstDash val="solid"/>
          </a:ln>
          <a:effectLst>
            <a:outerShdw sx="100000" sy="100000" kx="0" ky="0" algn="bl" rotWithShape="0" blurRad="127000" dist="38100" dir="8100000">
              <a:srgbClr val="000000">
                <a:alpha val="45000"/>
              </a:srgbClr>
            </a:outerShdw>
          </a:effectLst>
        </p:spPr>
      </p:sp>
      <p:sp>
        <p:nvSpPr>
          <p:cNvPr id="11" name="Shape 9"/>
          <p:cNvSpPr/>
          <p:nvPr/>
        </p:nvSpPr>
        <p:spPr>
          <a:xfrm>
            <a:off x="4800600" y="868680"/>
            <a:ext cx="3931920" cy="329184"/>
          </a:xfrm>
          <a:prstGeom prst="rect">
            <a:avLst/>
          </a:prstGeom>
          <a:solidFill>
            <a:srgbClr val="1C2128"/>
          </a:solidFill>
          <a:ln w="12700">
            <a:solidFill>
              <a:srgbClr val="30363D"/>
            </a:solidFill>
            <a:prstDash val="solid"/>
          </a:ln>
        </p:spPr>
      </p:sp>
      <p:sp>
        <p:nvSpPr>
          <p:cNvPr id="12" name="Shape 10"/>
          <p:cNvSpPr/>
          <p:nvPr/>
        </p:nvSpPr>
        <p:spPr>
          <a:xfrm>
            <a:off x="4946904" y="982980"/>
            <a:ext cx="100584" cy="100584"/>
          </a:xfrm>
          <a:prstGeom prst="ellipse">
            <a:avLst/>
          </a:prstGeom>
          <a:solidFill>
            <a:srgbClr val="F85149"/>
          </a:solidFill>
          <a:ln w="12700">
            <a:solidFill>
              <a:srgbClr val="F85149"/>
            </a:solidFill>
            <a:prstDash val="solid"/>
          </a:ln>
        </p:spPr>
      </p:sp>
      <p:sp>
        <p:nvSpPr>
          <p:cNvPr id="13" name="Shape 11"/>
          <p:cNvSpPr/>
          <p:nvPr/>
        </p:nvSpPr>
        <p:spPr>
          <a:xfrm>
            <a:off x="5148072" y="982980"/>
            <a:ext cx="100584" cy="100584"/>
          </a:xfrm>
          <a:prstGeom prst="ellipse">
            <a:avLst/>
          </a:prstGeom>
          <a:solidFill>
            <a:srgbClr val="D29922"/>
          </a:solidFill>
          <a:ln w="12700">
            <a:solidFill>
              <a:srgbClr val="D29922"/>
            </a:solidFill>
            <a:prstDash val="solid"/>
          </a:ln>
        </p:spPr>
      </p:sp>
      <p:sp>
        <p:nvSpPr>
          <p:cNvPr id="14" name="Shape 12"/>
          <p:cNvSpPr/>
          <p:nvPr/>
        </p:nvSpPr>
        <p:spPr>
          <a:xfrm>
            <a:off x="5349240" y="982980"/>
            <a:ext cx="100584" cy="100584"/>
          </a:xfrm>
          <a:prstGeom prst="ellipse">
            <a:avLst/>
          </a:prstGeom>
          <a:solidFill>
            <a:srgbClr val="3FB950"/>
          </a:solidFill>
          <a:ln w="12700">
            <a:solidFill>
              <a:srgbClr val="3FB950"/>
            </a:solidFill>
            <a:prstDash val="solid"/>
          </a:ln>
        </p:spPr>
      </p:sp>
      <p:sp>
        <p:nvSpPr>
          <p:cNvPr id="15" name="Text 13"/>
          <p:cNvSpPr/>
          <p:nvPr/>
        </p:nvSpPr>
        <p:spPr>
          <a:xfrm>
            <a:off x="5669280" y="868680"/>
            <a:ext cx="2926080" cy="329184"/>
          </a:xfrm>
          <a:prstGeom prst="rect">
            <a:avLst/>
          </a:prstGeom>
          <a:noFill/>
          <a:ln/>
        </p:spPr>
        <p:txBody>
          <a:bodyPr wrap="square" lIns="0" tIns="0" rIns="0" bIns="0" rtlCol="0" anchor="ctr"/>
          <a:lstStyle/>
          <a:p>
            <a:pPr indent="0" marL="0">
              <a:buNone/>
            </a:pPr>
            <a:r>
              <a:rPr lang="en-US" sz="850" dirty="0">
                <a:solidFill>
                  <a:srgbClr val="8B949E"/>
                </a:solidFill>
                <a:latin typeface="Courier New" pitchFamily="34" charset="0"/>
                <a:ea typeface="Courier New" pitchFamily="34" charset="-122"/>
                <a:cs typeface="Courier New" pitchFamily="34" charset="-120"/>
              </a:rPr>
              <a:t>figma-mcp-service</a:t>
            </a:r>
            <a:endParaRPr lang="en-US" sz="850" dirty="0"/>
          </a:p>
        </p:txBody>
      </p:sp>
      <p:sp>
        <p:nvSpPr>
          <p:cNvPr id="16" name="Text 14"/>
          <p:cNvSpPr/>
          <p:nvPr/>
        </p:nvSpPr>
        <p:spPr>
          <a:xfrm>
            <a:off x="5056632" y="1344168"/>
            <a:ext cx="3474720" cy="2788920"/>
          </a:xfrm>
          <a:prstGeom prst="rect">
            <a:avLst/>
          </a:prstGeom>
          <a:noFill/>
          <a:ln/>
        </p:spPr>
        <p:txBody>
          <a:bodyPr wrap="square" lIns="0" tIns="0" rIns="0" bIns="0" rtlCol="0" anchor="t"/>
          <a:lstStyle/>
          <a:p>
            <a:pPr indent="0" marL="0">
              <a:lnSpc>
                <a:spcPct val="142000"/>
              </a:lnSpc>
              <a:buNone/>
            </a:pPr>
            <a:r>
              <a:rPr lang="en-US" sz="1050" dirty="0">
                <a:solidFill>
                  <a:srgbClr val="8B949E"/>
                </a:solidFill>
                <a:latin typeface="Courier New" pitchFamily="34" charset="0"/>
                <a:ea typeface="Courier New" pitchFamily="34" charset="-122"/>
                <a:cs typeface="Courier New" pitchFamily="34" charset="-120"/>
              </a:rPr>
              <a:t>// GitHub Codespaces VM</a:t>
            </a:r>
            <a:endParaRPr lang="en-US" sz="1050" dirty="0"/>
          </a:p>
          <a:p>
            <a:pPr indent="0" marL="0">
              <a:lnSpc>
                <a:spcPct val="142000"/>
              </a:lnSpc>
              <a:buNone/>
            </a:pPr>
            <a:r>
              <a:rPr lang="en-US" sz="1050" dirty="0">
                <a:solidFill>
                  <a:srgbClr val="FF7B72"/>
                </a:solidFill>
                <a:latin typeface="Courier New" pitchFamily="34" charset="0"/>
                <a:ea typeface="Courier New" pitchFamily="34" charset="-122"/>
                <a:cs typeface="Courier New" pitchFamily="34" charset="-120"/>
              </a:rPr>
              <a:t>const </a:t>
            </a:r>
            <a:pPr indent="0" marL="0">
              <a:lnSpc>
                <a:spcPct val="142000"/>
              </a:lnSpc>
              <a:buNone/>
            </a:pPr>
            <a:r>
              <a:rPr lang="en-US" sz="1050" dirty="0">
                <a:solidFill>
                  <a:srgbClr val="F0F6FC"/>
                </a:solidFill>
                <a:latin typeface="Courier New" pitchFamily="34" charset="0"/>
                <a:ea typeface="Courier New" pitchFamily="34" charset="-122"/>
                <a:cs typeface="Courier New" pitchFamily="34" charset="-120"/>
              </a:rPr>
              <a:t>img </a:t>
            </a:r>
            <a:pPr indent="0" marL="0">
              <a:lnSpc>
                <a:spcPct val="142000"/>
              </a:lnSpc>
              <a:buNone/>
            </a:pPr>
            <a:r>
              <a:rPr lang="en-US" sz="1050" dirty="0">
                <a:solidFill>
                  <a:srgbClr val="C9D1D9"/>
                </a:solidFill>
                <a:latin typeface="Courier New" pitchFamily="34" charset="0"/>
                <a:ea typeface="Courier New" pitchFamily="34" charset="-122"/>
                <a:cs typeface="Courier New" pitchFamily="34" charset="-120"/>
              </a:rPr>
              <a:t>= </a:t>
            </a:r>
            <a:pPr indent="0" marL="0">
              <a:lnSpc>
                <a:spcPct val="142000"/>
              </a:lnSpc>
              <a:buNone/>
            </a:pPr>
            <a:r>
              <a:rPr lang="en-US" sz="1050" dirty="0">
                <a:solidFill>
                  <a:srgbClr val="FF7B72"/>
                </a:solidFill>
                <a:latin typeface="Courier New" pitchFamily="34" charset="0"/>
                <a:ea typeface="Courier New" pitchFamily="34" charset="-122"/>
                <a:cs typeface="Courier New" pitchFamily="34" charset="-120"/>
              </a:rPr>
              <a:t>await </a:t>
            </a:r>
            <a:pPr indent="0" marL="0">
              <a:lnSpc>
                <a:spcPct val="142000"/>
              </a:lnSpc>
              <a:buNone/>
            </a:pPr>
            <a:r>
              <a:rPr lang="en-US" sz="1050" dirty="0">
                <a:solidFill>
                  <a:srgbClr val="C9D1D9"/>
                </a:solidFill>
                <a:latin typeface="Courier New" pitchFamily="34" charset="0"/>
                <a:ea typeface="Courier New" pitchFamily="34" charset="-122"/>
                <a:cs typeface="Courier New" pitchFamily="34" charset="-120"/>
              </a:rPr>
              <a:t>mcp.</a:t>
            </a:r>
            <a:pPr indent="0" marL="0">
              <a:lnSpc>
                <a:spcPct val="142000"/>
              </a:lnSpc>
              <a:buNone/>
            </a:pPr>
            <a:r>
              <a:rPr lang="en-US" sz="1050" dirty="0">
                <a:solidFill>
                  <a:srgbClr val="A78BFA"/>
                </a:solidFill>
                <a:latin typeface="Courier New" pitchFamily="34" charset="0"/>
                <a:ea typeface="Courier New" pitchFamily="34" charset="-122"/>
                <a:cs typeface="Courier New" pitchFamily="34" charset="-120"/>
              </a:rPr>
              <a:t>call</a:t>
            </a:r>
            <a:pPr indent="0" marL="0">
              <a:lnSpc>
                <a:spcPct val="142000"/>
              </a:lnSpc>
              <a:buNone/>
            </a:pPr>
            <a:r>
              <a:rPr lang="en-US" sz="1050" dirty="0">
                <a:solidFill>
                  <a:srgbClr val="C9D1D9"/>
                </a:solidFill>
                <a:latin typeface="Courier New" pitchFamily="34" charset="0"/>
                <a:ea typeface="Courier New" pitchFamily="34" charset="-122"/>
                <a:cs typeface="Courier New" pitchFamily="34" charset="-120"/>
              </a:rPr>
              <a:t>({</a:t>
            </a:r>
            <a:endParaRPr lang="en-US" sz="1050" dirty="0"/>
          </a:p>
          <a:p>
            <a:pPr indent="0" marL="0">
              <a:lnSpc>
                <a:spcPct val="142000"/>
              </a:lnSpc>
              <a:buNone/>
            </a:pPr>
            <a:r>
              <a:rPr lang="en-US" sz="1050" dirty="0">
                <a:solidFill>
                  <a:srgbClr val="C9D1D9"/>
                </a:solidFill>
                <a:latin typeface="Courier New" pitchFamily="34" charset="0"/>
                <a:ea typeface="Courier New" pitchFamily="34" charset="-122"/>
                <a:cs typeface="Courier New" pitchFamily="34" charset="-120"/>
              </a:rPr>
              <a:t>  tool: </a:t>
            </a:r>
            <a:pPr indent="0" marL="0">
              <a:lnSpc>
                <a:spcPct val="142000"/>
              </a:lnSpc>
              <a:buNone/>
            </a:pPr>
            <a:r>
              <a:rPr lang="en-US" sz="1050" dirty="0">
                <a:solidFill>
                  <a:srgbClr val="79C0FF"/>
                </a:solidFill>
                <a:latin typeface="Courier New" pitchFamily="34" charset="0"/>
                <a:ea typeface="Courier New" pitchFamily="34" charset="-122"/>
                <a:cs typeface="Courier New" pitchFamily="34" charset="-120"/>
              </a:rPr>
              <a:t>"figma_get_screenshot",</a:t>
            </a:r>
            <a:endParaRPr lang="en-US" sz="1050" dirty="0"/>
          </a:p>
          <a:p>
            <a:pPr indent="0" marL="0">
              <a:lnSpc>
                <a:spcPct val="142000"/>
              </a:lnSpc>
              <a:buNone/>
            </a:pPr>
            <a:r>
              <a:rPr lang="en-US" sz="1050" dirty="0">
                <a:solidFill>
                  <a:srgbClr val="C9D1D9"/>
                </a:solidFill>
                <a:latin typeface="Courier New" pitchFamily="34" charset="0"/>
                <a:ea typeface="Courier New" pitchFamily="34" charset="-122"/>
                <a:cs typeface="Courier New" pitchFamily="34" charset="-120"/>
              </a:rPr>
              <a:t>  url:  </a:t>
            </a:r>
            <a:pPr indent="0" marL="0">
              <a:lnSpc>
                <a:spcPct val="142000"/>
              </a:lnSpc>
              <a:buNone/>
            </a:pPr>
            <a:r>
              <a:rPr lang="en-US" sz="1050" dirty="0">
                <a:solidFill>
                  <a:srgbClr val="79C0FF"/>
                </a:solidFill>
                <a:latin typeface="Courier New" pitchFamily="34" charset="0"/>
                <a:ea typeface="Courier New" pitchFamily="34" charset="-122"/>
                <a:cs typeface="Courier New" pitchFamily="34" charset="-120"/>
              </a:rPr>
              <a:t>"figma.com/design/...",</a:t>
            </a:r>
            <a:endParaRPr lang="en-US" sz="1050" dirty="0"/>
          </a:p>
          <a:p>
            <a:pPr indent="0" marL="0">
              <a:lnSpc>
                <a:spcPct val="142000"/>
              </a:lnSpc>
              <a:buNone/>
            </a:pPr>
            <a:r>
              <a:rPr lang="en-US" sz="1050" dirty="0">
                <a:solidFill>
                  <a:srgbClr val="C9D1D9"/>
                </a:solidFill>
                <a:latin typeface="Courier New" pitchFamily="34" charset="0"/>
                <a:ea typeface="Courier New" pitchFamily="34" charset="-122"/>
                <a:cs typeface="Courier New" pitchFamily="34" charset="-120"/>
              </a:rPr>
              <a:t>});</a:t>
            </a:r>
            <a:endParaRPr lang="en-US" sz="1050" dirty="0"/>
          </a:p>
          <a:p>
            <a:pPr indent="0" marL="0">
              <a:lnSpc>
                <a:spcPct val="142000"/>
              </a:lnSpc>
              <a:buNone/>
            </a:pPr>
            <a:r>
              <a:rPr lang="en-US" sz="1050" dirty="0">
                <a:solidFill>
                  <a:srgbClr val="000000"/>
                </a:solidFill>
                <a:latin typeface="Courier New" pitchFamily="34" charset="0"/>
                <a:ea typeface="Courier New" pitchFamily="34" charset="-122"/>
                <a:cs typeface="Courier New" pitchFamily="34" charset="-120"/>
              </a:rPr>
              <a:t> </a:t>
            </a:r>
            <a:endParaRPr lang="en-US" sz="1050" dirty="0"/>
          </a:p>
          <a:p>
            <a:pPr indent="0" marL="0">
              <a:lnSpc>
                <a:spcPct val="142000"/>
              </a:lnSpc>
              <a:buNone/>
            </a:pPr>
            <a:r>
              <a:rPr lang="en-US" sz="1050" dirty="0">
                <a:solidFill>
                  <a:srgbClr val="56D364"/>
                </a:solidFill>
                <a:latin typeface="Courier New" pitchFamily="34" charset="0"/>
                <a:ea typeface="Courier New" pitchFamily="34" charset="-122"/>
                <a:cs typeface="Courier New" pitchFamily="34" charset="-120"/>
              </a:rPr>
              <a:t>// ✓ Figma export API: 不使用</a:t>
            </a:r>
            <a:endParaRPr lang="en-US" sz="1050" dirty="0"/>
          </a:p>
          <a:p>
            <a:pPr indent="0" marL="0">
              <a:lnSpc>
                <a:spcPct val="142000"/>
              </a:lnSpc>
              <a:buNone/>
            </a:pPr>
            <a:r>
              <a:rPr lang="en-US" sz="1050" dirty="0">
                <a:solidFill>
                  <a:srgbClr val="56D364"/>
                </a:solidFill>
                <a:latin typeface="Courier New" pitchFamily="34" charset="0"/>
                <a:ea typeface="Courier New" pitchFamily="34" charset="-122"/>
                <a:cs typeface="Courier New" pitchFamily="34" charset="-120"/>
              </a:rPr>
              <a:t>// ✓ 公開 S3: 経路ゼロ</a:t>
            </a:r>
            <a:endParaRPr lang="en-US" sz="1050" dirty="0"/>
          </a:p>
          <a:p>
            <a:pPr indent="0" marL="0">
              <a:lnSpc>
                <a:spcPct val="142000"/>
              </a:lnSpc>
              <a:buNone/>
            </a:pPr>
            <a:r>
              <a:rPr lang="en-US" sz="1050" dirty="0">
                <a:solidFill>
                  <a:srgbClr val="56D364"/>
                </a:solidFill>
                <a:latin typeface="Courier New" pitchFamily="34" charset="0"/>
                <a:ea typeface="Courier New" pitchFamily="34" charset="-122"/>
                <a:cs typeface="Courier New" pitchFamily="34" charset="-120"/>
              </a:rPr>
              <a:t>// ✓ bytes: in-process のみ</a:t>
            </a:r>
            <a:endParaRPr lang="en-US" sz="1050" dirty="0"/>
          </a:p>
          <a:p>
            <a:pPr indent="0" marL="0">
              <a:lnSpc>
                <a:spcPct val="142000"/>
              </a:lnSpc>
              <a:buNone/>
            </a:pPr>
            <a:r>
              <a:rPr lang="en-US" sz="1050" dirty="0">
                <a:solidFill>
                  <a:srgbClr val="A78BFA"/>
                </a:solidFill>
                <a:latin typeface="Courier New" pitchFamily="34" charset="0"/>
                <a:ea typeface="Courier New" pitchFamily="34" charset="-122"/>
                <a:cs typeface="Courier New" pitchFamily="34" charset="-120"/>
              </a:rPr>
              <a:t>// → base64 PNG を AI に直接渡す</a:t>
            </a:r>
            <a:endParaRPr lang="en-US" sz="10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D1117"/>
        </a:solidFill>
      </p:bgPr>
    </p:bg>
    <p:spTree>
      <p:nvGrpSpPr>
        <p:cNvPr id="1" name=""/>
        <p:cNvGrpSpPr/>
        <p:nvPr/>
      </p:nvGrpSpPr>
      <p:grpSpPr>
        <a:xfrm>
          <a:off x="0" y="0"/>
          <a:ext cx="0" cy="0"/>
          <a:chOff x="0" y="0"/>
          <a:chExt cx="0" cy="0"/>
        </a:xfrm>
      </p:grpSpPr>
      <p:sp>
        <p:nvSpPr>
          <p:cNvPr id="2" name="Shape 0"/>
          <p:cNvSpPr/>
          <p:nvPr/>
        </p:nvSpPr>
        <p:spPr>
          <a:xfrm>
            <a:off x="0" y="0"/>
            <a:ext cx="9144000" cy="50292"/>
          </a:xfrm>
          <a:prstGeom prst="rect">
            <a:avLst/>
          </a:prstGeom>
          <a:solidFill>
            <a:srgbClr val="7C3AED"/>
          </a:solidFill>
          <a:ln w="12700">
            <a:solidFill>
              <a:srgbClr val="7C3AED"/>
            </a:solidFill>
            <a:prstDash val="solid"/>
          </a:ln>
        </p:spPr>
      </p:sp>
      <p:sp>
        <p:nvSpPr>
          <p:cNvPr id="3" name="Text 1"/>
          <p:cNvSpPr/>
          <p:nvPr/>
        </p:nvSpPr>
        <p:spPr>
          <a:xfrm>
            <a:off x="411480" y="91440"/>
            <a:ext cx="8321040" cy="475488"/>
          </a:xfrm>
          <a:prstGeom prst="rect">
            <a:avLst/>
          </a:prstGeom>
          <a:noFill/>
          <a:ln/>
        </p:spPr>
        <p:txBody>
          <a:bodyPr wrap="square" lIns="0" tIns="0" rIns="0" bIns="0" rtlCol="0" anchor="ctr"/>
          <a:lstStyle/>
          <a:p>
            <a:pPr indent="0" marL="0">
              <a:buNone/>
            </a:pPr>
            <a:r>
              <a:rPr lang="en-US" sz="2100" b="1" dirty="0">
                <a:solidFill>
                  <a:srgbClr val="F0F6FC"/>
                </a:solidFill>
                <a:latin typeface="Calibri" pitchFamily="34" charset="0"/>
                <a:ea typeface="Calibri" pitchFamily="34" charset="-122"/>
                <a:cs typeface="Calibri" pitchFamily="34" charset="-120"/>
              </a:rPr>
              <a:t>背景と課題 — なぜ公式 MCP が使えないのか</a:t>
            </a:r>
            <a:endParaRPr lang="en-US" sz="2100" dirty="0"/>
          </a:p>
        </p:txBody>
      </p:sp>
      <p:sp>
        <p:nvSpPr>
          <p:cNvPr id="4" name="Shape 2"/>
          <p:cNvSpPr/>
          <p:nvPr/>
        </p:nvSpPr>
        <p:spPr>
          <a:xfrm>
            <a:off x="411480" y="658368"/>
            <a:ext cx="8321040" cy="0"/>
          </a:xfrm>
          <a:prstGeom prst="line">
            <a:avLst/>
          </a:prstGeom>
          <a:noFill/>
          <a:ln w="9525">
            <a:solidFill>
              <a:srgbClr val="30363D"/>
            </a:solidFill>
            <a:prstDash val="solid"/>
          </a:ln>
        </p:spPr>
      </p:sp>
      <p:sp>
        <p:nvSpPr>
          <p:cNvPr id="5" name="Shape 3"/>
          <p:cNvSpPr/>
          <p:nvPr/>
        </p:nvSpPr>
        <p:spPr>
          <a:xfrm>
            <a:off x="411480" y="868680"/>
            <a:ext cx="3931920" cy="329184"/>
          </a:xfrm>
          <a:prstGeom prst="rect">
            <a:avLst/>
          </a:prstGeom>
          <a:solidFill>
            <a:srgbClr val="2A1213"/>
          </a:solidFill>
          <a:ln w="12700">
            <a:solidFill>
              <a:srgbClr val="F85149"/>
            </a:solidFill>
            <a:prstDash val="solid"/>
          </a:ln>
        </p:spPr>
      </p:sp>
      <p:sp>
        <p:nvSpPr>
          <p:cNvPr id="6" name="Text 4"/>
          <p:cNvSpPr/>
          <p:nvPr/>
        </p:nvSpPr>
        <p:spPr>
          <a:xfrm>
            <a:off x="411480" y="868680"/>
            <a:ext cx="3931920" cy="329184"/>
          </a:xfrm>
          <a:prstGeom prst="rect">
            <a:avLst/>
          </a:prstGeom>
          <a:noFill/>
          <a:ln/>
        </p:spPr>
        <p:txBody>
          <a:bodyPr wrap="square" lIns="0" tIns="0" rIns="0" bIns="0" rtlCol="0" anchor="ctr"/>
          <a:lstStyle/>
          <a:p>
            <a:pPr algn="ctr" indent="0" marL="0">
              <a:buNone/>
            </a:pPr>
            <a:r>
              <a:rPr lang="en-US" sz="1100" b="1" dirty="0">
                <a:solidFill>
                  <a:srgbClr val="FF7B72"/>
                </a:solidFill>
                <a:latin typeface="Calibri" pitchFamily="34" charset="0"/>
                <a:ea typeface="Calibri" pitchFamily="34" charset="-122"/>
                <a:cs typeface="Calibri" pitchFamily="34" charset="-120"/>
              </a:rPr>
              <a:t>公式 MCP のデータフロー</a:t>
            </a:r>
            <a:endParaRPr lang="en-US" sz="1100" dirty="0"/>
          </a:p>
        </p:txBody>
      </p:sp>
      <p:sp>
        <p:nvSpPr>
          <p:cNvPr id="7" name="Shape 5"/>
          <p:cNvSpPr/>
          <p:nvPr/>
        </p:nvSpPr>
        <p:spPr>
          <a:xfrm>
            <a:off x="411480" y="1481328"/>
            <a:ext cx="329184" cy="329184"/>
          </a:xfrm>
          <a:prstGeom prst="ellipse">
            <a:avLst/>
          </a:prstGeom>
          <a:solidFill>
            <a:srgbClr val="8B949E"/>
          </a:solidFill>
          <a:ln w="12700">
            <a:solidFill>
              <a:srgbClr val="8B949E"/>
            </a:solidFill>
            <a:prstDash val="solid"/>
          </a:ln>
        </p:spPr>
      </p:sp>
      <p:sp>
        <p:nvSpPr>
          <p:cNvPr id="8" name="Text 6"/>
          <p:cNvSpPr/>
          <p:nvPr/>
        </p:nvSpPr>
        <p:spPr>
          <a:xfrm>
            <a:off x="411480" y="1481328"/>
            <a:ext cx="329184" cy="329184"/>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01</a:t>
            </a:r>
            <a:endParaRPr lang="en-US" sz="1000" dirty="0"/>
          </a:p>
        </p:txBody>
      </p:sp>
      <p:sp>
        <p:nvSpPr>
          <p:cNvPr id="9" name="Text 7"/>
          <p:cNvSpPr/>
          <p:nvPr/>
        </p:nvSpPr>
        <p:spPr>
          <a:xfrm>
            <a:off x="868680" y="1463040"/>
            <a:ext cx="3429000" cy="365760"/>
          </a:xfrm>
          <a:prstGeom prst="rect">
            <a:avLst/>
          </a:prstGeom>
          <a:noFill/>
          <a:ln/>
        </p:spPr>
        <p:txBody>
          <a:bodyPr wrap="square" lIns="0" tIns="0" rIns="0" bIns="0" rtlCol="0" anchor="ctr"/>
          <a:lstStyle/>
          <a:p>
            <a:pPr indent="0" marL="0">
              <a:buNone/>
            </a:pPr>
            <a:r>
              <a:rPr lang="en-US" sz="1100" dirty="0">
                <a:solidFill>
                  <a:srgbClr val="C9D1D9"/>
                </a:solidFill>
                <a:latin typeface="Calibri" pitchFamily="34" charset="0"/>
                <a:ea typeface="Calibri" pitchFamily="34" charset="-122"/>
                <a:cs typeface="Calibri" pitchFamily="34" charset="-120"/>
              </a:rPr>
              <a:t>AI が figma_get_image を呼ぶ</a:t>
            </a:r>
            <a:endParaRPr lang="en-US" sz="1100" dirty="0"/>
          </a:p>
        </p:txBody>
      </p:sp>
      <p:sp>
        <p:nvSpPr>
          <p:cNvPr id="10" name="Shape 8"/>
          <p:cNvSpPr/>
          <p:nvPr/>
        </p:nvSpPr>
        <p:spPr>
          <a:xfrm>
            <a:off x="576072" y="1984248"/>
            <a:ext cx="0" cy="246888"/>
          </a:xfrm>
          <a:prstGeom prst="line">
            <a:avLst/>
          </a:prstGeom>
          <a:noFill/>
          <a:ln w="19050">
            <a:solidFill>
              <a:srgbClr val="30363D"/>
            </a:solidFill>
            <a:prstDash val="solid"/>
          </a:ln>
        </p:spPr>
      </p:sp>
      <p:sp>
        <p:nvSpPr>
          <p:cNvPr id="11" name="Shape 9"/>
          <p:cNvSpPr/>
          <p:nvPr/>
        </p:nvSpPr>
        <p:spPr>
          <a:xfrm>
            <a:off x="411480" y="2231136"/>
            <a:ext cx="329184" cy="329184"/>
          </a:xfrm>
          <a:prstGeom prst="ellipse">
            <a:avLst/>
          </a:prstGeom>
          <a:solidFill>
            <a:srgbClr val="8B949E"/>
          </a:solidFill>
          <a:ln w="12700">
            <a:solidFill>
              <a:srgbClr val="8B949E"/>
            </a:solidFill>
            <a:prstDash val="solid"/>
          </a:ln>
        </p:spPr>
      </p:sp>
      <p:sp>
        <p:nvSpPr>
          <p:cNvPr id="12" name="Text 10"/>
          <p:cNvSpPr/>
          <p:nvPr/>
        </p:nvSpPr>
        <p:spPr>
          <a:xfrm>
            <a:off x="411480" y="2231136"/>
            <a:ext cx="329184" cy="329184"/>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02</a:t>
            </a:r>
            <a:endParaRPr lang="en-US" sz="1000" dirty="0"/>
          </a:p>
        </p:txBody>
      </p:sp>
      <p:sp>
        <p:nvSpPr>
          <p:cNvPr id="13" name="Text 11"/>
          <p:cNvSpPr/>
          <p:nvPr/>
        </p:nvSpPr>
        <p:spPr>
          <a:xfrm>
            <a:off x="868680" y="2212848"/>
            <a:ext cx="3429000" cy="365760"/>
          </a:xfrm>
          <a:prstGeom prst="rect">
            <a:avLst/>
          </a:prstGeom>
          <a:noFill/>
          <a:ln/>
        </p:spPr>
        <p:txBody>
          <a:bodyPr wrap="square" lIns="0" tIns="0" rIns="0" bIns="0" rtlCol="0" anchor="ctr"/>
          <a:lstStyle/>
          <a:p>
            <a:pPr indent="0" marL="0">
              <a:buNone/>
            </a:pPr>
            <a:r>
              <a:rPr lang="en-US" sz="1100" dirty="0">
                <a:solidFill>
                  <a:srgbClr val="C9D1D9"/>
                </a:solidFill>
                <a:latin typeface="Calibri" pitchFamily="34" charset="0"/>
                <a:ea typeface="Calibri" pitchFamily="34" charset="-122"/>
                <a:cs typeface="Calibri" pitchFamily="34" charset="-120"/>
              </a:rPr>
              <a:t>Figma の画像エクスポート API が発火</a:t>
            </a:r>
            <a:endParaRPr lang="en-US" sz="1100" dirty="0"/>
          </a:p>
        </p:txBody>
      </p:sp>
      <p:sp>
        <p:nvSpPr>
          <p:cNvPr id="14" name="Shape 12"/>
          <p:cNvSpPr/>
          <p:nvPr/>
        </p:nvSpPr>
        <p:spPr>
          <a:xfrm>
            <a:off x="576072" y="2734056"/>
            <a:ext cx="0" cy="246888"/>
          </a:xfrm>
          <a:prstGeom prst="line">
            <a:avLst/>
          </a:prstGeom>
          <a:noFill/>
          <a:ln w="19050">
            <a:solidFill>
              <a:srgbClr val="30363D"/>
            </a:solidFill>
            <a:prstDash val="solid"/>
          </a:ln>
        </p:spPr>
      </p:sp>
      <p:sp>
        <p:nvSpPr>
          <p:cNvPr id="15" name="Shape 13"/>
          <p:cNvSpPr/>
          <p:nvPr/>
        </p:nvSpPr>
        <p:spPr>
          <a:xfrm>
            <a:off x="411480" y="2980944"/>
            <a:ext cx="329184" cy="329184"/>
          </a:xfrm>
          <a:prstGeom prst="ellipse">
            <a:avLst/>
          </a:prstGeom>
          <a:solidFill>
            <a:srgbClr val="F85149"/>
          </a:solidFill>
          <a:ln w="12700">
            <a:solidFill>
              <a:srgbClr val="F85149"/>
            </a:solidFill>
            <a:prstDash val="solid"/>
          </a:ln>
        </p:spPr>
      </p:sp>
      <p:sp>
        <p:nvSpPr>
          <p:cNvPr id="16" name="Text 14"/>
          <p:cNvSpPr/>
          <p:nvPr/>
        </p:nvSpPr>
        <p:spPr>
          <a:xfrm>
            <a:off x="411480" y="2980944"/>
            <a:ext cx="329184" cy="329184"/>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03</a:t>
            </a:r>
            <a:endParaRPr lang="en-US" sz="1000" dirty="0"/>
          </a:p>
        </p:txBody>
      </p:sp>
      <p:sp>
        <p:nvSpPr>
          <p:cNvPr id="17" name="Text 15"/>
          <p:cNvSpPr/>
          <p:nvPr/>
        </p:nvSpPr>
        <p:spPr>
          <a:xfrm>
            <a:off x="868680" y="2962656"/>
            <a:ext cx="3429000" cy="365760"/>
          </a:xfrm>
          <a:prstGeom prst="rect">
            <a:avLst/>
          </a:prstGeom>
          <a:noFill/>
          <a:ln/>
        </p:spPr>
        <p:txBody>
          <a:bodyPr wrap="square" lIns="0" tIns="0" rIns="0" bIns="0" rtlCol="0" anchor="ctr"/>
          <a:lstStyle/>
          <a:p>
            <a:pPr indent="0" marL="0">
              <a:buNone/>
            </a:pPr>
            <a:r>
              <a:rPr lang="en-US" sz="1100" b="1" dirty="0">
                <a:solidFill>
                  <a:srgbClr val="F0F6FC"/>
                </a:solidFill>
                <a:latin typeface="Calibri" pitchFamily="34" charset="0"/>
                <a:ea typeface="Calibri" pitchFamily="34" charset="-122"/>
                <a:cs typeface="Calibri" pitchFamily="34" charset="-120"/>
              </a:rPr>
              <a:t>PNG が公開 S3 に書き込まれる</a:t>
            </a:r>
            <a:endParaRPr lang="en-US" sz="1100" dirty="0"/>
          </a:p>
        </p:txBody>
      </p:sp>
      <p:sp>
        <p:nvSpPr>
          <p:cNvPr id="18" name="Shape 16"/>
          <p:cNvSpPr/>
          <p:nvPr/>
        </p:nvSpPr>
        <p:spPr>
          <a:xfrm>
            <a:off x="576072" y="3483864"/>
            <a:ext cx="0" cy="246888"/>
          </a:xfrm>
          <a:prstGeom prst="line">
            <a:avLst/>
          </a:prstGeom>
          <a:noFill/>
          <a:ln w="19050">
            <a:solidFill>
              <a:srgbClr val="30363D"/>
            </a:solidFill>
            <a:prstDash val="solid"/>
          </a:ln>
        </p:spPr>
      </p:sp>
      <p:sp>
        <p:nvSpPr>
          <p:cNvPr id="19" name="Shape 17"/>
          <p:cNvSpPr/>
          <p:nvPr/>
        </p:nvSpPr>
        <p:spPr>
          <a:xfrm>
            <a:off x="411480" y="3730752"/>
            <a:ext cx="329184" cy="329184"/>
          </a:xfrm>
          <a:prstGeom prst="ellipse">
            <a:avLst/>
          </a:prstGeom>
          <a:solidFill>
            <a:srgbClr val="F85149"/>
          </a:solidFill>
          <a:ln w="12700">
            <a:solidFill>
              <a:srgbClr val="F85149"/>
            </a:solidFill>
            <a:prstDash val="solid"/>
          </a:ln>
        </p:spPr>
      </p:sp>
      <p:sp>
        <p:nvSpPr>
          <p:cNvPr id="20" name="Text 18"/>
          <p:cNvSpPr/>
          <p:nvPr/>
        </p:nvSpPr>
        <p:spPr>
          <a:xfrm>
            <a:off x="411480" y="3730752"/>
            <a:ext cx="329184" cy="329184"/>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04</a:t>
            </a:r>
            <a:endParaRPr lang="en-US" sz="1000" dirty="0"/>
          </a:p>
        </p:txBody>
      </p:sp>
      <p:sp>
        <p:nvSpPr>
          <p:cNvPr id="21" name="Text 19"/>
          <p:cNvSpPr/>
          <p:nvPr/>
        </p:nvSpPr>
        <p:spPr>
          <a:xfrm>
            <a:off x="868680" y="3712464"/>
            <a:ext cx="3429000" cy="365760"/>
          </a:xfrm>
          <a:prstGeom prst="rect">
            <a:avLst/>
          </a:prstGeom>
          <a:noFill/>
          <a:ln/>
        </p:spPr>
        <p:txBody>
          <a:bodyPr wrap="square" lIns="0" tIns="0" rIns="0" bIns="0" rtlCol="0" anchor="ctr"/>
          <a:lstStyle/>
          <a:p>
            <a:pPr indent="0" marL="0">
              <a:buNone/>
            </a:pPr>
            <a:r>
              <a:rPr lang="en-US" sz="1100" b="1" dirty="0">
                <a:solidFill>
                  <a:srgbClr val="F0F6FC"/>
                </a:solidFill>
                <a:latin typeface="Calibri" pitchFamily="34" charset="0"/>
                <a:ea typeface="Calibri" pitchFamily="34" charset="-122"/>
                <a:cs typeface="Calibri" pitchFamily="34" charset="-120"/>
              </a:rPr>
              <a:t>30日間、URL を知れば誰でも取得可能</a:t>
            </a:r>
            <a:endParaRPr lang="en-US" sz="1100" dirty="0"/>
          </a:p>
        </p:txBody>
      </p:sp>
      <p:sp>
        <p:nvSpPr>
          <p:cNvPr id="22" name="Shape 20"/>
          <p:cNvSpPr/>
          <p:nvPr/>
        </p:nvSpPr>
        <p:spPr>
          <a:xfrm>
            <a:off x="4800600" y="868680"/>
            <a:ext cx="3931920" cy="329184"/>
          </a:xfrm>
          <a:prstGeom prst="rect">
            <a:avLst/>
          </a:prstGeom>
          <a:solidFill>
            <a:srgbClr val="2A1213"/>
          </a:solidFill>
          <a:ln w="12700">
            <a:solidFill>
              <a:srgbClr val="F85149"/>
            </a:solidFill>
            <a:prstDash val="solid"/>
          </a:ln>
        </p:spPr>
      </p:sp>
      <p:sp>
        <p:nvSpPr>
          <p:cNvPr id="23" name="Text 21"/>
          <p:cNvSpPr/>
          <p:nvPr/>
        </p:nvSpPr>
        <p:spPr>
          <a:xfrm>
            <a:off x="4800600" y="868680"/>
            <a:ext cx="3931920" cy="329184"/>
          </a:xfrm>
          <a:prstGeom prst="rect">
            <a:avLst/>
          </a:prstGeom>
          <a:noFill/>
          <a:ln/>
        </p:spPr>
        <p:txBody>
          <a:bodyPr wrap="square" lIns="0" tIns="0" rIns="0" bIns="0" rtlCol="0" anchor="ctr"/>
          <a:lstStyle/>
          <a:p>
            <a:pPr algn="ctr" indent="0" marL="0">
              <a:buNone/>
            </a:pPr>
            <a:r>
              <a:rPr lang="en-US" sz="1100" b="1" dirty="0">
                <a:solidFill>
                  <a:srgbClr val="FF7B72"/>
                </a:solidFill>
                <a:latin typeface="Calibri" pitchFamily="34" charset="0"/>
                <a:ea typeface="Calibri" pitchFamily="34" charset="-122"/>
                <a:cs typeface="Calibri" pitchFamily="34" charset="-120"/>
              </a:rPr>
              <a:t>何が問題なのか</a:t>
            </a:r>
            <a:endParaRPr lang="en-US" sz="1100" dirty="0"/>
          </a:p>
        </p:txBody>
      </p:sp>
      <p:sp>
        <p:nvSpPr>
          <p:cNvPr id="24" name="Shape 22"/>
          <p:cNvSpPr/>
          <p:nvPr/>
        </p:nvSpPr>
        <p:spPr>
          <a:xfrm>
            <a:off x="4800600" y="1371600"/>
            <a:ext cx="3931920" cy="987552"/>
          </a:xfrm>
          <a:prstGeom prst="rect">
            <a:avLst/>
          </a:prstGeom>
          <a:solidFill>
            <a:srgbClr val="161B22"/>
          </a:solidFill>
          <a:ln w="12700">
            <a:solidFill>
              <a:srgbClr val="30363D"/>
            </a:solidFill>
            <a:prstDash val="solid"/>
          </a:ln>
        </p:spPr>
      </p:sp>
      <p:sp>
        <p:nvSpPr>
          <p:cNvPr id="25" name="Shape 23"/>
          <p:cNvSpPr/>
          <p:nvPr/>
        </p:nvSpPr>
        <p:spPr>
          <a:xfrm>
            <a:off x="4800600" y="1371600"/>
            <a:ext cx="64008" cy="987552"/>
          </a:xfrm>
          <a:prstGeom prst="rect">
            <a:avLst/>
          </a:prstGeom>
          <a:solidFill>
            <a:srgbClr val="F85149"/>
          </a:solidFill>
          <a:ln w="12700">
            <a:solidFill>
              <a:srgbClr val="F85149"/>
            </a:solidFill>
            <a:prstDash val="solid"/>
          </a:ln>
        </p:spPr>
      </p:sp>
      <p:sp>
        <p:nvSpPr>
          <p:cNvPr id="26" name="Text 24"/>
          <p:cNvSpPr/>
          <p:nvPr/>
        </p:nvSpPr>
        <p:spPr>
          <a:xfrm>
            <a:off x="4956048" y="1490472"/>
            <a:ext cx="457200" cy="411480"/>
          </a:xfrm>
          <a:prstGeom prst="rect">
            <a:avLst/>
          </a:prstGeom>
          <a:noFill/>
          <a:ln/>
        </p:spPr>
        <p:txBody>
          <a:bodyPr wrap="square" lIns="0" tIns="0" rIns="0" bIns="0" rtlCol="0" anchor="ctr"/>
          <a:lstStyle/>
          <a:p>
            <a:pPr indent="0" marL="0">
              <a:buNone/>
            </a:pPr>
            <a:r>
              <a:rPr lang="en-US" sz="1800" dirty="0">
                <a:solidFill>
                  <a:srgbClr val="000000"/>
                </a:solidFill>
              </a:rPr>
              <a:t>🔓</a:t>
            </a:r>
            <a:endParaRPr lang="en-US" sz="1800" dirty="0"/>
          </a:p>
        </p:txBody>
      </p:sp>
      <p:sp>
        <p:nvSpPr>
          <p:cNvPr id="27" name="Text 25"/>
          <p:cNvSpPr/>
          <p:nvPr/>
        </p:nvSpPr>
        <p:spPr>
          <a:xfrm>
            <a:off x="5440680" y="1472184"/>
            <a:ext cx="3154680" cy="292608"/>
          </a:xfrm>
          <a:prstGeom prst="rect">
            <a:avLst/>
          </a:prstGeom>
          <a:noFill/>
          <a:ln/>
        </p:spPr>
        <p:txBody>
          <a:bodyPr wrap="square" lIns="0" tIns="0" rIns="0" bIns="0" rtlCol="0" anchor="ctr"/>
          <a:lstStyle/>
          <a:p>
            <a:pPr indent="0" marL="0">
              <a:buNone/>
            </a:pPr>
            <a:r>
              <a:rPr lang="en-US" sz="1150" b="1" dirty="0">
                <a:solidFill>
                  <a:srgbClr val="FF7B72"/>
                </a:solidFill>
                <a:latin typeface="Calibri" pitchFamily="34" charset="0"/>
                <a:ea typeface="Calibri" pitchFamily="34" charset="-122"/>
                <a:cs typeface="Calibri" pitchFamily="34" charset="-120"/>
              </a:rPr>
              <a:t>公開 S3 に 30日保持</a:t>
            </a:r>
            <a:endParaRPr lang="en-US" sz="1150" dirty="0"/>
          </a:p>
        </p:txBody>
      </p:sp>
      <p:sp>
        <p:nvSpPr>
          <p:cNvPr id="28" name="Text 26"/>
          <p:cNvSpPr/>
          <p:nvPr/>
        </p:nvSpPr>
        <p:spPr>
          <a:xfrm>
            <a:off x="5440680" y="1792224"/>
            <a:ext cx="3200400" cy="502920"/>
          </a:xfrm>
          <a:prstGeom prst="rect">
            <a:avLst/>
          </a:prstGeom>
          <a:noFill/>
          <a:ln/>
        </p:spPr>
        <p:txBody>
          <a:bodyPr wrap="square" lIns="0" tIns="0" rIns="0" bIns="0" rtlCol="0" anchor="ctr"/>
          <a:lstStyle/>
          <a:p>
            <a:pPr indent="0" marL="0">
              <a:lnSpc>
                <a:spcPct val="115000"/>
              </a:lnSpc>
              <a:buNone/>
            </a:pPr>
            <a:r>
              <a:rPr lang="en-US" sz="900" dirty="0">
                <a:solidFill>
                  <a:srgbClr val="8B949E"/>
                </a:solidFill>
                <a:latin typeface="Calibri" pitchFamily="34" charset="0"/>
                <a:ea typeface="Calibri" pitchFamily="34" charset="-122"/>
                <a:cs typeface="Calibri" pitchFamily="34" charset="-120"/>
              </a:rPr>
              <a:t>figma-alpha-api.s3.us-west-2.amazonaws.com</a:t>
            </a:r>
            <a:endParaRPr lang="en-US" sz="900" dirty="0"/>
          </a:p>
          <a:p>
            <a:pPr indent="0" marL="0">
              <a:lnSpc>
                <a:spcPct val="115000"/>
              </a:lnSpc>
              <a:buNone/>
            </a:pPr>
            <a:r>
              <a:rPr lang="en-US" sz="900" dirty="0">
                <a:solidFill>
                  <a:srgbClr val="8B949E"/>
                </a:solidFill>
                <a:latin typeface="Calibri" pitchFamily="34" charset="0"/>
                <a:ea typeface="Calibri" pitchFamily="34" charset="-122"/>
                <a:cs typeface="Calibri" pitchFamily="34" charset="-120"/>
              </a:rPr>
              <a:t>URL を知れば誰でもアクセス可能</a:t>
            </a:r>
            <a:endParaRPr lang="en-US" sz="900" dirty="0"/>
          </a:p>
        </p:txBody>
      </p:sp>
      <p:sp>
        <p:nvSpPr>
          <p:cNvPr id="29" name="Shape 27"/>
          <p:cNvSpPr/>
          <p:nvPr/>
        </p:nvSpPr>
        <p:spPr>
          <a:xfrm>
            <a:off x="4800600" y="2487168"/>
            <a:ext cx="3931920" cy="987552"/>
          </a:xfrm>
          <a:prstGeom prst="rect">
            <a:avLst/>
          </a:prstGeom>
          <a:solidFill>
            <a:srgbClr val="161B22"/>
          </a:solidFill>
          <a:ln w="12700">
            <a:solidFill>
              <a:srgbClr val="30363D"/>
            </a:solidFill>
            <a:prstDash val="solid"/>
          </a:ln>
        </p:spPr>
      </p:sp>
      <p:sp>
        <p:nvSpPr>
          <p:cNvPr id="30" name="Shape 28"/>
          <p:cNvSpPr/>
          <p:nvPr/>
        </p:nvSpPr>
        <p:spPr>
          <a:xfrm>
            <a:off x="4800600" y="2487168"/>
            <a:ext cx="64008" cy="987552"/>
          </a:xfrm>
          <a:prstGeom prst="rect">
            <a:avLst/>
          </a:prstGeom>
          <a:solidFill>
            <a:srgbClr val="F85149"/>
          </a:solidFill>
          <a:ln w="12700">
            <a:solidFill>
              <a:srgbClr val="F85149"/>
            </a:solidFill>
            <a:prstDash val="solid"/>
          </a:ln>
        </p:spPr>
      </p:sp>
      <p:sp>
        <p:nvSpPr>
          <p:cNvPr id="31" name="Text 29"/>
          <p:cNvSpPr/>
          <p:nvPr/>
        </p:nvSpPr>
        <p:spPr>
          <a:xfrm>
            <a:off x="4956048" y="2606040"/>
            <a:ext cx="457200" cy="411480"/>
          </a:xfrm>
          <a:prstGeom prst="rect">
            <a:avLst/>
          </a:prstGeom>
          <a:noFill/>
          <a:ln/>
        </p:spPr>
        <p:txBody>
          <a:bodyPr wrap="square" lIns="0" tIns="0" rIns="0" bIns="0" rtlCol="0" anchor="ctr"/>
          <a:lstStyle/>
          <a:p>
            <a:pPr indent="0" marL="0">
              <a:buNone/>
            </a:pPr>
            <a:r>
              <a:rPr lang="en-US" sz="1800" dirty="0">
                <a:solidFill>
                  <a:srgbClr val="000000"/>
                </a:solidFill>
              </a:rPr>
              <a:t>🚫</a:t>
            </a:r>
            <a:endParaRPr lang="en-US" sz="1800" dirty="0"/>
          </a:p>
        </p:txBody>
      </p:sp>
      <p:sp>
        <p:nvSpPr>
          <p:cNvPr id="32" name="Text 30"/>
          <p:cNvSpPr/>
          <p:nvPr/>
        </p:nvSpPr>
        <p:spPr>
          <a:xfrm>
            <a:off x="5440680" y="2587752"/>
            <a:ext cx="3154680" cy="292608"/>
          </a:xfrm>
          <a:prstGeom prst="rect">
            <a:avLst/>
          </a:prstGeom>
          <a:noFill/>
          <a:ln/>
        </p:spPr>
        <p:txBody>
          <a:bodyPr wrap="square" lIns="0" tIns="0" rIns="0" bIns="0" rtlCol="0" anchor="ctr"/>
          <a:lstStyle/>
          <a:p>
            <a:pPr indent="0" marL="0">
              <a:buNone/>
            </a:pPr>
            <a:r>
              <a:rPr lang="en-US" sz="1150" b="1" dirty="0">
                <a:solidFill>
                  <a:srgbClr val="FF7B72"/>
                </a:solidFill>
                <a:latin typeface="Calibri" pitchFamily="34" charset="0"/>
                <a:ea typeface="Calibri" pitchFamily="34" charset="-122"/>
                <a:cs typeface="Calibri" pitchFamily="34" charset="-120"/>
              </a:rPr>
              <a:t>TTL・アクセス制御が不能</a:t>
            </a:r>
            <a:endParaRPr lang="en-US" sz="1150" dirty="0"/>
          </a:p>
        </p:txBody>
      </p:sp>
      <p:sp>
        <p:nvSpPr>
          <p:cNvPr id="33" name="Text 31"/>
          <p:cNvSpPr/>
          <p:nvPr/>
        </p:nvSpPr>
        <p:spPr>
          <a:xfrm>
            <a:off x="5440680" y="2907792"/>
            <a:ext cx="3200400" cy="502920"/>
          </a:xfrm>
          <a:prstGeom prst="rect">
            <a:avLst/>
          </a:prstGeom>
          <a:noFill/>
          <a:ln/>
        </p:spPr>
        <p:txBody>
          <a:bodyPr wrap="square" lIns="0" tIns="0" rIns="0" bIns="0" rtlCol="0" anchor="ctr"/>
          <a:lstStyle/>
          <a:p>
            <a:pPr indent="0" marL="0">
              <a:lnSpc>
                <a:spcPct val="115000"/>
              </a:lnSpc>
              <a:buNone/>
            </a:pPr>
            <a:r>
              <a:rPr lang="en-US" sz="900" dirty="0">
                <a:solidFill>
                  <a:srgbClr val="8B949E"/>
                </a:solidFill>
                <a:latin typeface="Calibri" pitchFamily="34" charset="0"/>
                <a:ea typeface="Calibri" pitchFamily="34" charset="-122"/>
                <a:cs typeface="Calibri" pitchFamily="34" charset="-120"/>
              </a:rPr>
              <a:t>Figma 側が握る S3 のため、こちら側で</a:t>
            </a:r>
            <a:endParaRPr lang="en-US" sz="900" dirty="0"/>
          </a:p>
          <a:p>
            <a:pPr indent="0" marL="0">
              <a:lnSpc>
                <a:spcPct val="115000"/>
              </a:lnSpc>
              <a:buNone/>
            </a:pPr>
            <a:r>
              <a:rPr lang="en-US" sz="900" dirty="0">
                <a:solidFill>
                  <a:srgbClr val="8B949E"/>
                </a:solidFill>
                <a:latin typeface="Calibri" pitchFamily="34" charset="0"/>
                <a:ea typeface="Calibri" pitchFamily="34" charset="-122"/>
                <a:cs typeface="Calibri" pitchFamily="34" charset="-120"/>
              </a:rPr>
              <a:t>ポリシーを変更できない</a:t>
            </a:r>
            <a:endParaRPr lang="en-US" sz="900" dirty="0"/>
          </a:p>
        </p:txBody>
      </p:sp>
      <p:sp>
        <p:nvSpPr>
          <p:cNvPr id="34" name="Shape 32"/>
          <p:cNvSpPr/>
          <p:nvPr/>
        </p:nvSpPr>
        <p:spPr>
          <a:xfrm>
            <a:off x="4800600" y="3602736"/>
            <a:ext cx="3931920" cy="987552"/>
          </a:xfrm>
          <a:prstGeom prst="rect">
            <a:avLst/>
          </a:prstGeom>
          <a:solidFill>
            <a:srgbClr val="161B22"/>
          </a:solidFill>
          <a:ln w="12700">
            <a:solidFill>
              <a:srgbClr val="30363D"/>
            </a:solidFill>
            <a:prstDash val="solid"/>
          </a:ln>
        </p:spPr>
      </p:sp>
      <p:sp>
        <p:nvSpPr>
          <p:cNvPr id="35" name="Shape 33"/>
          <p:cNvSpPr/>
          <p:nvPr/>
        </p:nvSpPr>
        <p:spPr>
          <a:xfrm>
            <a:off x="4800600" y="3602736"/>
            <a:ext cx="64008" cy="987552"/>
          </a:xfrm>
          <a:prstGeom prst="rect">
            <a:avLst/>
          </a:prstGeom>
          <a:solidFill>
            <a:srgbClr val="F85149"/>
          </a:solidFill>
          <a:ln w="12700">
            <a:solidFill>
              <a:srgbClr val="F85149"/>
            </a:solidFill>
            <a:prstDash val="solid"/>
          </a:ln>
        </p:spPr>
      </p:sp>
      <p:sp>
        <p:nvSpPr>
          <p:cNvPr id="36" name="Text 34"/>
          <p:cNvSpPr/>
          <p:nvPr/>
        </p:nvSpPr>
        <p:spPr>
          <a:xfrm>
            <a:off x="4956048" y="3721608"/>
            <a:ext cx="457200" cy="411480"/>
          </a:xfrm>
          <a:prstGeom prst="rect">
            <a:avLst/>
          </a:prstGeom>
          <a:noFill/>
          <a:ln/>
        </p:spPr>
        <p:txBody>
          <a:bodyPr wrap="square" lIns="0" tIns="0" rIns="0" bIns="0" rtlCol="0" anchor="ctr"/>
          <a:lstStyle/>
          <a:p>
            <a:pPr indent="0" marL="0">
              <a:buNone/>
            </a:pPr>
            <a:r>
              <a:rPr lang="en-US" sz="1800" dirty="0">
                <a:solidFill>
                  <a:srgbClr val="000000"/>
                </a:solidFill>
              </a:rPr>
              <a:t>⚠️</a:t>
            </a:r>
            <a:endParaRPr lang="en-US" sz="1800" dirty="0"/>
          </a:p>
        </p:txBody>
      </p:sp>
      <p:sp>
        <p:nvSpPr>
          <p:cNvPr id="37" name="Text 35"/>
          <p:cNvSpPr/>
          <p:nvPr/>
        </p:nvSpPr>
        <p:spPr>
          <a:xfrm>
            <a:off x="5440680" y="3703320"/>
            <a:ext cx="3154680" cy="292608"/>
          </a:xfrm>
          <a:prstGeom prst="rect">
            <a:avLst/>
          </a:prstGeom>
          <a:noFill/>
          <a:ln/>
        </p:spPr>
        <p:txBody>
          <a:bodyPr wrap="square" lIns="0" tIns="0" rIns="0" bIns="0" rtlCol="0" anchor="ctr"/>
          <a:lstStyle/>
          <a:p>
            <a:pPr indent="0" marL="0">
              <a:buNone/>
            </a:pPr>
            <a:r>
              <a:rPr lang="en-US" sz="1150" b="1" dirty="0">
                <a:solidFill>
                  <a:srgbClr val="FF7B72"/>
                </a:solidFill>
                <a:latin typeface="Calibri" pitchFamily="34" charset="0"/>
                <a:ea typeface="Calibri" pitchFamily="34" charset="-122"/>
                <a:cs typeface="Calibri" pitchFamily="34" charset="-120"/>
              </a:rPr>
              <a:t>社内ガバナンスに抵触</a:t>
            </a:r>
            <a:endParaRPr lang="en-US" sz="1150" dirty="0"/>
          </a:p>
        </p:txBody>
      </p:sp>
      <p:sp>
        <p:nvSpPr>
          <p:cNvPr id="38" name="Text 36"/>
          <p:cNvSpPr/>
          <p:nvPr/>
        </p:nvSpPr>
        <p:spPr>
          <a:xfrm>
            <a:off x="5440680" y="4023360"/>
            <a:ext cx="3200400" cy="502920"/>
          </a:xfrm>
          <a:prstGeom prst="rect">
            <a:avLst/>
          </a:prstGeom>
          <a:noFill/>
          <a:ln/>
        </p:spPr>
        <p:txBody>
          <a:bodyPr wrap="square" lIns="0" tIns="0" rIns="0" bIns="0" rtlCol="0" anchor="ctr"/>
          <a:lstStyle/>
          <a:p>
            <a:pPr indent="0" marL="0">
              <a:lnSpc>
                <a:spcPct val="115000"/>
              </a:lnSpc>
              <a:buNone/>
            </a:pPr>
            <a:r>
              <a:rPr lang="en-US" sz="900" dirty="0">
                <a:solidFill>
                  <a:srgbClr val="8B949E"/>
                </a:solidFill>
                <a:latin typeface="Calibri" pitchFamily="34" charset="0"/>
                <a:ea typeface="Calibri" pitchFamily="34" charset="-122"/>
                <a:cs typeface="Calibri" pitchFamily="34" charset="-120"/>
              </a:rPr>
              <a:t>デザイン資産が外部の公開ストレージに残る</a:t>
            </a:r>
            <a:endParaRPr lang="en-US" sz="900" dirty="0"/>
          </a:p>
          <a:p>
            <a:pPr indent="0" marL="0">
              <a:lnSpc>
                <a:spcPct val="115000"/>
              </a:lnSpc>
              <a:buNone/>
            </a:pPr>
            <a:r>
              <a:rPr lang="en-US" sz="900" dirty="0">
                <a:solidFill>
                  <a:srgbClr val="8B949E"/>
                </a:solidFill>
                <a:latin typeface="Calibri" pitchFamily="34" charset="0"/>
                <a:ea typeface="Calibri" pitchFamily="34" charset="-122"/>
                <a:cs typeface="Calibri" pitchFamily="34" charset="-120"/>
              </a:rPr>
              <a:t>→ 社内で全面禁止</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D1117"/>
        </a:solidFill>
      </p:bgPr>
    </p:bg>
    <p:spTree>
      <p:nvGrpSpPr>
        <p:cNvPr id="1" name=""/>
        <p:cNvGrpSpPr/>
        <p:nvPr/>
      </p:nvGrpSpPr>
      <p:grpSpPr>
        <a:xfrm>
          <a:off x="0" y="0"/>
          <a:ext cx="0" cy="0"/>
          <a:chOff x="0" y="0"/>
          <a:chExt cx="0" cy="0"/>
        </a:xfrm>
      </p:grpSpPr>
      <p:sp>
        <p:nvSpPr>
          <p:cNvPr id="2" name="Shape 0"/>
          <p:cNvSpPr/>
          <p:nvPr/>
        </p:nvSpPr>
        <p:spPr>
          <a:xfrm>
            <a:off x="0" y="0"/>
            <a:ext cx="9144000" cy="50292"/>
          </a:xfrm>
          <a:prstGeom prst="rect">
            <a:avLst/>
          </a:prstGeom>
          <a:solidFill>
            <a:srgbClr val="7C3AED"/>
          </a:solidFill>
          <a:ln w="12700">
            <a:solidFill>
              <a:srgbClr val="7C3AED"/>
            </a:solidFill>
            <a:prstDash val="solid"/>
          </a:ln>
        </p:spPr>
      </p:sp>
      <p:sp>
        <p:nvSpPr>
          <p:cNvPr id="3" name="Text 1"/>
          <p:cNvSpPr/>
          <p:nvPr/>
        </p:nvSpPr>
        <p:spPr>
          <a:xfrm>
            <a:off x="411480" y="91440"/>
            <a:ext cx="8321040" cy="475488"/>
          </a:xfrm>
          <a:prstGeom prst="rect">
            <a:avLst/>
          </a:prstGeom>
          <a:noFill/>
          <a:ln/>
        </p:spPr>
        <p:txBody>
          <a:bodyPr wrap="square" lIns="0" tIns="0" rIns="0" bIns="0" rtlCol="0" anchor="ctr"/>
          <a:lstStyle/>
          <a:p>
            <a:pPr indent="0" marL="0">
              <a:buNone/>
            </a:pPr>
            <a:r>
              <a:rPr lang="en-US" sz="2100" b="1" dirty="0">
                <a:solidFill>
                  <a:srgbClr val="F0F6FC"/>
                </a:solidFill>
                <a:latin typeface="Calibri" pitchFamily="34" charset="0"/>
                <a:ea typeface="Calibri" pitchFamily="34" charset="-122"/>
                <a:cs typeface="Calibri" pitchFamily="34" charset="-120"/>
              </a:rPr>
              <a:t>仮説 — エクスポート API を使わなければいい</a:t>
            </a:r>
            <a:endParaRPr lang="en-US" sz="2100" dirty="0"/>
          </a:p>
        </p:txBody>
      </p:sp>
      <p:sp>
        <p:nvSpPr>
          <p:cNvPr id="4" name="Shape 2"/>
          <p:cNvSpPr/>
          <p:nvPr/>
        </p:nvSpPr>
        <p:spPr>
          <a:xfrm>
            <a:off x="411480" y="658368"/>
            <a:ext cx="8321040" cy="0"/>
          </a:xfrm>
          <a:prstGeom prst="line">
            <a:avLst/>
          </a:prstGeom>
          <a:noFill/>
          <a:ln w="9525">
            <a:solidFill>
              <a:srgbClr val="30363D"/>
            </a:solidFill>
            <a:prstDash val="solid"/>
          </a:ln>
        </p:spPr>
      </p:sp>
      <p:sp>
        <p:nvSpPr>
          <p:cNvPr id="5" name="Shape 3"/>
          <p:cNvSpPr/>
          <p:nvPr/>
        </p:nvSpPr>
        <p:spPr>
          <a:xfrm>
            <a:off x="411480" y="868680"/>
            <a:ext cx="8321040" cy="1325880"/>
          </a:xfrm>
          <a:prstGeom prst="rect">
            <a:avLst/>
          </a:prstGeom>
          <a:solidFill>
            <a:srgbClr val="161B22"/>
          </a:solidFill>
          <a:ln w="12700">
            <a:solidFill>
              <a:srgbClr val="30363D"/>
            </a:solidFill>
            <a:prstDash val="solid"/>
          </a:ln>
        </p:spPr>
      </p:sp>
      <p:sp>
        <p:nvSpPr>
          <p:cNvPr id="6" name="Shape 4"/>
          <p:cNvSpPr/>
          <p:nvPr/>
        </p:nvSpPr>
        <p:spPr>
          <a:xfrm>
            <a:off x="411480" y="868680"/>
            <a:ext cx="91440" cy="1325880"/>
          </a:xfrm>
          <a:prstGeom prst="rect">
            <a:avLst/>
          </a:prstGeom>
          <a:solidFill>
            <a:srgbClr val="7C3AED"/>
          </a:solidFill>
          <a:ln w="12700">
            <a:solidFill>
              <a:srgbClr val="7C3AED"/>
            </a:solidFill>
            <a:prstDash val="solid"/>
          </a:ln>
        </p:spPr>
      </p:sp>
      <p:sp>
        <p:nvSpPr>
          <p:cNvPr id="7" name="Text 5"/>
          <p:cNvSpPr/>
          <p:nvPr/>
        </p:nvSpPr>
        <p:spPr>
          <a:xfrm>
            <a:off x="713232" y="868680"/>
            <a:ext cx="7863840" cy="1325880"/>
          </a:xfrm>
          <a:prstGeom prst="rect">
            <a:avLst/>
          </a:prstGeom>
          <a:noFill/>
          <a:ln/>
        </p:spPr>
        <p:txBody>
          <a:bodyPr wrap="square" lIns="0" tIns="0" rIns="0" bIns="0" rtlCol="0" anchor="ctr"/>
          <a:lstStyle/>
          <a:p>
            <a:pPr indent="0" marL="0">
              <a:lnSpc>
                <a:spcPct val="145000"/>
              </a:lnSpc>
              <a:buNone/>
            </a:pPr>
            <a:r>
              <a:rPr lang="en-US" sz="1300" b="1" dirty="0">
                <a:solidFill>
                  <a:srgbClr val="F0F6FC"/>
                </a:solidFill>
                <a:latin typeface="Calibri" pitchFamily="34" charset="0"/>
                <a:ea typeface="Calibri" pitchFamily="34" charset="-122"/>
                <a:cs typeface="Calibri" pitchFamily="34" charset="-120"/>
              </a:rPr>
              <a:t>公式 MCP の問題は「Figma のエクスポート API を叩くこと」そのものにある。</a:t>
            </a:r>
            <a:endParaRPr lang="en-US" sz="1300" dirty="0"/>
          </a:p>
          <a:p>
            <a:pPr indent="0" marL="0">
              <a:lnSpc>
                <a:spcPct val="145000"/>
              </a:lnSpc>
              <a:buNone/>
            </a:pPr>
            <a:r>
              <a:rPr lang="en-US" sz="1300" dirty="0">
                <a:solidFill>
                  <a:srgbClr val="C9D1D9"/>
                </a:solidFill>
                <a:latin typeface="Calibri" pitchFamily="34" charset="0"/>
                <a:ea typeface="Calibri" pitchFamily="34" charset="-122"/>
                <a:cs typeface="Calibri" pitchFamily="34" charset="-120"/>
              </a:rPr>
              <a:t>エクスポート API を一切使わず、Figma の Web キャンバスをブラウザで描画して</a:t>
            </a:r>
            <a:endParaRPr lang="en-US" sz="1300" dirty="0"/>
          </a:p>
          <a:p>
            <a:pPr indent="0" marL="0">
              <a:lnSpc>
                <a:spcPct val="145000"/>
              </a:lnSpc>
              <a:buNone/>
            </a:pPr>
            <a:r>
              <a:rPr lang="en-US" sz="1300" dirty="0">
                <a:solidFill>
                  <a:srgbClr val="C9D1D9"/>
                </a:solidFill>
                <a:latin typeface="Calibri" pitchFamily="34" charset="0"/>
                <a:ea typeface="Calibri" pitchFamily="34" charset="-122"/>
                <a:cs typeface="Calibri" pitchFamily="34" charset="-120"/>
              </a:rPr>
              <a:t>その画素を直接撮れば、公開 S3 経路は構造的に存在しなくなる。</a:t>
            </a:r>
            <a:endParaRPr lang="en-US" sz="1300" dirty="0"/>
          </a:p>
        </p:txBody>
      </p:sp>
      <p:sp>
        <p:nvSpPr>
          <p:cNvPr id="8" name="Shape 6"/>
          <p:cNvSpPr/>
          <p:nvPr/>
        </p:nvSpPr>
        <p:spPr>
          <a:xfrm>
            <a:off x="411480" y="2395728"/>
            <a:ext cx="8321040" cy="402336"/>
          </a:xfrm>
          <a:prstGeom prst="rect">
            <a:avLst/>
          </a:prstGeom>
          <a:solidFill>
            <a:srgbClr val="553C9A"/>
          </a:solidFill>
          <a:ln w="12700">
            <a:solidFill>
              <a:srgbClr val="7C3AED"/>
            </a:solidFill>
            <a:prstDash val="solid"/>
          </a:ln>
        </p:spPr>
      </p:sp>
      <p:sp>
        <p:nvSpPr>
          <p:cNvPr id="9" name="Text 7"/>
          <p:cNvSpPr/>
          <p:nvPr/>
        </p:nvSpPr>
        <p:spPr>
          <a:xfrm>
            <a:off x="502920" y="2395728"/>
            <a:ext cx="8138160" cy="402336"/>
          </a:xfrm>
          <a:prstGeom prst="rect">
            <a:avLst/>
          </a:prstGeom>
          <a:noFill/>
          <a:ln/>
        </p:spPr>
        <p:txBody>
          <a:bodyPr wrap="square" lIns="0" tIns="0" rIns="0" bIns="0" rtlCol="0" anchor="ctr"/>
          <a:lstStyle/>
          <a:p>
            <a:pPr algn="ctr" indent="0" marL="0">
              <a:buNone/>
            </a:pPr>
            <a:r>
              <a:rPr lang="en-US" sz="1100" b="1" dirty="0">
                <a:solidFill>
                  <a:srgbClr val="F0F6FC"/>
                </a:solidFill>
                <a:latin typeface="Calibri" pitchFamily="34" charset="0"/>
                <a:ea typeface="Calibri" pitchFamily="34" charset="-122"/>
                <a:cs typeface="Calibri" pitchFamily="34" charset="-120"/>
              </a:rPr>
              <a:t>Playwright (ヘッドレス Chrome) を VM で動かし、Figma Web をそのままレンダリング → スクショ → AI へ直接渡す</a:t>
            </a:r>
            <a:endParaRPr lang="en-US" sz="1100" dirty="0"/>
          </a:p>
        </p:txBody>
      </p:sp>
      <p:sp>
        <p:nvSpPr>
          <p:cNvPr id="10" name="Shape 8"/>
          <p:cNvSpPr/>
          <p:nvPr/>
        </p:nvSpPr>
        <p:spPr>
          <a:xfrm>
            <a:off x="411480" y="2971800"/>
            <a:ext cx="2651760" cy="1737360"/>
          </a:xfrm>
          <a:prstGeom prst="rect">
            <a:avLst/>
          </a:prstGeom>
          <a:solidFill>
            <a:srgbClr val="161B22"/>
          </a:solidFill>
          <a:ln w="12700">
            <a:solidFill>
              <a:srgbClr val="30363D"/>
            </a:solidFill>
            <a:prstDash val="solid"/>
          </a:ln>
        </p:spPr>
      </p:sp>
      <p:sp>
        <p:nvSpPr>
          <p:cNvPr id="11" name="Shape 9"/>
          <p:cNvSpPr/>
          <p:nvPr/>
        </p:nvSpPr>
        <p:spPr>
          <a:xfrm>
            <a:off x="411480" y="2971800"/>
            <a:ext cx="2651760" cy="54864"/>
          </a:xfrm>
          <a:prstGeom prst="rect">
            <a:avLst/>
          </a:prstGeom>
          <a:solidFill>
            <a:srgbClr val="3FB950"/>
          </a:solidFill>
          <a:ln w="12700">
            <a:solidFill>
              <a:srgbClr val="3FB950"/>
            </a:solidFill>
            <a:prstDash val="solid"/>
          </a:ln>
        </p:spPr>
      </p:sp>
      <p:sp>
        <p:nvSpPr>
          <p:cNvPr id="12" name="Shape 10"/>
          <p:cNvSpPr/>
          <p:nvPr/>
        </p:nvSpPr>
        <p:spPr>
          <a:xfrm>
            <a:off x="576072" y="3127248"/>
            <a:ext cx="310896" cy="310896"/>
          </a:xfrm>
          <a:prstGeom prst="ellipse">
            <a:avLst/>
          </a:prstGeom>
          <a:solidFill>
            <a:srgbClr val="0F2A18"/>
          </a:solidFill>
          <a:ln w="12700">
            <a:solidFill>
              <a:srgbClr val="3FB950"/>
            </a:solidFill>
            <a:prstDash val="solid"/>
          </a:ln>
        </p:spPr>
      </p:sp>
      <p:sp>
        <p:nvSpPr>
          <p:cNvPr id="13" name="Text 11"/>
          <p:cNvSpPr/>
          <p:nvPr/>
        </p:nvSpPr>
        <p:spPr>
          <a:xfrm>
            <a:off x="576072" y="3127248"/>
            <a:ext cx="310896" cy="310896"/>
          </a:xfrm>
          <a:prstGeom prst="rect">
            <a:avLst/>
          </a:prstGeom>
          <a:noFill/>
          <a:ln/>
        </p:spPr>
        <p:txBody>
          <a:bodyPr wrap="square" lIns="0" tIns="0" rIns="0" bIns="0" rtlCol="0" anchor="ctr"/>
          <a:lstStyle/>
          <a:p>
            <a:pPr algn="ctr" indent="0" marL="0">
              <a:buNone/>
            </a:pPr>
            <a:r>
              <a:rPr lang="en-US" sz="1200" b="1" dirty="0">
                <a:solidFill>
                  <a:srgbClr val="56D364"/>
                </a:solidFill>
                <a:latin typeface="Calibri" pitchFamily="34" charset="0"/>
                <a:ea typeface="Calibri" pitchFamily="34" charset="-122"/>
                <a:cs typeface="Calibri" pitchFamily="34" charset="-120"/>
              </a:rPr>
              <a:t>✓</a:t>
            </a:r>
            <a:endParaRPr lang="en-US" sz="1200" dirty="0"/>
          </a:p>
        </p:txBody>
      </p:sp>
      <p:sp>
        <p:nvSpPr>
          <p:cNvPr id="14" name="Text 12"/>
          <p:cNvSpPr/>
          <p:nvPr/>
        </p:nvSpPr>
        <p:spPr>
          <a:xfrm>
            <a:off x="576072" y="3529584"/>
            <a:ext cx="2331720" cy="310896"/>
          </a:xfrm>
          <a:prstGeom prst="rect">
            <a:avLst/>
          </a:prstGeom>
          <a:noFill/>
          <a:ln/>
        </p:spPr>
        <p:txBody>
          <a:bodyPr wrap="square" lIns="0" tIns="0" rIns="0" bIns="0" rtlCol="0" anchor="ctr"/>
          <a:lstStyle/>
          <a:p>
            <a:pPr indent="0" marL="0">
              <a:buNone/>
            </a:pPr>
            <a:r>
              <a:rPr lang="en-US" sz="1200" b="1" dirty="0">
                <a:solidFill>
                  <a:srgbClr val="F0F6FC"/>
                </a:solidFill>
                <a:latin typeface="Calibri" pitchFamily="34" charset="0"/>
                <a:ea typeface="Calibri" pitchFamily="34" charset="-122"/>
                <a:cs typeface="Calibri" pitchFamily="34" charset="-120"/>
              </a:rPr>
              <a:t>公開 S3 経路がゼロ</a:t>
            </a:r>
            <a:endParaRPr lang="en-US" sz="1200" dirty="0"/>
          </a:p>
        </p:txBody>
      </p:sp>
      <p:sp>
        <p:nvSpPr>
          <p:cNvPr id="15" name="Text 13"/>
          <p:cNvSpPr/>
          <p:nvPr/>
        </p:nvSpPr>
        <p:spPr>
          <a:xfrm>
            <a:off x="576072" y="3877056"/>
            <a:ext cx="2331720" cy="731520"/>
          </a:xfrm>
          <a:prstGeom prst="rect">
            <a:avLst/>
          </a:prstGeom>
          <a:noFill/>
          <a:ln/>
        </p:spPr>
        <p:txBody>
          <a:bodyPr wrap="square" lIns="0" tIns="0" rIns="0" bIns="0" rtlCol="0" anchor="ctr"/>
          <a:lstStyle/>
          <a:p>
            <a:pPr indent="0" marL="0">
              <a:lnSpc>
                <a:spcPct val="120000"/>
              </a:lnSpc>
              <a:buNone/>
            </a:pPr>
            <a:r>
              <a:rPr lang="en-US" sz="950" dirty="0">
                <a:solidFill>
                  <a:srgbClr val="8B949E"/>
                </a:solidFill>
                <a:latin typeface="Calibri" pitchFamily="34" charset="0"/>
                <a:ea typeface="Calibri" pitchFamily="34" charset="-122"/>
                <a:cs typeface="Calibri" pitchFamily="34" charset="-120"/>
              </a:rPr>
              <a:t>エクスポート API を一度も叩かない</a:t>
            </a:r>
            <a:endParaRPr lang="en-US" sz="950" dirty="0"/>
          </a:p>
          <a:p>
            <a:pPr indent="0" marL="0">
              <a:lnSpc>
                <a:spcPct val="120000"/>
              </a:lnSpc>
              <a:buNone/>
            </a:pPr>
            <a:r>
              <a:rPr lang="en-US" sz="950" dirty="0">
                <a:solidFill>
                  <a:srgbClr val="8B949E"/>
                </a:solidFill>
                <a:latin typeface="Calibri" pitchFamily="34" charset="0"/>
                <a:ea typeface="Calibri" pitchFamily="34" charset="-122"/>
                <a:cs typeface="Calibri" pitchFamily="34" charset="-120"/>
              </a:rPr>
              <a:t>→ S3 にファイルが生成されない</a:t>
            </a:r>
            <a:endParaRPr lang="en-US" sz="950" dirty="0"/>
          </a:p>
        </p:txBody>
      </p:sp>
      <p:sp>
        <p:nvSpPr>
          <p:cNvPr id="16" name="Shape 14"/>
          <p:cNvSpPr/>
          <p:nvPr/>
        </p:nvSpPr>
        <p:spPr>
          <a:xfrm>
            <a:off x="3246120" y="2971800"/>
            <a:ext cx="2651760" cy="1737360"/>
          </a:xfrm>
          <a:prstGeom prst="rect">
            <a:avLst/>
          </a:prstGeom>
          <a:solidFill>
            <a:srgbClr val="161B22"/>
          </a:solidFill>
          <a:ln w="12700">
            <a:solidFill>
              <a:srgbClr val="30363D"/>
            </a:solidFill>
            <a:prstDash val="solid"/>
          </a:ln>
        </p:spPr>
      </p:sp>
      <p:sp>
        <p:nvSpPr>
          <p:cNvPr id="17" name="Shape 15"/>
          <p:cNvSpPr/>
          <p:nvPr/>
        </p:nvSpPr>
        <p:spPr>
          <a:xfrm>
            <a:off x="3246120" y="2971800"/>
            <a:ext cx="2651760" cy="54864"/>
          </a:xfrm>
          <a:prstGeom prst="rect">
            <a:avLst/>
          </a:prstGeom>
          <a:solidFill>
            <a:srgbClr val="3FB950"/>
          </a:solidFill>
          <a:ln w="12700">
            <a:solidFill>
              <a:srgbClr val="3FB950"/>
            </a:solidFill>
            <a:prstDash val="solid"/>
          </a:ln>
        </p:spPr>
      </p:sp>
      <p:sp>
        <p:nvSpPr>
          <p:cNvPr id="18" name="Shape 16"/>
          <p:cNvSpPr/>
          <p:nvPr/>
        </p:nvSpPr>
        <p:spPr>
          <a:xfrm>
            <a:off x="3410712" y="3127248"/>
            <a:ext cx="310896" cy="310896"/>
          </a:xfrm>
          <a:prstGeom prst="ellipse">
            <a:avLst/>
          </a:prstGeom>
          <a:solidFill>
            <a:srgbClr val="0F2A18"/>
          </a:solidFill>
          <a:ln w="12700">
            <a:solidFill>
              <a:srgbClr val="3FB950"/>
            </a:solidFill>
            <a:prstDash val="solid"/>
          </a:ln>
        </p:spPr>
      </p:sp>
      <p:sp>
        <p:nvSpPr>
          <p:cNvPr id="19" name="Text 17"/>
          <p:cNvSpPr/>
          <p:nvPr/>
        </p:nvSpPr>
        <p:spPr>
          <a:xfrm>
            <a:off x="3410712" y="3127248"/>
            <a:ext cx="310896" cy="310896"/>
          </a:xfrm>
          <a:prstGeom prst="rect">
            <a:avLst/>
          </a:prstGeom>
          <a:noFill/>
          <a:ln/>
        </p:spPr>
        <p:txBody>
          <a:bodyPr wrap="square" lIns="0" tIns="0" rIns="0" bIns="0" rtlCol="0" anchor="ctr"/>
          <a:lstStyle/>
          <a:p>
            <a:pPr algn="ctr" indent="0" marL="0">
              <a:buNone/>
            </a:pPr>
            <a:r>
              <a:rPr lang="en-US" sz="1200" b="1" dirty="0">
                <a:solidFill>
                  <a:srgbClr val="56D364"/>
                </a:solidFill>
                <a:latin typeface="Calibri" pitchFamily="34" charset="0"/>
                <a:ea typeface="Calibri" pitchFamily="34" charset="-122"/>
                <a:cs typeface="Calibri" pitchFamily="34" charset="-120"/>
              </a:rPr>
              <a:t>✓</a:t>
            </a:r>
            <a:endParaRPr lang="en-US" sz="1200" dirty="0"/>
          </a:p>
        </p:txBody>
      </p:sp>
      <p:sp>
        <p:nvSpPr>
          <p:cNvPr id="20" name="Text 18"/>
          <p:cNvSpPr/>
          <p:nvPr/>
        </p:nvSpPr>
        <p:spPr>
          <a:xfrm>
            <a:off x="3410712" y="3529584"/>
            <a:ext cx="2331720" cy="310896"/>
          </a:xfrm>
          <a:prstGeom prst="rect">
            <a:avLst/>
          </a:prstGeom>
          <a:noFill/>
          <a:ln/>
        </p:spPr>
        <p:txBody>
          <a:bodyPr wrap="square" lIns="0" tIns="0" rIns="0" bIns="0" rtlCol="0" anchor="ctr"/>
          <a:lstStyle/>
          <a:p>
            <a:pPr indent="0" marL="0">
              <a:buNone/>
            </a:pPr>
            <a:r>
              <a:rPr lang="en-US" sz="1200" b="1" dirty="0">
                <a:solidFill>
                  <a:srgbClr val="F0F6FC"/>
                </a:solidFill>
                <a:latin typeface="Calibri" pitchFamily="34" charset="0"/>
                <a:ea typeface="Calibri" pitchFamily="34" charset="-122"/>
                <a:cs typeface="Calibri" pitchFamily="34" charset="-120"/>
              </a:rPr>
              <a:t>バイトはメモリ内で完結</a:t>
            </a:r>
            <a:endParaRPr lang="en-US" sz="1200" dirty="0"/>
          </a:p>
        </p:txBody>
      </p:sp>
      <p:sp>
        <p:nvSpPr>
          <p:cNvPr id="21" name="Text 19"/>
          <p:cNvSpPr/>
          <p:nvPr/>
        </p:nvSpPr>
        <p:spPr>
          <a:xfrm>
            <a:off x="3410712" y="3877056"/>
            <a:ext cx="2331720" cy="731520"/>
          </a:xfrm>
          <a:prstGeom prst="rect">
            <a:avLst/>
          </a:prstGeom>
          <a:noFill/>
          <a:ln/>
        </p:spPr>
        <p:txBody>
          <a:bodyPr wrap="square" lIns="0" tIns="0" rIns="0" bIns="0" rtlCol="0" anchor="ctr"/>
          <a:lstStyle/>
          <a:p>
            <a:pPr indent="0" marL="0">
              <a:lnSpc>
                <a:spcPct val="120000"/>
              </a:lnSpc>
              <a:buNone/>
            </a:pPr>
            <a:r>
              <a:rPr lang="en-US" sz="950" dirty="0">
                <a:solidFill>
                  <a:srgbClr val="8B949E"/>
                </a:solidFill>
                <a:latin typeface="Calibri" pitchFamily="34" charset="0"/>
                <a:ea typeface="Calibri" pitchFamily="34" charset="-122"/>
                <a:cs typeface="Calibri" pitchFamily="34" charset="-120"/>
              </a:rPr>
              <a:t>画像は VM プロセス内のみ</a:t>
            </a:r>
            <a:endParaRPr lang="en-US" sz="950" dirty="0"/>
          </a:p>
          <a:p>
            <a:pPr indent="0" marL="0">
              <a:lnSpc>
                <a:spcPct val="120000"/>
              </a:lnSpc>
              <a:buNone/>
            </a:pPr>
            <a:r>
              <a:rPr lang="en-US" sz="950" dirty="0">
                <a:solidFill>
                  <a:srgbClr val="8B949E"/>
                </a:solidFill>
                <a:latin typeface="Calibri" pitchFamily="34" charset="0"/>
                <a:ea typeface="Calibri" pitchFamily="34" charset="-122"/>
                <a:cs typeface="Calibri" pitchFamily="34" charset="-120"/>
              </a:rPr>
              <a:t>中間ストレージを経由しない</a:t>
            </a:r>
            <a:endParaRPr lang="en-US" sz="950" dirty="0"/>
          </a:p>
        </p:txBody>
      </p:sp>
      <p:sp>
        <p:nvSpPr>
          <p:cNvPr id="22" name="Shape 20"/>
          <p:cNvSpPr/>
          <p:nvPr/>
        </p:nvSpPr>
        <p:spPr>
          <a:xfrm>
            <a:off x="6080760" y="2971800"/>
            <a:ext cx="2651760" cy="1737360"/>
          </a:xfrm>
          <a:prstGeom prst="rect">
            <a:avLst/>
          </a:prstGeom>
          <a:solidFill>
            <a:srgbClr val="161B22"/>
          </a:solidFill>
          <a:ln w="12700">
            <a:solidFill>
              <a:srgbClr val="30363D"/>
            </a:solidFill>
            <a:prstDash val="solid"/>
          </a:ln>
        </p:spPr>
      </p:sp>
      <p:sp>
        <p:nvSpPr>
          <p:cNvPr id="23" name="Shape 21"/>
          <p:cNvSpPr/>
          <p:nvPr/>
        </p:nvSpPr>
        <p:spPr>
          <a:xfrm>
            <a:off x="6080760" y="2971800"/>
            <a:ext cx="2651760" cy="54864"/>
          </a:xfrm>
          <a:prstGeom prst="rect">
            <a:avLst/>
          </a:prstGeom>
          <a:solidFill>
            <a:srgbClr val="3FB950"/>
          </a:solidFill>
          <a:ln w="12700">
            <a:solidFill>
              <a:srgbClr val="3FB950"/>
            </a:solidFill>
            <a:prstDash val="solid"/>
          </a:ln>
        </p:spPr>
      </p:sp>
      <p:sp>
        <p:nvSpPr>
          <p:cNvPr id="24" name="Shape 22"/>
          <p:cNvSpPr/>
          <p:nvPr/>
        </p:nvSpPr>
        <p:spPr>
          <a:xfrm>
            <a:off x="6245352" y="3127248"/>
            <a:ext cx="310896" cy="310896"/>
          </a:xfrm>
          <a:prstGeom prst="ellipse">
            <a:avLst/>
          </a:prstGeom>
          <a:solidFill>
            <a:srgbClr val="0F2A18"/>
          </a:solidFill>
          <a:ln w="12700">
            <a:solidFill>
              <a:srgbClr val="3FB950"/>
            </a:solidFill>
            <a:prstDash val="solid"/>
          </a:ln>
        </p:spPr>
      </p:sp>
      <p:sp>
        <p:nvSpPr>
          <p:cNvPr id="25" name="Text 23"/>
          <p:cNvSpPr/>
          <p:nvPr/>
        </p:nvSpPr>
        <p:spPr>
          <a:xfrm>
            <a:off x="6245352" y="3127248"/>
            <a:ext cx="310896" cy="310896"/>
          </a:xfrm>
          <a:prstGeom prst="rect">
            <a:avLst/>
          </a:prstGeom>
          <a:noFill/>
          <a:ln/>
        </p:spPr>
        <p:txBody>
          <a:bodyPr wrap="square" lIns="0" tIns="0" rIns="0" bIns="0" rtlCol="0" anchor="ctr"/>
          <a:lstStyle/>
          <a:p>
            <a:pPr algn="ctr" indent="0" marL="0">
              <a:buNone/>
            </a:pPr>
            <a:r>
              <a:rPr lang="en-US" sz="1200" b="1" dirty="0">
                <a:solidFill>
                  <a:srgbClr val="56D364"/>
                </a:solidFill>
                <a:latin typeface="Calibri" pitchFamily="34" charset="0"/>
                <a:ea typeface="Calibri" pitchFamily="34" charset="-122"/>
                <a:cs typeface="Calibri" pitchFamily="34" charset="-120"/>
              </a:rPr>
              <a:t>✓</a:t>
            </a:r>
            <a:endParaRPr lang="en-US" sz="1200" dirty="0"/>
          </a:p>
        </p:txBody>
      </p:sp>
      <p:sp>
        <p:nvSpPr>
          <p:cNvPr id="26" name="Text 24"/>
          <p:cNvSpPr/>
          <p:nvPr/>
        </p:nvSpPr>
        <p:spPr>
          <a:xfrm>
            <a:off x="6245352" y="3529584"/>
            <a:ext cx="2331720" cy="310896"/>
          </a:xfrm>
          <a:prstGeom prst="rect">
            <a:avLst/>
          </a:prstGeom>
          <a:noFill/>
          <a:ln/>
        </p:spPr>
        <p:txBody>
          <a:bodyPr wrap="square" lIns="0" tIns="0" rIns="0" bIns="0" rtlCol="0" anchor="ctr"/>
          <a:lstStyle/>
          <a:p>
            <a:pPr indent="0" marL="0">
              <a:buNone/>
            </a:pPr>
            <a:r>
              <a:rPr lang="en-US" sz="1200" b="1" dirty="0">
                <a:solidFill>
                  <a:srgbClr val="F0F6FC"/>
                </a:solidFill>
                <a:latin typeface="Calibri" pitchFamily="34" charset="0"/>
                <a:ea typeface="Calibri" pitchFamily="34" charset="-122"/>
                <a:cs typeface="Calibri" pitchFamily="34" charset="-120"/>
              </a:rPr>
              <a:t>Figma 純正の忠実度</a:t>
            </a:r>
            <a:endParaRPr lang="en-US" sz="1200" dirty="0"/>
          </a:p>
        </p:txBody>
      </p:sp>
      <p:sp>
        <p:nvSpPr>
          <p:cNvPr id="27" name="Text 25"/>
          <p:cNvSpPr/>
          <p:nvPr/>
        </p:nvSpPr>
        <p:spPr>
          <a:xfrm>
            <a:off x="6245352" y="3877056"/>
            <a:ext cx="2331720" cy="731520"/>
          </a:xfrm>
          <a:prstGeom prst="rect">
            <a:avLst/>
          </a:prstGeom>
          <a:noFill/>
          <a:ln/>
        </p:spPr>
        <p:txBody>
          <a:bodyPr wrap="square" lIns="0" tIns="0" rIns="0" bIns="0" rtlCol="0" anchor="ctr"/>
          <a:lstStyle/>
          <a:p>
            <a:pPr indent="0" marL="0">
              <a:lnSpc>
                <a:spcPct val="120000"/>
              </a:lnSpc>
              <a:buNone/>
            </a:pPr>
            <a:r>
              <a:rPr lang="en-US" sz="950" dirty="0">
                <a:solidFill>
                  <a:srgbClr val="8B949E"/>
                </a:solidFill>
                <a:latin typeface="Calibri" pitchFamily="34" charset="0"/>
                <a:ea typeface="Calibri" pitchFamily="34" charset="-122"/>
                <a:cs typeface="Calibri" pitchFamily="34" charset="-120"/>
              </a:rPr>
              <a:t>Figma Web アプリが直接描画</a:t>
            </a:r>
            <a:endParaRPr lang="en-US" sz="950" dirty="0"/>
          </a:p>
          <a:p>
            <a:pPr indent="0" marL="0">
              <a:lnSpc>
                <a:spcPct val="120000"/>
              </a:lnSpc>
              <a:buNone/>
            </a:pPr>
            <a:r>
              <a:rPr lang="en-US" sz="950" dirty="0">
                <a:solidFill>
                  <a:srgbClr val="8B949E"/>
                </a:solidFill>
                <a:latin typeface="Calibri" pitchFamily="34" charset="0"/>
                <a:ea typeface="Calibri" pitchFamily="34" charset="-122"/>
                <a:cs typeface="Calibri" pitchFamily="34" charset="-120"/>
              </a:rPr>
              <a:t>→ 見た目の忠実度は 100%</a:t>
            </a:r>
            <a:endParaRPr lang="en-US" sz="9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D1117"/>
        </a:solidFill>
      </p:bgPr>
    </p:bg>
    <p:spTree>
      <p:nvGrpSpPr>
        <p:cNvPr id="1" name=""/>
        <p:cNvGrpSpPr/>
        <p:nvPr/>
      </p:nvGrpSpPr>
      <p:grpSpPr>
        <a:xfrm>
          <a:off x="0" y="0"/>
          <a:ext cx="0" cy="0"/>
          <a:chOff x="0" y="0"/>
          <a:chExt cx="0" cy="0"/>
        </a:xfrm>
      </p:grpSpPr>
      <p:sp>
        <p:nvSpPr>
          <p:cNvPr id="2" name="Shape 0"/>
          <p:cNvSpPr/>
          <p:nvPr/>
        </p:nvSpPr>
        <p:spPr>
          <a:xfrm>
            <a:off x="0" y="0"/>
            <a:ext cx="9144000" cy="50292"/>
          </a:xfrm>
          <a:prstGeom prst="rect">
            <a:avLst/>
          </a:prstGeom>
          <a:solidFill>
            <a:srgbClr val="7C3AED"/>
          </a:solidFill>
          <a:ln w="12700">
            <a:solidFill>
              <a:srgbClr val="7C3AED"/>
            </a:solidFill>
            <a:prstDash val="solid"/>
          </a:ln>
        </p:spPr>
      </p:sp>
      <p:sp>
        <p:nvSpPr>
          <p:cNvPr id="3" name="Text 1"/>
          <p:cNvSpPr/>
          <p:nvPr/>
        </p:nvSpPr>
        <p:spPr>
          <a:xfrm>
            <a:off x="411480" y="91440"/>
            <a:ext cx="8321040" cy="475488"/>
          </a:xfrm>
          <a:prstGeom prst="rect">
            <a:avLst/>
          </a:prstGeom>
          <a:noFill/>
          <a:ln/>
        </p:spPr>
        <p:txBody>
          <a:bodyPr wrap="square" lIns="0" tIns="0" rIns="0" bIns="0" rtlCol="0" anchor="ctr"/>
          <a:lstStyle/>
          <a:p>
            <a:pPr indent="0" marL="0">
              <a:buNone/>
            </a:pPr>
            <a:r>
              <a:rPr lang="en-US" sz="2100" b="1" dirty="0">
                <a:solidFill>
                  <a:srgbClr val="F0F6FC"/>
                </a:solidFill>
                <a:latin typeface="Calibri" pitchFamily="34" charset="0"/>
                <a:ea typeface="Calibri" pitchFamily="34" charset="-122"/>
                <a:cs typeface="Calibri" pitchFamily="34" charset="-120"/>
              </a:rPr>
              <a:t>提案する構成 — アーキテクチャ概要</a:t>
            </a:r>
            <a:endParaRPr lang="en-US" sz="2100" dirty="0"/>
          </a:p>
        </p:txBody>
      </p:sp>
      <p:sp>
        <p:nvSpPr>
          <p:cNvPr id="4" name="Shape 2"/>
          <p:cNvSpPr/>
          <p:nvPr/>
        </p:nvSpPr>
        <p:spPr>
          <a:xfrm>
            <a:off x="411480" y="658368"/>
            <a:ext cx="8321040" cy="0"/>
          </a:xfrm>
          <a:prstGeom prst="line">
            <a:avLst/>
          </a:prstGeom>
          <a:noFill/>
          <a:ln w="9525">
            <a:solidFill>
              <a:srgbClr val="30363D"/>
            </a:solidFill>
            <a:prstDash val="solid"/>
          </a:ln>
        </p:spPr>
      </p:sp>
      <p:sp>
        <p:nvSpPr>
          <p:cNvPr id="5" name="Shape 3"/>
          <p:cNvSpPr/>
          <p:nvPr/>
        </p:nvSpPr>
        <p:spPr>
          <a:xfrm>
            <a:off x="320040" y="841248"/>
            <a:ext cx="8503920" cy="3200400"/>
          </a:xfrm>
          <a:prstGeom prst="rect">
            <a:avLst/>
          </a:prstGeom>
          <a:solidFill>
            <a:srgbClr val="161B22"/>
          </a:solidFill>
          <a:ln w="15875">
            <a:solidFill>
              <a:srgbClr val="7C3AED"/>
            </a:solidFill>
            <a:prstDash val="dash"/>
          </a:ln>
        </p:spPr>
      </p:sp>
      <p:sp>
        <p:nvSpPr>
          <p:cNvPr id="6" name="Text 4"/>
          <p:cNvSpPr/>
          <p:nvPr/>
        </p:nvSpPr>
        <p:spPr>
          <a:xfrm>
            <a:off x="475488" y="905256"/>
            <a:ext cx="2743200" cy="237744"/>
          </a:xfrm>
          <a:prstGeom prst="rect">
            <a:avLst/>
          </a:prstGeom>
          <a:noFill/>
          <a:ln/>
        </p:spPr>
        <p:txBody>
          <a:bodyPr wrap="square" lIns="0" tIns="0" rIns="0" bIns="0" rtlCol="0" anchor="ctr"/>
          <a:lstStyle/>
          <a:p>
            <a:pPr indent="0" marL="0">
              <a:buNone/>
            </a:pPr>
            <a:r>
              <a:rPr lang="en-US" sz="900" b="1" dirty="0">
                <a:solidFill>
                  <a:srgbClr val="A78BFA"/>
                </a:solidFill>
                <a:latin typeface="Courier New" pitchFamily="34" charset="0"/>
                <a:ea typeface="Courier New" pitchFamily="34" charset="-122"/>
                <a:cs typeface="Courier New" pitchFamily="34" charset="-120"/>
              </a:rPr>
              <a:t>GitHub Codespaces (VM)</a:t>
            </a:r>
            <a:endParaRPr lang="en-US" sz="900" dirty="0"/>
          </a:p>
        </p:txBody>
      </p:sp>
      <p:sp>
        <p:nvSpPr>
          <p:cNvPr id="7" name="Shape 5"/>
          <p:cNvSpPr/>
          <p:nvPr/>
        </p:nvSpPr>
        <p:spPr>
          <a:xfrm>
            <a:off x="548640" y="1298448"/>
            <a:ext cx="2240280" cy="914400"/>
          </a:xfrm>
          <a:prstGeom prst="rect">
            <a:avLst/>
          </a:prstGeom>
          <a:solidFill>
            <a:srgbClr val="1C2128"/>
          </a:solidFill>
          <a:ln w="15875">
            <a:solidFill>
              <a:srgbClr val="30363D"/>
            </a:solidFill>
            <a:prstDash val="solid"/>
          </a:ln>
        </p:spPr>
      </p:sp>
      <p:sp>
        <p:nvSpPr>
          <p:cNvPr id="8" name="Text 6"/>
          <p:cNvSpPr/>
          <p:nvPr/>
        </p:nvSpPr>
        <p:spPr>
          <a:xfrm>
            <a:off x="548640" y="1298448"/>
            <a:ext cx="2240280" cy="914400"/>
          </a:xfrm>
          <a:prstGeom prst="rect">
            <a:avLst/>
          </a:prstGeom>
          <a:noFill/>
          <a:ln/>
        </p:spPr>
        <p:txBody>
          <a:bodyPr wrap="square" rtlCol="0" anchor="ctr"/>
          <a:lstStyle/>
          <a:p>
            <a:pPr algn="ctr" indent="0" marL="0">
              <a:lnSpc>
                <a:spcPct val="115000"/>
              </a:lnSpc>
              <a:buNone/>
            </a:pPr>
            <a:r>
              <a:rPr lang="en-US" sz="1050" b="1" dirty="0">
                <a:solidFill>
                  <a:srgbClr val="F0F6FC"/>
                </a:solidFill>
                <a:latin typeface="Calibri" pitchFamily="34" charset="0"/>
                <a:ea typeface="Calibri" pitchFamily="34" charset="-122"/>
                <a:cs typeface="Calibri" pitchFamily="34" charset="-120"/>
              </a:rPr>
              <a:t>VS Code</a:t>
            </a:r>
            <a:endParaRPr lang="en-US" sz="1050" dirty="0"/>
          </a:p>
          <a:p>
            <a:pPr algn="ctr" indent="0" marL="0">
              <a:lnSpc>
                <a:spcPct val="115000"/>
              </a:lnSpc>
              <a:buNone/>
            </a:pPr>
            <a:r>
              <a:rPr lang="en-US" sz="1050" b="1" dirty="0">
                <a:solidFill>
                  <a:srgbClr val="F0F6FC"/>
                </a:solidFill>
                <a:latin typeface="Calibri" pitchFamily="34" charset="0"/>
                <a:ea typeface="Calibri" pitchFamily="34" charset="-122"/>
                <a:cs typeface="Calibri" pitchFamily="34" charset="-120"/>
              </a:rPr>
              <a:t>+ Copilot / AI</a:t>
            </a:r>
            <a:endParaRPr lang="en-US" sz="1050" dirty="0"/>
          </a:p>
        </p:txBody>
      </p:sp>
      <p:sp>
        <p:nvSpPr>
          <p:cNvPr id="9" name="Shape 7"/>
          <p:cNvSpPr/>
          <p:nvPr/>
        </p:nvSpPr>
        <p:spPr>
          <a:xfrm>
            <a:off x="2788920" y="1627632"/>
            <a:ext cx="960120" cy="0"/>
          </a:xfrm>
          <a:prstGeom prst="line">
            <a:avLst/>
          </a:prstGeom>
          <a:noFill/>
          <a:ln w="25400">
            <a:solidFill>
              <a:srgbClr val="9D5EF0"/>
            </a:solidFill>
            <a:prstDash val="solid"/>
          </a:ln>
        </p:spPr>
      </p:sp>
      <p:sp>
        <p:nvSpPr>
          <p:cNvPr id="10" name="Text 8"/>
          <p:cNvSpPr/>
          <p:nvPr/>
        </p:nvSpPr>
        <p:spPr>
          <a:xfrm>
            <a:off x="2697480" y="1389888"/>
            <a:ext cx="1143000" cy="201168"/>
          </a:xfrm>
          <a:prstGeom prst="rect">
            <a:avLst/>
          </a:prstGeom>
          <a:noFill/>
          <a:ln/>
        </p:spPr>
        <p:txBody>
          <a:bodyPr wrap="square" lIns="0" tIns="0" rIns="0" bIns="0" rtlCol="0" anchor="ctr"/>
          <a:lstStyle/>
          <a:p>
            <a:pPr algn="ctr" indent="0" marL="0">
              <a:buNone/>
            </a:pPr>
            <a:r>
              <a:rPr lang="en-US" sz="750" dirty="0">
                <a:solidFill>
                  <a:srgbClr val="A78BFA"/>
                </a:solidFill>
                <a:latin typeface="Courier New" pitchFamily="34" charset="0"/>
                <a:ea typeface="Courier New" pitchFamily="34" charset="-122"/>
                <a:cs typeface="Courier New" pitchFamily="34" charset="-120"/>
              </a:rPr>
              <a:t>MCP (HTTP)</a:t>
            </a:r>
            <a:endParaRPr lang="en-US" sz="750" dirty="0"/>
          </a:p>
        </p:txBody>
      </p:sp>
      <p:sp>
        <p:nvSpPr>
          <p:cNvPr id="11" name="Shape 9"/>
          <p:cNvSpPr/>
          <p:nvPr/>
        </p:nvSpPr>
        <p:spPr>
          <a:xfrm>
            <a:off x="2788920" y="1883664"/>
            <a:ext cx="960120" cy="0"/>
          </a:xfrm>
          <a:prstGeom prst="line">
            <a:avLst/>
          </a:prstGeom>
          <a:noFill/>
          <a:ln w="25400">
            <a:solidFill>
              <a:srgbClr val="3FB950"/>
            </a:solidFill>
            <a:prstDash val="solid"/>
          </a:ln>
        </p:spPr>
      </p:sp>
      <p:sp>
        <p:nvSpPr>
          <p:cNvPr id="12" name="Text 10"/>
          <p:cNvSpPr/>
          <p:nvPr/>
        </p:nvSpPr>
        <p:spPr>
          <a:xfrm>
            <a:off x="2697480" y="1920240"/>
            <a:ext cx="1143000" cy="201168"/>
          </a:xfrm>
          <a:prstGeom prst="rect">
            <a:avLst/>
          </a:prstGeom>
          <a:noFill/>
          <a:ln/>
        </p:spPr>
        <p:txBody>
          <a:bodyPr wrap="square" lIns="0" tIns="0" rIns="0" bIns="0" rtlCol="0" anchor="ctr"/>
          <a:lstStyle/>
          <a:p>
            <a:pPr algn="ctr" indent="0" marL="0">
              <a:buNone/>
            </a:pPr>
            <a:r>
              <a:rPr lang="en-US" sz="750" dirty="0">
                <a:solidFill>
                  <a:srgbClr val="56D364"/>
                </a:solidFill>
                <a:latin typeface="Courier New" pitchFamily="34" charset="0"/>
                <a:ea typeface="Courier New" pitchFamily="34" charset="-122"/>
                <a:cs typeface="Courier New" pitchFamily="34" charset="-120"/>
              </a:rPr>
              <a:t>base64 PNG</a:t>
            </a:r>
            <a:endParaRPr lang="en-US" sz="750" dirty="0"/>
          </a:p>
        </p:txBody>
      </p:sp>
      <p:sp>
        <p:nvSpPr>
          <p:cNvPr id="13" name="Shape 11"/>
          <p:cNvSpPr/>
          <p:nvPr/>
        </p:nvSpPr>
        <p:spPr>
          <a:xfrm>
            <a:off x="3749040" y="1298448"/>
            <a:ext cx="2377440" cy="914400"/>
          </a:xfrm>
          <a:prstGeom prst="rect">
            <a:avLst/>
          </a:prstGeom>
          <a:solidFill>
            <a:srgbClr val="553C9A"/>
          </a:solidFill>
          <a:ln w="15875">
            <a:solidFill>
              <a:srgbClr val="7C3AED"/>
            </a:solidFill>
            <a:prstDash val="solid"/>
          </a:ln>
        </p:spPr>
      </p:sp>
      <p:sp>
        <p:nvSpPr>
          <p:cNvPr id="14" name="Text 12"/>
          <p:cNvSpPr/>
          <p:nvPr/>
        </p:nvSpPr>
        <p:spPr>
          <a:xfrm>
            <a:off x="3749040" y="1298448"/>
            <a:ext cx="2377440" cy="914400"/>
          </a:xfrm>
          <a:prstGeom prst="rect">
            <a:avLst/>
          </a:prstGeom>
          <a:noFill/>
          <a:ln/>
        </p:spPr>
        <p:txBody>
          <a:bodyPr wrap="square" rtlCol="0" anchor="ctr"/>
          <a:lstStyle/>
          <a:p>
            <a:pPr algn="ctr" indent="0" marL="0">
              <a:lnSpc>
                <a:spcPct val="115000"/>
              </a:lnSpc>
              <a:buNone/>
            </a:pPr>
            <a:r>
              <a:rPr lang="en-US" sz="1050" b="1" dirty="0">
                <a:solidFill>
                  <a:srgbClr val="F0F6FC"/>
                </a:solidFill>
                <a:latin typeface="Calibri" pitchFamily="34" charset="0"/>
                <a:ea typeface="Calibri" pitchFamily="34" charset="-122"/>
                <a:cs typeface="Calibri" pitchFamily="34" charset="-120"/>
              </a:rPr>
              <a:t>figma-mcp-service</a:t>
            </a:r>
            <a:endParaRPr lang="en-US" sz="1050" dirty="0"/>
          </a:p>
          <a:p>
            <a:pPr algn="ctr" indent="0" marL="0">
              <a:lnSpc>
                <a:spcPct val="115000"/>
              </a:lnSpc>
              <a:buNone/>
            </a:pPr>
            <a:r>
              <a:rPr lang="en-US" sz="1050" b="1" dirty="0">
                <a:solidFill>
                  <a:srgbClr val="F0F6FC"/>
                </a:solidFill>
                <a:latin typeface="Calibri" pitchFamily="34" charset="0"/>
                <a:ea typeface="Calibri" pitchFamily="34" charset="-122"/>
                <a:cs typeface="Calibri" pitchFamily="34" charset="-120"/>
              </a:rPr>
              <a:t>(Hono + MCP SDK)</a:t>
            </a:r>
            <a:endParaRPr lang="en-US" sz="1050" dirty="0"/>
          </a:p>
        </p:txBody>
      </p:sp>
      <p:sp>
        <p:nvSpPr>
          <p:cNvPr id="15" name="Shape 13"/>
          <p:cNvSpPr/>
          <p:nvPr/>
        </p:nvSpPr>
        <p:spPr>
          <a:xfrm>
            <a:off x="4937760" y="2212848"/>
            <a:ext cx="0" cy="566928"/>
          </a:xfrm>
          <a:prstGeom prst="line">
            <a:avLst/>
          </a:prstGeom>
          <a:noFill/>
          <a:ln w="25400">
            <a:solidFill>
              <a:srgbClr val="9D5EF0"/>
            </a:solidFill>
            <a:prstDash val="solid"/>
          </a:ln>
        </p:spPr>
      </p:sp>
      <p:sp>
        <p:nvSpPr>
          <p:cNvPr id="16" name="Shape 14"/>
          <p:cNvSpPr/>
          <p:nvPr/>
        </p:nvSpPr>
        <p:spPr>
          <a:xfrm>
            <a:off x="3749040" y="2779776"/>
            <a:ext cx="2377440" cy="777240"/>
          </a:xfrm>
          <a:prstGeom prst="rect">
            <a:avLst/>
          </a:prstGeom>
          <a:solidFill>
            <a:srgbClr val="1C2128"/>
          </a:solidFill>
          <a:ln w="15875">
            <a:solidFill>
              <a:srgbClr val="30363D"/>
            </a:solidFill>
            <a:prstDash val="solid"/>
          </a:ln>
        </p:spPr>
      </p:sp>
      <p:sp>
        <p:nvSpPr>
          <p:cNvPr id="17" name="Text 15"/>
          <p:cNvSpPr/>
          <p:nvPr/>
        </p:nvSpPr>
        <p:spPr>
          <a:xfrm>
            <a:off x="3749040" y="2779776"/>
            <a:ext cx="2377440" cy="777240"/>
          </a:xfrm>
          <a:prstGeom prst="rect">
            <a:avLst/>
          </a:prstGeom>
          <a:noFill/>
          <a:ln/>
        </p:spPr>
        <p:txBody>
          <a:bodyPr wrap="square" rtlCol="0" anchor="ctr"/>
          <a:lstStyle/>
          <a:p>
            <a:pPr algn="ctr" indent="0" marL="0">
              <a:lnSpc>
                <a:spcPct val="115000"/>
              </a:lnSpc>
              <a:buNone/>
            </a:pPr>
            <a:r>
              <a:rPr lang="en-US" sz="1050" b="1" dirty="0">
                <a:solidFill>
                  <a:srgbClr val="F0F6FC"/>
                </a:solidFill>
                <a:latin typeface="Calibri" pitchFamily="34" charset="0"/>
                <a:ea typeface="Calibri" pitchFamily="34" charset="-122"/>
                <a:cs typeface="Calibri" pitchFamily="34" charset="-120"/>
              </a:rPr>
              <a:t>Playwright</a:t>
            </a:r>
            <a:endParaRPr lang="en-US" sz="1050" dirty="0"/>
          </a:p>
          <a:p>
            <a:pPr algn="ctr" indent="0" marL="0">
              <a:lnSpc>
                <a:spcPct val="115000"/>
              </a:lnSpc>
              <a:buNone/>
            </a:pPr>
            <a:r>
              <a:rPr lang="en-US" sz="1050" b="1" dirty="0">
                <a:solidFill>
                  <a:srgbClr val="F0F6FC"/>
                </a:solidFill>
                <a:latin typeface="Calibri" pitchFamily="34" charset="0"/>
                <a:ea typeface="Calibri" pitchFamily="34" charset="-122"/>
                <a:cs typeface="Calibri" pitchFamily="34" charset="-120"/>
              </a:rPr>
              <a:t>(headless Chrome)</a:t>
            </a:r>
            <a:endParaRPr lang="en-US" sz="1050" dirty="0"/>
          </a:p>
        </p:txBody>
      </p:sp>
      <p:sp>
        <p:nvSpPr>
          <p:cNvPr id="18" name="Shape 16"/>
          <p:cNvSpPr/>
          <p:nvPr/>
        </p:nvSpPr>
        <p:spPr>
          <a:xfrm>
            <a:off x="6126480" y="1755648"/>
            <a:ext cx="914400" cy="0"/>
          </a:xfrm>
          <a:prstGeom prst="line">
            <a:avLst/>
          </a:prstGeom>
          <a:noFill/>
          <a:ln w="19050">
            <a:solidFill>
              <a:srgbClr val="8B949E"/>
            </a:solidFill>
            <a:prstDash val="dash"/>
          </a:ln>
        </p:spPr>
      </p:sp>
      <p:sp>
        <p:nvSpPr>
          <p:cNvPr id="19" name="Text 17"/>
          <p:cNvSpPr/>
          <p:nvPr/>
        </p:nvSpPr>
        <p:spPr>
          <a:xfrm>
            <a:off x="5989320" y="1499616"/>
            <a:ext cx="1188720" cy="219456"/>
          </a:xfrm>
          <a:prstGeom prst="rect">
            <a:avLst/>
          </a:prstGeom>
          <a:noFill/>
          <a:ln/>
        </p:spPr>
        <p:txBody>
          <a:bodyPr wrap="square" lIns="0" tIns="0" rIns="0" bIns="0" rtlCol="0" anchor="ctr"/>
          <a:lstStyle/>
          <a:p>
            <a:pPr algn="ctr" indent="0" marL="0">
              <a:buNone/>
            </a:pPr>
            <a:r>
              <a:rPr lang="en-US" sz="700" dirty="0">
                <a:solidFill>
                  <a:srgbClr val="8B949E"/>
                </a:solidFill>
                <a:latin typeface="Calibri" pitchFamily="34" charset="0"/>
                <a:ea typeface="Calibri" pitchFamily="34" charset="-122"/>
                <a:cs typeface="Calibri" pitchFamily="34" charset="-120"/>
              </a:rPr>
              <a:t>キャッシュ (任意)</a:t>
            </a:r>
            <a:endParaRPr lang="en-US" sz="700" dirty="0"/>
          </a:p>
        </p:txBody>
      </p:sp>
      <p:sp>
        <p:nvSpPr>
          <p:cNvPr id="20" name="Shape 18"/>
          <p:cNvSpPr/>
          <p:nvPr/>
        </p:nvSpPr>
        <p:spPr>
          <a:xfrm>
            <a:off x="7040880" y="1298448"/>
            <a:ext cx="1600200" cy="914400"/>
          </a:xfrm>
          <a:prstGeom prst="rect">
            <a:avLst/>
          </a:prstGeom>
          <a:solidFill>
            <a:srgbClr val="1C2128"/>
          </a:solidFill>
          <a:ln w="15875">
            <a:solidFill>
              <a:srgbClr val="30363D"/>
            </a:solidFill>
            <a:prstDash val="solid"/>
          </a:ln>
        </p:spPr>
      </p:sp>
      <p:sp>
        <p:nvSpPr>
          <p:cNvPr id="21" name="Text 19"/>
          <p:cNvSpPr/>
          <p:nvPr/>
        </p:nvSpPr>
        <p:spPr>
          <a:xfrm>
            <a:off x="7040880" y="1298448"/>
            <a:ext cx="1600200" cy="914400"/>
          </a:xfrm>
          <a:prstGeom prst="rect">
            <a:avLst/>
          </a:prstGeom>
          <a:noFill/>
          <a:ln/>
        </p:spPr>
        <p:txBody>
          <a:bodyPr wrap="square" rtlCol="0" anchor="ctr"/>
          <a:lstStyle/>
          <a:p>
            <a:pPr algn="ctr" indent="0" marL="0">
              <a:lnSpc>
                <a:spcPct val="115000"/>
              </a:lnSpc>
              <a:buNone/>
            </a:pPr>
            <a:r>
              <a:rPr lang="en-US" sz="1050" b="1" dirty="0">
                <a:solidFill>
                  <a:srgbClr val="8B949E"/>
                </a:solidFill>
                <a:latin typeface="Calibri" pitchFamily="34" charset="0"/>
                <a:ea typeface="Calibri" pitchFamily="34" charset="-122"/>
                <a:cs typeface="Calibri" pitchFamily="34" charset="-120"/>
              </a:rPr>
              <a:t>プライベート</a:t>
            </a:r>
            <a:endParaRPr lang="en-US" sz="1050" dirty="0"/>
          </a:p>
          <a:p>
            <a:pPr algn="ctr" indent="0" marL="0">
              <a:lnSpc>
                <a:spcPct val="115000"/>
              </a:lnSpc>
              <a:buNone/>
            </a:pPr>
            <a:r>
              <a:rPr lang="en-US" sz="1050" b="1" dirty="0">
                <a:solidFill>
                  <a:srgbClr val="8B949E"/>
                </a:solidFill>
                <a:latin typeface="Calibri" pitchFamily="34" charset="0"/>
                <a:ea typeface="Calibri" pitchFamily="34" charset="-122"/>
                <a:cs typeface="Calibri" pitchFamily="34" charset="-120"/>
              </a:rPr>
              <a:t>Storage</a:t>
            </a:r>
            <a:endParaRPr lang="en-US" sz="1050" dirty="0"/>
          </a:p>
          <a:p>
            <a:pPr algn="ctr" indent="0" marL="0">
              <a:lnSpc>
                <a:spcPct val="115000"/>
              </a:lnSpc>
              <a:buNone/>
            </a:pPr>
            <a:r>
              <a:rPr lang="en-US" sz="1050" b="1" dirty="0">
                <a:solidFill>
                  <a:srgbClr val="8B949E"/>
                </a:solidFill>
                <a:latin typeface="Calibri" pitchFamily="34" charset="0"/>
                <a:ea typeface="Calibri" pitchFamily="34" charset="-122"/>
                <a:cs typeface="Calibri" pitchFamily="34" charset="-120"/>
              </a:rPr>
              <a:t>(PoC: Supabase)</a:t>
            </a:r>
            <a:endParaRPr lang="en-US" sz="1050" dirty="0"/>
          </a:p>
        </p:txBody>
      </p:sp>
      <p:sp>
        <p:nvSpPr>
          <p:cNvPr id="22" name="Shape 20"/>
          <p:cNvSpPr/>
          <p:nvPr/>
        </p:nvSpPr>
        <p:spPr>
          <a:xfrm>
            <a:off x="6492240" y="2743200"/>
            <a:ext cx="2148840" cy="1170432"/>
          </a:xfrm>
          <a:prstGeom prst="rect">
            <a:avLst/>
          </a:prstGeom>
          <a:solidFill>
            <a:srgbClr val="161B22"/>
          </a:solidFill>
          <a:ln w="12700">
            <a:solidFill>
              <a:srgbClr val="30363D"/>
            </a:solidFill>
            <a:prstDash val="solid"/>
          </a:ln>
        </p:spPr>
      </p:sp>
      <p:sp>
        <p:nvSpPr>
          <p:cNvPr id="23" name="Text 21"/>
          <p:cNvSpPr/>
          <p:nvPr/>
        </p:nvSpPr>
        <p:spPr>
          <a:xfrm>
            <a:off x="6620256" y="2798064"/>
            <a:ext cx="1920240" cy="237744"/>
          </a:xfrm>
          <a:prstGeom prst="rect">
            <a:avLst/>
          </a:prstGeom>
          <a:noFill/>
          <a:ln/>
        </p:spPr>
        <p:txBody>
          <a:bodyPr wrap="square" lIns="0" tIns="0" rIns="0" bIns="0" rtlCol="0" anchor="ctr"/>
          <a:lstStyle/>
          <a:p>
            <a:pPr indent="0" marL="0">
              <a:buNone/>
            </a:pPr>
            <a:r>
              <a:rPr lang="en-US" sz="950" b="1" dirty="0">
                <a:solidFill>
                  <a:srgbClr val="A78BFA"/>
                </a:solidFill>
                <a:latin typeface="Calibri" pitchFamily="34" charset="0"/>
                <a:ea typeface="Calibri" pitchFamily="34" charset="-122"/>
                <a:cs typeface="Calibri" pitchFamily="34" charset="-120"/>
              </a:rPr>
              <a:t>MCP ツール</a:t>
            </a:r>
            <a:endParaRPr lang="en-US" sz="950" dirty="0"/>
          </a:p>
        </p:txBody>
      </p:sp>
      <p:sp>
        <p:nvSpPr>
          <p:cNvPr id="24" name="Text 22"/>
          <p:cNvSpPr/>
          <p:nvPr/>
        </p:nvSpPr>
        <p:spPr>
          <a:xfrm>
            <a:off x="6620256" y="3054096"/>
            <a:ext cx="1965960" cy="822960"/>
          </a:xfrm>
          <a:prstGeom prst="rect">
            <a:avLst/>
          </a:prstGeom>
          <a:noFill/>
          <a:ln/>
        </p:spPr>
        <p:txBody>
          <a:bodyPr wrap="square" lIns="0" tIns="0" rIns="0" bIns="0" rtlCol="0" anchor="ctr"/>
          <a:lstStyle/>
          <a:p>
            <a:pPr indent="0" marL="0">
              <a:lnSpc>
                <a:spcPct val="130000"/>
              </a:lnSpc>
              <a:buNone/>
            </a:pPr>
            <a:r>
              <a:rPr lang="en-US" sz="800" dirty="0">
                <a:solidFill>
                  <a:srgbClr val="79C0FF"/>
                </a:solidFill>
                <a:latin typeface="Courier New" pitchFamily="34" charset="0"/>
                <a:ea typeface="Courier New" pitchFamily="34" charset="-122"/>
                <a:cs typeface="Courier New" pitchFamily="34" charset="-120"/>
              </a:rPr>
              <a:t>figma_get_screenshot</a:t>
            </a:r>
            <a:endParaRPr lang="en-US" sz="800" dirty="0"/>
          </a:p>
          <a:p>
            <a:pPr indent="0" marL="0">
              <a:lnSpc>
                <a:spcPct val="130000"/>
              </a:lnSpc>
              <a:buNone/>
            </a:pPr>
            <a:r>
              <a:rPr lang="en-US" sz="800" dirty="0">
                <a:solidFill>
                  <a:srgbClr val="8B949E"/>
                </a:solidFill>
                <a:latin typeface="Courier New" pitchFamily="34" charset="0"/>
                <a:ea typeface="Courier New" pitchFamily="34" charset="-122"/>
                <a:cs typeface="Courier New" pitchFamily="34" charset="-120"/>
              </a:rPr>
              <a:t>  URL → PNG を返す</a:t>
            </a:r>
            <a:endParaRPr lang="en-US" sz="800" dirty="0"/>
          </a:p>
          <a:p>
            <a:pPr indent="0" marL="0">
              <a:lnSpc>
                <a:spcPct val="130000"/>
              </a:lnSpc>
              <a:buNone/>
            </a:pPr>
            <a:r>
              <a:rPr lang="en-US" sz="800" dirty="0">
                <a:solidFill>
                  <a:srgbClr val="79C0FF"/>
                </a:solidFill>
                <a:latin typeface="Courier New" pitchFamily="34" charset="0"/>
                <a:ea typeface="Courier New" pitchFamily="34" charset="-122"/>
                <a:cs typeface="Courier New" pitchFamily="34" charset="-120"/>
              </a:rPr>
              <a:t>figma_get_node_info</a:t>
            </a:r>
            <a:endParaRPr lang="en-US" sz="800" dirty="0"/>
          </a:p>
          <a:p>
            <a:pPr indent="0" marL="0">
              <a:lnSpc>
                <a:spcPct val="130000"/>
              </a:lnSpc>
              <a:buNone/>
            </a:pPr>
            <a:r>
              <a:rPr lang="en-US" sz="800" dirty="0">
                <a:solidFill>
                  <a:srgbClr val="8B949E"/>
                </a:solidFill>
                <a:latin typeface="Courier New" pitchFamily="34" charset="0"/>
                <a:ea typeface="Courier New" pitchFamily="34" charset="-122"/>
                <a:cs typeface="Courier New" pitchFamily="34" charset="-120"/>
              </a:rPr>
              <a:t>  URL → JSON を返す</a:t>
            </a:r>
            <a:endParaRPr lang="en-US" sz="800" dirty="0"/>
          </a:p>
        </p:txBody>
      </p:sp>
      <p:sp>
        <p:nvSpPr>
          <p:cNvPr id="25" name="Shape 23"/>
          <p:cNvSpPr/>
          <p:nvPr/>
        </p:nvSpPr>
        <p:spPr>
          <a:xfrm>
            <a:off x="4937760" y="3557016"/>
            <a:ext cx="0" cy="566928"/>
          </a:xfrm>
          <a:prstGeom prst="line">
            <a:avLst/>
          </a:prstGeom>
          <a:noFill/>
          <a:ln w="25400">
            <a:solidFill>
              <a:srgbClr val="8B949E"/>
            </a:solidFill>
            <a:prstDash val="solid"/>
          </a:ln>
        </p:spPr>
      </p:sp>
      <p:sp>
        <p:nvSpPr>
          <p:cNvPr id="26" name="Text 24"/>
          <p:cNvSpPr/>
          <p:nvPr/>
        </p:nvSpPr>
        <p:spPr>
          <a:xfrm>
            <a:off x="1737360" y="3712464"/>
            <a:ext cx="3063240" cy="219456"/>
          </a:xfrm>
          <a:prstGeom prst="rect">
            <a:avLst/>
          </a:prstGeom>
          <a:noFill/>
          <a:ln/>
        </p:spPr>
        <p:txBody>
          <a:bodyPr wrap="square" lIns="0" tIns="0" rIns="0" bIns="0" rtlCol="0" anchor="ctr"/>
          <a:lstStyle/>
          <a:p>
            <a:pPr algn="r" indent="0" marL="0">
              <a:buNone/>
            </a:pPr>
            <a:r>
              <a:rPr lang="en-US" sz="800" dirty="0">
                <a:solidFill>
                  <a:srgbClr val="8B949E"/>
                </a:solidFill>
                <a:latin typeface="Calibri" pitchFamily="34" charset="0"/>
                <a:ea typeface="Calibri" pitchFamily="34" charset="-122"/>
                <a:cs typeface="Calibri" pitchFamily="34" charset="-120"/>
              </a:rPr>
              <a:t>Figma セッション cookie で認証</a:t>
            </a:r>
            <a:endParaRPr lang="en-US" sz="800" dirty="0"/>
          </a:p>
        </p:txBody>
      </p:sp>
      <p:sp>
        <p:nvSpPr>
          <p:cNvPr id="27" name="Shape 25"/>
          <p:cNvSpPr/>
          <p:nvPr/>
        </p:nvSpPr>
        <p:spPr>
          <a:xfrm>
            <a:off x="3657600" y="4224528"/>
            <a:ext cx="2560320" cy="658368"/>
          </a:xfrm>
          <a:prstGeom prst="rect">
            <a:avLst/>
          </a:prstGeom>
          <a:solidFill>
            <a:srgbClr val="1E1E1E"/>
          </a:solidFill>
          <a:ln w="15875">
            <a:solidFill>
              <a:srgbClr val="7C3AED"/>
            </a:solidFill>
            <a:prstDash val="solid"/>
          </a:ln>
        </p:spPr>
      </p:sp>
      <p:sp>
        <p:nvSpPr>
          <p:cNvPr id="28" name="Text 26"/>
          <p:cNvSpPr/>
          <p:nvPr/>
        </p:nvSpPr>
        <p:spPr>
          <a:xfrm>
            <a:off x="3657600" y="4224528"/>
            <a:ext cx="2560320" cy="658368"/>
          </a:xfrm>
          <a:prstGeom prst="rect">
            <a:avLst/>
          </a:prstGeom>
          <a:noFill/>
          <a:ln/>
        </p:spPr>
        <p:txBody>
          <a:bodyPr wrap="square" rtlCol="0" anchor="ctr"/>
          <a:lstStyle/>
          <a:p>
            <a:pPr algn="ctr" indent="0" marL="0">
              <a:lnSpc>
                <a:spcPct val="115000"/>
              </a:lnSpc>
              <a:buNone/>
            </a:pPr>
            <a:r>
              <a:rPr lang="en-US" sz="1050" b="1" dirty="0">
                <a:solidFill>
                  <a:srgbClr val="F0F6FC"/>
                </a:solidFill>
                <a:latin typeface="Calibri" pitchFamily="34" charset="0"/>
                <a:ea typeface="Calibri" pitchFamily="34" charset="-122"/>
                <a:cs typeface="Calibri" pitchFamily="34" charset="-120"/>
              </a:rPr>
              <a:t>Figma Web (canvas)</a:t>
            </a:r>
            <a:endParaRPr lang="en-US" sz="10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D1117"/>
        </a:solidFill>
      </p:bgPr>
    </p:bg>
    <p:spTree>
      <p:nvGrpSpPr>
        <p:cNvPr id="1" name=""/>
        <p:cNvGrpSpPr/>
        <p:nvPr/>
      </p:nvGrpSpPr>
      <p:grpSpPr>
        <a:xfrm>
          <a:off x="0" y="0"/>
          <a:ext cx="0" cy="0"/>
          <a:chOff x="0" y="0"/>
          <a:chExt cx="0" cy="0"/>
        </a:xfrm>
      </p:grpSpPr>
      <p:sp>
        <p:nvSpPr>
          <p:cNvPr id="2" name="Shape 0"/>
          <p:cNvSpPr/>
          <p:nvPr/>
        </p:nvSpPr>
        <p:spPr>
          <a:xfrm>
            <a:off x="0" y="0"/>
            <a:ext cx="9144000" cy="50292"/>
          </a:xfrm>
          <a:prstGeom prst="rect">
            <a:avLst/>
          </a:prstGeom>
          <a:solidFill>
            <a:srgbClr val="7C3AED"/>
          </a:solidFill>
          <a:ln w="12700">
            <a:solidFill>
              <a:srgbClr val="7C3AED"/>
            </a:solidFill>
            <a:prstDash val="solid"/>
          </a:ln>
        </p:spPr>
      </p:sp>
      <p:sp>
        <p:nvSpPr>
          <p:cNvPr id="3" name="Text 1"/>
          <p:cNvSpPr/>
          <p:nvPr/>
        </p:nvSpPr>
        <p:spPr>
          <a:xfrm>
            <a:off x="411480" y="91440"/>
            <a:ext cx="8321040" cy="475488"/>
          </a:xfrm>
          <a:prstGeom prst="rect">
            <a:avLst/>
          </a:prstGeom>
          <a:noFill/>
          <a:ln/>
        </p:spPr>
        <p:txBody>
          <a:bodyPr wrap="square" lIns="0" tIns="0" rIns="0" bIns="0" rtlCol="0" anchor="ctr"/>
          <a:lstStyle/>
          <a:p>
            <a:pPr indent="0" marL="0">
              <a:buNone/>
            </a:pPr>
            <a:r>
              <a:rPr lang="en-US" sz="2100" b="1" dirty="0">
                <a:solidFill>
                  <a:srgbClr val="F0F6FC"/>
                </a:solidFill>
                <a:latin typeface="Calibri" pitchFamily="34" charset="0"/>
                <a:ea typeface="Calibri" pitchFamily="34" charset="-122"/>
                <a:cs typeface="Calibri" pitchFamily="34" charset="-120"/>
              </a:rPr>
              <a:t>セキュリティの肝 — なぜこれがセキュアなのか</a:t>
            </a:r>
            <a:endParaRPr lang="en-US" sz="2100" dirty="0"/>
          </a:p>
        </p:txBody>
      </p:sp>
      <p:sp>
        <p:nvSpPr>
          <p:cNvPr id="4" name="Shape 2"/>
          <p:cNvSpPr/>
          <p:nvPr/>
        </p:nvSpPr>
        <p:spPr>
          <a:xfrm>
            <a:off x="411480" y="658368"/>
            <a:ext cx="8321040" cy="0"/>
          </a:xfrm>
          <a:prstGeom prst="line">
            <a:avLst/>
          </a:prstGeom>
          <a:noFill/>
          <a:ln w="9525">
            <a:solidFill>
              <a:srgbClr val="30363D"/>
            </a:solidFill>
            <a:prstDash val="solid"/>
          </a:ln>
        </p:spPr>
      </p:sp>
      <p:sp>
        <p:nvSpPr>
          <p:cNvPr id="5" name="Shape 3"/>
          <p:cNvSpPr/>
          <p:nvPr/>
        </p:nvSpPr>
        <p:spPr>
          <a:xfrm>
            <a:off x="1965960" y="868680"/>
            <a:ext cx="2148840" cy="347472"/>
          </a:xfrm>
          <a:prstGeom prst="rect">
            <a:avLst/>
          </a:prstGeom>
          <a:solidFill>
            <a:srgbClr val="2A1213"/>
          </a:solidFill>
          <a:ln w="12700">
            <a:solidFill>
              <a:srgbClr val="F85149"/>
            </a:solidFill>
            <a:prstDash val="solid"/>
          </a:ln>
        </p:spPr>
      </p:sp>
      <p:sp>
        <p:nvSpPr>
          <p:cNvPr id="6" name="Text 4"/>
          <p:cNvSpPr/>
          <p:nvPr/>
        </p:nvSpPr>
        <p:spPr>
          <a:xfrm>
            <a:off x="1965960" y="868680"/>
            <a:ext cx="2148840" cy="347472"/>
          </a:xfrm>
          <a:prstGeom prst="rect">
            <a:avLst/>
          </a:prstGeom>
          <a:noFill/>
          <a:ln/>
        </p:spPr>
        <p:txBody>
          <a:bodyPr wrap="square" lIns="0" tIns="0" rIns="0" bIns="0" rtlCol="0" anchor="ctr"/>
          <a:lstStyle/>
          <a:p>
            <a:pPr algn="ctr" indent="0" marL="0">
              <a:buNone/>
            </a:pPr>
            <a:r>
              <a:rPr lang="en-US" sz="1200" b="1" dirty="0">
                <a:solidFill>
                  <a:srgbClr val="FF7B72"/>
                </a:solidFill>
                <a:latin typeface="Calibri" pitchFamily="34" charset="0"/>
                <a:ea typeface="Calibri" pitchFamily="34" charset="-122"/>
                <a:cs typeface="Calibri" pitchFamily="34" charset="-120"/>
              </a:rPr>
              <a:t>公式 MCP</a:t>
            </a:r>
            <a:endParaRPr lang="en-US" sz="1200" dirty="0"/>
          </a:p>
        </p:txBody>
      </p:sp>
      <p:sp>
        <p:nvSpPr>
          <p:cNvPr id="7" name="Shape 5"/>
          <p:cNvSpPr/>
          <p:nvPr/>
        </p:nvSpPr>
        <p:spPr>
          <a:xfrm>
            <a:off x="4937760" y="868680"/>
            <a:ext cx="3794760" cy="347472"/>
          </a:xfrm>
          <a:prstGeom prst="rect">
            <a:avLst/>
          </a:prstGeom>
          <a:solidFill>
            <a:srgbClr val="0F2A18"/>
          </a:solidFill>
          <a:ln w="12700">
            <a:solidFill>
              <a:srgbClr val="3FB950"/>
            </a:solidFill>
            <a:prstDash val="solid"/>
          </a:ln>
        </p:spPr>
      </p:sp>
      <p:sp>
        <p:nvSpPr>
          <p:cNvPr id="8" name="Text 6"/>
          <p:cNvSpPr/>
          <p:nvPr/>
        </p:nvSpPr>
        <p:spPr>
          <a:xfrm>
            <a:off x="4937760" y="868680"/>
            <a:ext cx="3794760" cy="347472"/>
          </a:xfrm>
          <a:prstGeom prst="rect">
            <a:avLst/>
          </a:prstGeom>
          <a:noFill/>
          <a:ln/>
        </p:spPr>
        <p:txBody>
          <a:bodyPr wrap="square" lIns="0" tIns="0" rIns="0" bIns="0" rtlCol="0" anchor="ctr"/>
          <a:lstStyle/>
          <a:p>
            <a:pPr algn="ctr" indent="0" marL="0">
              <a:buNone/>
            </a:pPr>
            <a:r>
              <a:rPr lang="en-US" sz="1200" b="1" dirty="0">
                <a:solidFill>
                  <a:srgbClr val="56D364"/>
                </a:solidFill>
                <a:latin typeface="Calibri" pitchFamily="34" charset="0"/>
                <a:ea typeface="Calibri" pitchFamily="34" charset="-122"/>
                <a:cs typeface="Calibri" pitchFamily="34" charset="-120"/>
              </a:rPr>
              <a:t>この構成</a:t>
            </a:r>
            <a:endParaRPr lang="en-US" sz="1200" dirty="0"/>
          </a:p>
        </p:txBody>
      </p:sp>
      <p:sp>
        <p:nvSpPr>
          <p:cNvPr id="9" name="Text 7"/>
          <p:cNvSpPr/>
          <p:nvPr/>
        </p:nvSpPr>
        <p:spPr>
          <a:xfrm>
            <a:off x="475488" y="1325880"/>
            <a:ext cx="1417320" cy="502920"/>
          </a:xfrm>
          <a:prstGeom prst="rect">
            <a:avLst/>
          </a:prstGeom>
          <a:noFill/>
          <a:ln/>
        </p:spPr>
        <p:txBody>
          <a:bodyPr wrap="square" lIns="0" tIns="0" rIns="0" bIns="0" rtlCol="0" anchor="ctr"/>
          <a:lstStyle/>
          <a:p>
            <a:pPr indent="0" marL="0">
              <a:buNone/>
            </a:pPr>
            <a:r>
              <a:rPr lang="en-US" sz="950" b="1" dirty="0">
                <a:solidFill>
                  <a:srgbClr val="F0F6FC"/>
                </a:solidFill>
                <a:latin typeface="Calibri" pitchFamily="34" charset="0"/>
                <a:ea typeface="Calibri" pitchFamily="34" charset="-122"/>
                <a:cs typeface="Calibri" pitchFamily="34" charset="-120"/>
              </a:rPr>
              <a:t>画像の出力先</a:t>
            </a:r>
            <a:endParaRPr lang="en-US" sz="950" dirty="0"/>
          </a:p>
        </p:txBody>
      </p:sp>
      <p:sp>
        <p:nvSpPr>
          <p:cNvPr id="10" name="Shape 8"/>
          <p:cNvSpPr/>
          <p:nvPr/>
        </p:nvSpPr>
        <p:spPr>
          <a:xfrm>
            <a:off x="1965960" y="1362456"/>
            <a:ext cx="2148840" cy="438912"/>
          </a:xfrm>
          <a:prstGeom prst="rect">
            <a:avLst/>
          </a:prstGeom>
          <a:solidFill>
            <a:srgbClr val="2A1213"/>
          </a:solidFill>
          <a:ln w="9525">
            <a:solidFill>
              <a:srgbClr val="F85149"/>
            </a:solidFill>
            <a:prstDash val="solid"/>
          </a:ln>
        </p:spPr>
      </p:sp>
      <p:sp>
        <p:nvSpPr>
          <p:cNvPr id="11" name="Text 9"/>
          <p:cNvSpPr/>
          <p:nvPr/>
        </p:nvSpPr>
        <p:spPr>
          <a:xfrm>
            <a:off x="2048256" y="1362456"/>
            <a:ext cx="1993392" cy="438912"/>
          </a:xfrm>
          <a:prstGeom prst="rect">
            <a:avLst/>
          </a:prstGeom>
          <a:noFill/>
          <a:ln/>
        </p:spPr>
        <p:txBody>
          <a:bodyPr wrap="square" lIns="0" tIns="0" rIns="0" bIns="0" rtlCol="0" anchor="ctr"/>
          <a:lstStyle/>
          <a:p>
            <a:pPr indent="0" marL="0">
              <a:buNone/>
            </a:pPr>
            <a:r>
              <a:rPr lang="en-US" sz="900" dirty="0">
                <a:solidFill>
                  <a:srgbClr val="FF7B72"/>
                </a:solidFill>
                <a:latin typeface="Calibri" pitchFamily="34" charset="0"/>
                <a:ea typeface="Calibri" pitchFamily="34" charset="-122"/>
                <a:cs typeface="Calibri" pitchFamily="34" charset="-120"/>
              </a:rPr>
              <a:t>公開 S3（30日保持）</a:t>
            </a:r>
            <a:endParaRPr lang="en-US" sz="900" dirty="0"/>
          </a:p>
        </p:txBody>
      </p:sp>
      <p:sp>
        <p:nvSpPr>
          <p:cNvPr id="12" name="Text 10"/>
          <p:cNvSpPr/>
          <p:nvPr/>
        </p:nvSpPr>
        <p:spPr>
          <a:xfrm>
            <a:off x="4160520" y="1325880"/>
            <a:ext cx="731520" cy="502920"/>
          </a:xfrm>
          <a:prstGeom prst="rect">
            <a:avLst/>
          </a:prstGeom>
          <a:noFill/>
          <a:ln/>
        </p:spPr>
        <p:txBody>
          <a:bodyPr wrap="square" lIns="0" tIns="0" rIns="0" bIns="0" rtlCol="0" anchor="ctr"/>
          <a:lstStyle/>
          <a:p>
            <a:pPr algn="ctr" indent="0" marL="0">
              <a:buNone/>
            </a:pPr>
            <a:r>
              <a:rPr lang="en-US" sz="1400" dirty="0">
                <a:solidFill>
                  <a:srgbClr val="8B949E"/>
                </a:solidFill>
                <a:latin typeface="Calibri" pitchFamily="34" charset="0"/>
                <a:ea typeface="Calibri" pitchFamily="34" charset="-122"/>
                <a:cs typeface="Calibri" pitchFamily="34" charset="-120"/>
              </a:rPr>
              <a:t>→</a:t>
            </a:r>
            <a:endParaRPr lang="en-US" sz="1400" dirty="0"/>
          </a:p>
        </p:txBody>
      </p:sp>
      <p:sp>
        <p:nvSpPr>
          <p:cNvPr id="13" name="Shape 11"/>
          <p:cNvSpPr/>
          <p:nvPr/>
        </p:nvSpPr>
        <p:spPr>
          <a:xfrm>
            <a:off x="4937760" y="1362456"/>
            <a:ext cx="3794760" cy="438912"/>
          </a:xfrm>
          <a:prstGeom prst="rect">
            <a:avLst/>
          </a:prstGeom>
          <a:solidFill>
            <a:srgbClr val="0F2A18"/>
          </a:solidFill>
          <a:ln w="9525">
            <a:solidFill>
              <a:srgbClr val="3FB950"/>
            </a:solidFill>
            <a:prstDash val="solid"/>
          </a:ln>
        </p:spPr>
      </p:sp>
      <p:sp>
        <p:nvSpPr>
          <p:cNvPr id="14" name="Text 12"/>
          <p:cNvSpPr/>
          <p:nvPr/>
        </p:nvSpPr>
        <p:spPr>
          <a:xfrm>
            <a:off x="5029200" y="1362456"/>
            <a:ext cx="3639312" cy="438912"/>
          </a:xfrm>
          <a:prstGeom prst="rect">
            <a:avLst/>
          </a:prstGeom>
          <a:noFill/>
          <a:ln/>
        </p:spPr>
        <p:txBody>
          <a:bodyPr wrap="square" lIns="0" tIns="0" rIns="0" bIns="0" rtlCol="0" anchor="ctr"/>
          <a:lstStyle/>
          <a:p>
            <a:pPr indent="0" marL="0">
              <a:buNone/>
            </a:pPr>
            <a:r>
              <a:rPr lang="en-US" sz="900" b="1" dirty="0">
                <a:solidFill>
                  <a:srgbClr val="56D364"/>
                </a:solidFill>
                <a:latin typeface="Calibri" pitchFamily="34" charset="0"/>
                <a:ea typeface="Calibri" pitchFamily="34" charset="-122"/>
                <a:cs typeface="Calibri" pitchFamily="34" charset="-120"/>
              </a:rPr>
              <a:t>VM プロセス内のメモリのみ</a:t>
            </a:r>
            <a:endParaRPr lang="en-US" sz="900" dirty="0"/>
          </a:p>
        </p:txBody>
      </p:sp>
      <p:sp>
        <p:nvSpPr>
          <p:cNvPr id="15" name="Shape 13"/>
          <p:cNvSpPr/>
          <p:nvPr/>
        </p:nvSpPr>
        <p:spPr>
          <a:xfrm>
            <a:off x="411480" y="1924812"/>
            <a:ext cx="8321040" cy="576072"/>
          </a:xfrm>
          <a:prstGeom prst="rect">
            <a:avLst/>
          </a:prstGeom>
          <a:solidFill>
            <a:srgbClr val="161B22"/>
          </a:solidFill>
          <a:ln w="12700">
            <a:solidFill>
              <a:srgbClr val="161B22"/>
            </a:solidFill>
            <a:prstDash val="solid"/>
          </a:ln>
        </p:spPr>
      </p:sp>
      <p:sp>
        <p:nvSpPr>
          <p:cNvPr id="16" name="Text 14"/>
          <p:cNvSpPr/>
          <p:nvPr/>
        </p:nvSpPr>
        <p:spPr>
          <a:xfrm>
            <a:off x="475488" y="1952244"/>
            <a:ext cx="1417320" cy="502920"/>
          </a:xfrm>
          <a:prstGeom prst="rect">
            <a:avLst/>
          </a:prstGeom>
          <a:noFill/>
          <a:ln/>
        </p:spPr>
        <p:txBody>
          <a:bodyPr wrap="square" lIns="0" tIns="0" rIns="0" bIns="0" rtlCol="0" anchor="ctr"/>
          <a:lstStyle/>
          <a:p>
            <a:pPr indent="0" marL="0">
              <a:buNone/>
            </a:pPr>
            <a:r>
              <a:rPr lang="en-US" sz="950" b="1" dirty="0">
                <a:solidFill>
                  <a:srgbClr val="F0F6FC"/>
                </a:solidFill>
                <a:latin typeface="Calibri" pitchFamily="34" charset="0"/>
                <a:ea typeface="Calibri" pitchFamily="34" charset="-122"/>
                <a:cs typeface="Calibri" pitchFamily="34" charset="-120"/>
              </a:rPr>
              <a:t>画像の流れ</a:t>
            </a:r>
            <a:endParaRPr lang="en-US" sz="950" dirty="0"/>
          </a:p>
        </p:txBody>
      </p:sp>
      <p:sp>
        <p:nvSpPr>
          <p:cNvPr id="17" name="Shape 15"/>
          <p:cNvSpPr/>
          <p:nvPr/>
        </p:nvSpPr>
        <p:spPr>
          <a:xfrm>
            <a:off x="1965960" y="1988820"/>
            <a:ext cx="2148840" cy="438912"/>
          </a:xfrm>
          <a:prstGeom prst="rect">
            <a:avLst/>
          </a:prstGeom>
          <a:solidFill>
            <a:srgbClr val="2A1213"/>
          </a:solidFill>
          <a:ln w="9525">
            <a:solidFill>
              <a:srgbClr val="F85149"/>
            </a:solidFill>
            <a:prstDash val="solid"/>
          </a:ln>
        </p:spPr>
      </p:sp>
      <p:sp>
        <p:nvSpPr>
          <p:cNvPr id="18" name="Text 16"/>
          <p:cNvSpPr/>
          <p:nvPr/>
        </p:nvSpPr>
        <p:spPr>
          <a:xfrm>
            <a:off x="2048256" y="1988820"/>
            <a:ext cx="1993392" cy="438912"/>
          </a:xfrm>
          <a:prstGeom prst="rect">
            <a:avLst/>
          </a:prstGeom>
          <a:noFill/>
          <a:ln/>
        </p:spPr>
        <p:txBody>
          <a:bodyPr wrap="square" lIns="0" tIns="0" rIns="0" bIns="0" rtlCol="0" anchor="ctr"/>
          <a:lstStyle/>
          <a:p>
            <a:pPr indent="0" marL="0">
              <a:buNone/>
            </a:pPr>
            <a:r>
              <a:rPr lang="en-US" sz="900" dirty="0">
                <a:solidFill>
                  <a:srgbClr val="FF7B72"/>
                </a:solidFill>
                <a:latin typeface="Calibri" pitchFamily="34" charset="0"/>
                <a:ea typeface="Calibri" pitchFamily="34" charset="-122"/>
                <a:cs typeface="Calibri" pitchFamily="34" charset="-120"/>
              </a:rPr>
              <a:t>エクスポート API → 公開 URL</a:t>
            </a:r>
            <a:endParaRPr lang="en-US" sz="900" dirty="0"/>
          </a:p>
        </p:txBody>
      </p:sp>
      <p:sp>
        <p:nvSpPr>
          <p:cNvPr id="19" name="Text 17"/>
          <p:cNvSpPr/>
          <p:nvPr/>
        </p:nvSpPr>
        <p:spPr>
          <a:xfrm>
            <a:off x="4160520" y="1952244"/>
            <a:ext cx="731520" cy="502920"/>
          </a:xfrm>
          <a:prstGeom prst="rect">
            <a:avLst/>
          </a:prstGeom>
          <a:noFill/>
          <a:ln/>
        </p:spPr>
        <p:txBody>
          <a:bodyPr wrap="square" lIns="0" tIns="0" rIns="0" bIns="0" rtlCol="0" anchor="ctr"/>
          <a:lstStyle/>
          <a:p>
            <a:pPr algn="ctr" indent="0" marL="0">
              <a:buNone/>
            </a:pPr>
            <a:r>
              <a:rPr lang="en-US" sz="1400" dirty="0">
                <a:solidFill>
                  <a:srgbClr val="8B949E"/>
                </a:solidFill>
                <a:latin typeface="Calibri" pitchFamily="34" charset="0"/>
                <a:ea typeface="Calibri" pitchFamily="34" charset="-122"/>
                <a:cs typeface="Calibri" pitchFamily="34" charset="-120"/>
              </a:rPr>
              <a:t>→</a:t>
            </a:r>
            <a:endParaRPr lang="en-US" sz="1400" dirty="0"/>
          </a:p>
        </p:txBody>
      </p:sp>
      <p:sp>
        <p:nvSpPr>
          <p:cNvPr id="20" name="Shape 18"/>
          <p:cNvSpPr/>
          <p:nvPr/>
        </p:nvSpPr>
        <p:spPr>
          <a:xfrm>
            <a:off x="4937760" y="1988820"/>
            <a:ext cx="3794760" cy="438912"/>
          </a:xfrm>
          <a:prstGeom prst="rect">
            <a:avLst/>
          </a:prstGeom>
          <a:solidFill>
            <a:srgbClr val="0F2A18"/>
          </a:solidFill>
          <a:ln w="9525">
            <a:solidFill>
              <a:srgbClr val="3FB950"/>
            </a:solidFill>
            <a:prstDash val="solid"/>
          </a:ln>
        </p:spPr>
      </p:sp>
      <p:sp>
        <p:nvSpPr>
          <p:cNvPr id="21" name="Text 19"/>
          <p:cNvSpPr/>
          <p:nvPr/>
        </p:nvSpPr>
        <p:spPr>
          <a:xfrm>
            <a:off x="5029200" y="1988820"/>
            <a:ext cx="3639312" cy="438912"/>
          </a:xfrm>
          <a:prstGeom prst="rect">
            <a:avLst/>
          </a:prstGeom>
          <a:noFill/>
          <a:ln/>
        </p:spPr>
        <p:txBody>
          <a:bodyPr wrap="square" lIns="0" tIns="0" rIns="0" bIns="0" rtlCol="0" anchor="ctr"/>
          <a:lstStyle/>
          <a:p>
            <a:pPr indent="0" marL="0">
              <a:buNone/>
            </a:pPr>
            <a:r>
              <a:rPr lang="en-US" sz="900" b="1" dirty="0">
                <a:solidFill>
                  <a:srgbClr val="56D364"/>
                </a:solidFill>
                <a:latin typeface="Calibri" pitchFamily="34" charset="0"/>
                <a:ea typeface="Calibri" pitchFamily="34" charset="-122"/>
                <a:cs typeface="Calibri" pitchFamily="34" charset="-120"/>
              </a:rPr>
              <a:t>Playwright → MCP → AI に直接</a:t>
            </a:r>
            <a:endParaRPr lang="en-US" sz="900" dirty="0"/>
          </a:p>
        </p:txBody>
      </p:sp>
      <p:sp>
        <p:nvSpPr>
          <p:cNvPr id="22" name="Text 20"/>
          <p:cNvSpPr/>
          <p:nvPr/>
        </p:nvSpPr>
        <p:spPr>
          <a:xfrm>
            <a:off x="475488" y="2578608"/>
            <a:ext cx="1417320" cy="502920"/>
          </a:xfrm>
          <a:prstGeom prst="rect">
            <a:avLst/>
          </a:prstGeom>
          <a:noFill/>
          <a:ln/>
        </p:spPr>
        <p:txBody>
          <a:bodyPr wrap="square" lIns="0" tIns="0" rIns="0" bIns="0" rtlCol="0" anchor="ctr"/>
          <a:lstStyle/>
          <a:p>
            <a:pPr indent="0" marL="0">
              <a:buNone/>
            </a:pPr>
            <a:r>
              <a:rPr lang="en-US" sz="950" b="1" dirty="0">
                <a:solidFill>
                  <a:srgbClr val="F0F6FC"/>
                </a:solidFill>
                <a:latin typeface="Calibri" pitchFamily="34" charset="0"/>
                <a:ea typeface="Calibri" pitchFamily="34" charset="-122"/>
                <a:cs typeface="Calibri" pitchFamily="34" charset="-120"/>
              </a:rPr>
              <a:t>公開 URL</a:t>
            </a:r>
            <a:endParaRPr lang="en-US" sz="950" dirty="0"/>
          </a:p>
        </p:txBody>
      </p:sp>
      <p:sp>
        <p:nvSpPr>
          <p:cNvPr id="23" name="Shape 21"/>
          <p:cNvSpPr/>
          <p:nvPr/>
        </p:nvSpPr>
        <p:spPr>
          <a:xfrm>
            <a:off x="1965960" y="2615184"/>
            <a:ext cx="2148840" cy="438912"/>
          </a:xfrm>
          <a:prstGeom prst="rect">
            <a:avLst/>
          </a:prstGeom>
          <a:solidFill>
            <a:srgbClr val="2A1213"/>
          </a:solidFill>
          <a:ln w="9525">
            <a:solidFill>
              <a:srgbClr val="F85149"/>
            </a:solidFill>
            <a:prstDash val="solid"/>
          </a:ln>
        </p:spPr>
      </p:sp>
      <p:sp>
        <p:nvSpPr>
          <p:cNvPr id="24" name="Text 22"/>
          <p:cNvSpPr/>
          <p:nvPr/>
        </p:nvSpPr>
        <p:spPr>
          <a:xfrm>
            <a:off x="2048256" y="2615184"/>
            <a:ext cx="1993392" cy="438912"/>
          </a:xfrm>
          <a:prstGeom prst="rect">
            <a:avLst/>
          </a:prstGeom>
          <a:noFill/>
          <a:ln/>
        </p:spPr>
        <p:txBody>
          <a:bodyPr wrap="square" lIns="0" tIns="0" rIns="0" bIns="0" rtlCol="0" anchor="ctr"/>
          <a:lstStyle/>
          <a:p>
            <a:pPr indent="0" marL="0">
              <a:buNone/>
            </a:pPr>
            <a:r>
              <a:rPr lang="en-US" sz="900" dirty="0">
                <a:solidFill>
                  <a:srgbClr val="FF7B72"/>
                </a:solidFill>
                <a:latin typeface="Calibri" pitchFamily="34" charset="0"/>
                <a:ea typeface="Calibri" pitchFamily="34" charset="-122"/>
                <a:cs typeface="Calibri" pitchFamily="34" charset="-120"/>
              </a:rPr>
              <a:t>生成される</a:t>
            </a:r>
            <a:endParaRPr lang="en-US" sz="900" dirty="0"/>
          </a:p>
        </p:txBody>
      </p:sp>
      <p:sp>
        <p:nvSpPr>
          <p:cNvPr id="25" name="Text 23"/>
          <p:cNvSpPr/>
          <p:nvPr/>
        </p:nvSpPr>
        <p:spPr>
          <a:xfrm>
            <a:off x="4160520" y="2578608"/>
            <a:ext cx="731520" cy="502920"/>
          </a:xfrm>
          <a:prstGeom prst="rect">
            <a:avLst/>
          </a:prstGeom>
          <a:noFill/>
          <a:ln/>
        </p:spPr>
        <p:txBody>
          <a:bodyPr wrap="square" lIns="0" tIns="0" rIns="0" bIns="0" rtlCol="0" anchor="ctr"/>
          <a:lstStyle/>
          <a:p>
            <a:pPr algn="ctr" indent="0" marL="0">
              <a:buNone/>
            </a:pPr>
            <a:r>
              <a:rPr lang="en-US" sz="1400" dirty="0">
                <a:solidFill>
                  <a:srgbClr val="8B949E"/>
                </a:solidFill>
                <a:latin typeface="Calibri" pitchFamily="34" charset="0"/>
                <a:ea typeface="Calibri" pitchFamily="34" charset="-122"/>
                <a:cs typeface="Calibri" pitchFamily="34" charset="-120"/>
              </a:rPr>
              <a:t>→</a:t>
            </a:r>
            <a:endParaRPr lang="en-US" sz="1400" dirty="0"/>
          </a:p>
        </p:txBody>
      </p:sp>
      <p:sp>
        <p:nvSpPr>
          <p:cNvPr id="26" name="Shape 24"/>
          <p:cNvSpPr/>
          <p:nvPr/>
        </p:nvSpPr>
        <p:spPr>
          <a:xfrm>
            <a:off x="4937760" y="2615184"/>
            <a:ext cx="3794760" cy="438912"/>
          </a:xfrm>
          <a:prstGeom prst="rect">
            <a:avLst/>
          </a:prstGeom>
          <a:solidFill>
            <a:srgbClr val="0F2A18"/>
          </a:solidFill>
          <a:ln w="9525">
            <a:solidFill>
              <a:srgbClr val="3FB950"/>
            </a:solidFill>
            <a:prstDash val="solid"/>
          </a:ln>
        </p:spPr>
      </p:sp>
      <p:sp>
        <p:nvSpPr>
          <p:cNvPr id="27" name="Text 25"/>
          <p:cNvSpPr/>
          <p:nvPr/>
        </p:nvSpPr>
        <p:spPr>
          <a:xfrm>
            <a:off x="5029200" y="2615184"/>
            <a:ext cx="3639312" cy="438912"/>
          </a:xfrm>
          <a:prstGeom prst="rect">
            <a:avLst/>
          </a:prstGeom>
          <a:noFill/>
          <a:ln/>
        </p:spPr>
        <p:txBody>
          <a:bodyPr wrap="square" lIns="0" tIns="0" rIns="0" bIns="0" rtlCol="0" anchor="ctr"/>
          <a:lstStyle/>
          <a:p>
            <a:pPr indent="0" marL="0">
              <a:buNone/>
            </a:pPr>
            <a:r>
              <a:rPr lang="en-US" sz="900" b="1" dirty="0">
                <a:solidFill>
                  <a:srgbClr val="56D364"/>
                </a:solidFill>
                <a:latin typeface="Calibri" pitchFamily="34" charset="0"/>
                <a:ea typeface="Calibri" pitchFamily="34" charset="-122"/>
                <a:cs typeface="Calibri" pitchFamily="34" charset="-120"/>
              </a:rPr>
              <a:t>一切生成しない</a:t>
            </a:r>
            <a:endParaRPr lang="en-US" sz="900" dirty="0"/>
          </a:p>
        </p:txBody>
      </p:sp>
      <p:sp>
        <p:nvSpPr>
          <p:cNvPr id="28" name="Shape 26"/>
          <p:cNvSpPr/>
          <p:nvPr/>
        </p:nvSpPr>
        <p:spPr>
          <a:xfrm>
            <a:off x="411480" y="3177540"/>
            <a:ext cx="8321040" cy="576072"/>
          </a:xfrm>
          <a:prstGeom prst="rect">
            <a:avLst/>
          </a:prstGeom>
          <a:solidFill>
            <a:srgbClr val="161B22"/>
          </a:solidFill>
          <a:ln w="12700">
            <a:solidFill>
              <a:srgbClr val="161B22"/>
            </a:solidFill>
            <a:prstDash val="solid"/>
          </a:ln>
        </p:spPr>
      </p:sp>
      <p:sp>
        <p:nvSpPr>
          <p:cNvPr id="29" name="Text 27"/>
          <p:cNvSpPr/>
          <p:nvPr/>
        </p:nvSpPr>
        <p:spPr>
          <a:xfrm>
            <a:off x="475488" y="3204972"/>
            <a:ext cx="1417320" cy="502920"/>
          </a:xfrm>
          <a:prstGeom prst="rect">
            <a:avLst/>
          </a:prstGeom>
          <a:noFill/>
          <a:ln/>
        </p:spPr>
        <p:txBody>
          <a:bodyPr wrap="square" lIns="0" tIns="0" rIns="0" bIns="0" rtlCol="0" anchor="ctr"/>
          <a:lstStyle/>
          <a:p>
            <a:pPr indent="0" marL="0">
              <a:buNone/>
            </a:pPr>
            <a:r>
              <a:rPr lang="en-US" sz="950" b="1" dirty="0">
                <a:solidFill>
                  <a:srgbClr val="F0F6FC"/>
                </a:solidFill>
                <a:latin typeface="Calibri" pitchFamily="34" charset="0"/>
                <a:ea typeface="Calibri" pitchFamily="34" charset="-122"/>
                <a:cs typeface="Calibri" pitchFamily="34" charset="-120"/>
              </a:rPr>
              <a:t>キャッシュ</a:t>
            </a:r>
            <a:endParaRPr lang="en-US" sz="950" dirty="0"/>
          </a:p>
        </p:txBody>
      </p:sp>
      <p:sp>
        <p:nvSpPr>
          <p:cNvPr id="30" name="Shape 28"/>
          <p:cNvSpPr/>
          <p:nvPr/>
        </p:nvSpPr>
        <p:spPr>
          <a:xfrm>
            <a:off x="1965960" y="3241548"/>
            <a:ext cx="2148840" cy="438912"/>
          </a:xfrm>
          <a:prstGeom prst="rect">
            <a:avLst/>
          </a:prstGeom>
          <a:solidFill>
            <a:srgbClr val="2A1213"/>
          </a:solidFill>
          <a:ln w="9525">
            <a:solidFill>
              <a:srgbClr val="F85149"/>
            </a:solidFill>
            <a:prstDash val="solid"/>
          </a:ln>
        </p:spPr>
      </p:sp>
      <p:sp>
        <p:nvSpPr>
          <p:cNvPr id="31" name="Text 29"/>
          <p:cNvSpPr/>
          <p:nvPr/>
        </p:nvSpPr>
        <p:spPr>
          <a:xfrm>
            <a:off x="2048256" y="3241548"/>
            <a:ext cx="1993392" cy="438912"/>
          </a:xfrm>
          <a:prstGeom prst="rect">
            <a:avLst/>
          </a:prstGeom>
          <a:noFill/>
          <a:ln/>
        </p:spPr>
        <p:txBody>
          <a:bodyPr wrap="square" lIns="0" tIns="0" rIns="0" bIns="0" rtlCol="0" anchor="ctr"/>
          <a:lstStyle/>
          <a:p>
            <a:pPr indent="0" marL="0">
              <a:buNone/>
            </a:pPr>
            <a:r>
              <a:rPr lang="en-US" sz="900" dirty="0">
                <a:solidFill>
                  <a:srgbClr val="FF7B72"/>
                </a:solidFill>
                <a:latin typeface="Calibri" pitchFamily="34" charset="0"/>
                <a:ea typeface="Calibri" pitchFamily="34" charset="-122"/>
                <a:cs typeface="Calibri" pitchFamily="34" charset="-120"/>
              </a:rPr>
              <a:t>制御不能</a:t>
            </a:r>
            <a:endParaRPr lang="en-US" sz="900" dirty="0"/>
          </a:p>
        </p:txBody>
      </p:sp>
      <p:sp>
        <p:nvSpPr>
          <p:cNvPr id="32" name="Text 30"/>
          <p:cNvSpPr/>
          <p:nvPr/>
        </p:nvSpPr>
        <p:spPr>
          <a:xfrm>
            <a:off x="4160520" y="3204972"/>
            <a:ext cx="731520" cy="502920"/>
          </a:xfrm>
          <a:prstGeom prst="rect">
            <a:avLst/>
          </a:prstGeom>
          <a:noFill/>
          <a:ln/>
        </p:spPr>
        <p:txBody>
          <a:bodyPr wrap="square" lIns="0" tIns="0" rIns="0" bIns="0" rtlCol="0" anchor="ctr"/>
          <a:lstStyle/>
          <a:p>
            <a:pPr algn="ctr" indent="0" marL="0">
              <a:buNone/>
            </a:pPr>
            <a:r>
              <a:rPr lang="en-US" sz="1400" dirty="0">
                <a:solidFill>
                  <a:srgbClr val="8B949E"/>
                </a:solidFill>
                <a:latin typeface="Calibri" pitchFamily="34" charset="0"/>
                <a:ea typeface="Calibri" pitchFamily="34" charset="-122"/>
                <a:cs typeface="Calibri" pitchFamily="34" charset="-120"/>
              </a:rPr>
              <a:t>→</a:t>
            </a:r>
            <a:endParaRPr lang="en-US" sz="1400" dirty="0"/>
          </a:p>
        </p:txBody>
      </p:sp>
      <p:sp>
        <p:nvSpPr>
          <p:cNvPr id="33" name="Shape 31"/>
          <p:cNvSpPr/>
          <p:nvPr/>
        </p:nvSpPr>
        <p:spPr>
          <a:xfrm>
            <a:off x="4937760" y="3241548"/>
            <a:ext cx="3794760" cy="438912"/>
          </a:xfrm>
          <a:prstGeom prst="rect">
            <a:avLst/>
          </a:prstGeom>
          <a:solidFill>
            <a:srgbClr val="0F2A18"/>
          </a:solidFill>
          <a:ln w="9525">
            <a:solidFill>
              <a:srgbClr val="3FB950"/>
            </a:solidFill>
            <a:prstDash val="solid"/>
          </a:ln>
        </p:spPr>
      </p:sp>
      <p:sp>
        <p:nvSpPr>
          <p:cNvPr id="34" name="Text 32"/>
          <p:cNvSpPr/>
          <p:nvPr/>
        </p:nvSpPr>
        <p:spPr>
          <a:xfrm>
            <a:off x="5029200" y="3241548"/>
            <a:ext cx="3639312" cy="438912"/>
          </a:xfrm>
          <a:prstGeom prst="rect">
            <a:avLst/>
          </a:prstGeom>
          <a:noFill/>
          <a:ln/>
        </p:spPr>
        <p:txBody>
          <a:bodyPr wrap="square" lIns="0" tIns="0" rIns="0" bIns="0" rtlCol="0" anchor="ctr"/>
          <a:lstStyle/>
          <a:p>
            <a:pPr indent="0" marL="0">
              <a:buNone/>
            </a:pPr>
            <a:r>
              <a:rPr lang="en-US" sz="900" b="1" dirty="0">
                <a:solidFill>
                  <a:srgbClr val="56D364"/>
                </a:solidFill>
                <a:latin typeface="Calibri" pitchFamily="34" charset="0"/>
                <a:ea typeface="Calibri" pitchFamily="34" charset="-122"/>
                <a:cs typeface="Calibri" pitchFamily="34" charset="-120"/>
              </a:rPr>
              <a:t>会社管理のプライベートストレージ</a:t>
            </a:r>
            <a:endParaRPr lang="en-US" sz="900" dirty="0"/>
          </a:p>
        </p:txBody>
      </p:sp>
      <p:sp>
        <p:nvSpPr>
          <p:cNvPr id="35" name="Text 33"/>
          <p:cNvSpPr/>
          <p:nvPr/>
        </p:nvSpPr>
        <p:spPr>
          <a:xfrm>
            <a:off x="475488" y="3831336"/>
            <a:ext cx="1417320" cy="502920"/>
          </a:xfrm>
          <a:prstGeom prst="rect">
            <a:avLst/>
          </a:prstGeom>
          <a:noFill/>
          <a:ln/>
        </p:spPr>
        <p:txBody>
          <a:bodyPr wrap="square" lIns="0" tIns="0" rIns="0" bIns="0" rtlCol="0" anchor="ctr"/>
          <a:lstStyle/>
          <a:p>
            <a:pPr indent="0" marL="0">
              <a:buNone/>
            </a:pPr>
            <a:r>
              <a:rPr lang="en-US" sz="950" b="1" dirty="0">
                <a:solidFill>
                  <a:srgbClr val="F0F6FC"/>
                </a:solidFill>
                <a:latin typeface="Calibri" pitchFamily="34" charset="0"/>
                <a:ea typeface="Calibri" pitchFamily="34" charset="-122"/>
                <a:cs typeface="Calibri" pitchFamily="34" charset="-120"/>
              </a:rPr>
              <a:t>アクセス制御</a:t>
            </a:r>
            <a:endParaRPr lang="en-US" sz="950" dirty="0"/>
          </a:p>
        </p:txBody>
      </p:sp>
      <p:sp>
        <p:nvSpPr>
          <p:cNvPr id="36" name="Shape 34"/>
          <p:cNvSpPr/>
          <p:nvPr/>
        </p:nvSpPr>
        <p:spPr>
          <a:xfrm>
            <a:off x="1965960" y="3867912"/>
            <a:ext cx="2148840" cy="438912"/>
          </a:xfrm>
          <a:prstGeom prst="rect">
            <a:avLst/>
          </a:prstGeom>
          <a:solidFill>
            <a:srgbClr val="2A1213"/>
          </a:solidFill>
          <a:ln w="9525">
            <a:solidFill>
              <a:srgbClr val="F85149"/>
            </a:solidFill>
            <a:prstDash val="solid"/>
          </a:ln>
        </p:spPr>
      </p:sp>
      <p:sp>
        <p:nvSpPr>
          <p:cNvPr id="37" name="Text 35"/>
          <p:cNvSpPr/>
          <p:nvPr/>
        </p:nvSpPr>
        <p:spPr>
          <a:xfrm>
            <a:off x="2048256" y="3867912"/>
            <a:ext cx="1993392" cy="438912"/>
          </a:xfrm>
          <a:prstGeom prst="rect">
            <a:avLst/>
          </a:prstGeom>
          <a:noFill/>
          <a:ln/>
        </p:spPr>
        <p:txBody>
          <a:bodyPr wrap="square" lIns="0" tIns="0" rIns="0" bIns="0" rtlCol="0" anchor="ctr"/>
          <a:lstStyle/>
          <a:p>
            <a:pPr indent="0" marL="0">
              <a:buNone/>
            </a:pPr>
            <a:r>
              <a:rPr lang="en-US" sz="900" dirty="0">
                <a:solidFill>
                  <a:srgbClr val="FF7B72"/>
                </a:solidFill>
                <a:latin typeface="Calibri" pitchFamily="34" charset="0"/>
                <a:ea typeface="Calibri" pitchFamily="34" charset="-122"/>
                <a:cs typeface="Calibri" pitchFamily="34" charset="-120"/>
              </a:rPr>
              <a:t>なし</a:t>
            </a:r>
            <a:endParaRPr lang="en-US" sz="900" dirty="0"/>
          </a:p>
        </p:txBody>
      </p:sp>
      <p:sp>
        <p:nvSpPr>
          <p:cNvPr id="38" name="Text 36"/>
          <p:cNvSpPr/>
          <p:nvPr/>
        </p:nvSpPr>
        <p:spPr>
          <a:xfrm>
            <a:off x="4160520" y="3831336"/>
            <a:ext cx="731520" cy="502920"/>
          </a:xfrm>
          <a:prstGeom prst="rect">
            <a:avLst/>
          </a:prstGeom>
          <a:noFill/>
          <a:ln/>
        </p:spPr>
        <p:txBody>
          <a:bodyPr wrap="square" lIns="0" tIns="0" rIns="0" bIns="0" rtlCol="0" anchor="ctr"/>
          <a:lstStyle/>
          <a:p>
            <a:pPr algn="ctr" indent="0" marL="0">
              <a:buNone/>
            </a:pPr>
            <a:r>
              <a:rPr lang="en-US" sz="1400" dirty="0">
                <a:solidFill>
                  <a:srgbClr val="8B949E"/>
                </a:solidFill>
                <a:latin typeface="Calibri" pitchFamily="34" charset="0"/>
                <a:ea typeface="Calibri" pitchFamily="34" charset="-122"/>
                <a:cs typeface="Calibri" pitchFamily="34" charset="-120"/>
              </a:rPr>
              <a:t>→</a:t>
            </a:r>
            <a:endParaRPr lang="en-US" sz="1400" dirty="0"/>
          </a:p>
        </p:txBody>
      </p:sp>
      <p:sp>
        <p:nvSpPr>
          <p:cNvPr id="39" name="Shape 37"/>
          <p:cNvSpPr/>
          <p:nvPr/>
        </p:nvSpPr>
        <p:spPr>
          <a:xfrm>
            <a:off x="4937760" y="3867912"/>
            <a:ext cx="3794760" cy="438912"/>
          </a:xfrm>
          <a:prstGeom prst="rect">
            <a:avLst/>
          </a:prstGeom>
          <a:solidFill>
            <a:srgbClr val="0F2A18"/>
          </a:solidFill>
          <a:ln w="9525">
            <a:solidFill>
              <a:srgbClr val="3FB950"/>
            </a:solidFill>
            <a:prstDash val="solid"/>
          </a:ln>
        </p:spPr>
      </p:sp>
      <p:sp>
        <p:nvSpPr>
          <p:cNvPr id="40" name="Text 38"/>
          <p:cNvSpPr/>
          <p:nvPr/>
        </p:nvSpPr>
        <p:spPr>
          <a:xfrm>
            <a:off x="5029200" y="3867912"/>
            <a:ext cx="3639312" cy="438912"/>
          </a:xfrm>
          <a:prstGeom prst="rect">
            <a:avLst/>
          </a:prstGeom>
          <a:noFill/>
          <a:ln/>
        </p:spPr>
        <p:txBody>
          <a:bodyPr wrap="square" lIns="0" tIns="0" rIns="0" bIns="0" rtlCol="0" anchor="ctr"/>
          <a:lstStyle/>
          <a:p>
            <a:pPr indent="0" marL="0">
              <a:buNone/>
            </a:pPr>
            <a:r>
              <a:rPr lang="en-US" sz="900" b="1" dirty="0">
                <a:solidFill>
                  <a:srgbClr val="56D364"/>
                </a:solidFill>
                <a:latin typeface="Calibri" pitchFamily="34" charset="0"/>
                <a:ea typeface="Calibri" pitchFamily="34" charset="-122"/>
                <a:cs typeface="Calibri" pitchFamily="34" charset="-120"/>
              </a:rPr>
              <a:t>ユーザ単位の分離（RLS）</a:t>
            </a:r>
            <a:endParaRPr lang="en-US" sz="900" dirty="0"/>
          </a:p>
        </p:txBody>
      </p:sp>
      <p:sp>
        <p:nvSpPr>
          <p:cNvPr id="41" name="Shape 39"/>
          <p:cNvSpPr/>
          <p:nvPr/>
        </p:nvSpPr>
        <p:spPr>
          <a:xfrm>
            <a:off x="411480" y="4572000"/>
            <a:ext cx="8321040" cy="402336"/>
          </a:xfrm>
          <a:prstGeom prst="rect">
            <a:avLst/>
          </a:prstGeom>
          <a:solidFill>
            <a:srgbClr val="553C9A"/>
          </a:solidFill>
          <a:ln w="12700">
            <a:solidFill>
              <a:srgbClr val="7C3AED"/>
            </a:solidFill>
            <a:prstDash val="solid"/>
          </a:ln>
        </p:spPr>
      </p:sp>
      <p:sp>
        <p:nvSpPr>
          <p:cNvPr id="42" name="Text 40"/>
          <p:cNvSpPr/>
          <p:nvPr/>
        </p:nvSpPr>
        <p:spPr>
          <a:xfrm>
            <a:off x="502920" y="4572000"/>
            <a:ext cx="8138160" cy="402336"/>
          </a:xfrm>
          <a:prstGeom prst="rect">
            <a:avLst/>
          </a:prstGeom>
          <a:noFill/>
          <a:ln/>
        </p:spPr>
        <p:txBody>
          <a:bodyPr wrap="square" lIns="0" tIns="0" rIns="0" bIns="0" rtlCol="0" anchor="ctr"/>
          <a:lstStyle/>
          <a:p>
            <a:pPr indent="0" marL="0">
              <a:buNone/>
            </a:pPr>
            <a:r>
              <a:rPr lang="en-US" sz="950" b="1" dirty="0">
                <a:solidFill>
                  <a:srgbClr val="F0F6FC"/>
                </a:solidFill>
                <a:latin typeface="Calibri" pitchFamily="34" charset="0"/>
                <a:ea typeface="Calibri" pitchFamily="34" charset="-122"/>
                <a:cs typeface="Calibri" pitchFamily="34" charset="-120"/>
              </a:rPr>
              <a:t>不変条件: スクショのバイト列は Playwright が撮った瞬間からメモリ上にあり、AI に渡るまで公開 URL を一度も経由しない</a:t>
            </a:r>
            <a:endParaRPr lang="en-US" sz="9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D1117"/>
        </a:solidFill>
      </p:bgPr>
    </p:bg>
    <p:spTree>
      <p:nvGrpSpPr>
        <p:cNvPr id="1" name=""/>
        <p:cNvGrpSpPr/>
        <p:nvPr/>
      </p:nvGrpSpPr>
      <p:grpSpPr>
        <a:xfrm>
          <a:off x="0" y="0"/>
          <a:ext cx="0" cy="0"/>
          <a:chOff x="0" y="0"/>
          <a:chExt cx="0" cy="0"/>
        </a:xfrm>
      </p:grpSpPr>
      <p:sp>
        <p:nvSpPr>
          <p:cNvPr id="2" name="Shape 0"/>
          <p:cNvSpPr/>
          <p:nvPr/>
        </p:nvSpPr>
        <p:spPr>
          <a:xfrm>
            <a:off x="0" y="0"/>
            <a:ext cx="9144000" cy="50292"/>
          </a:xfrm>
          <a:prstGeom prst="rect">
            <a:avLst/>
          </a:prstGeom>
          <a:solidFill>
            <a:srgbClr val="7C3AED"/>
          </a:solidFill>
          <a:ln w="12700">
            <a:solidFill>
              <a:srgbClr val="7C3AED"/>
            </a:solidFill>
            <a:prstDash val="solid"/>
          </a:ln>
        </p:spPr>
      </p:sp>
      <p:sp>
        <p:nvSpPr>
          <p:cNvPr id="3" name="Text 1"/>
          <p:cNvSpPr/>
          <p:nvPr/>
        </p:nvSpPr>
        <p:spPr>
          <a:xfrm>
            <a:off x="411480" y="91440"/>
            <a:ext cx="8321040" cy="475488"/>
          </a:xfrm>
          <a:prstGeom prst="rect">
            <a:avLst/>
          </a:prstGeom>
          <a:noFill/>
          <a:ln/>
        </p:spPr>
        <p:txBody>
          <a:bodyPr wrap="square" lIns="0" tIns="0" rIns="0" bIns="0" rtlCol="0" anchor="ctr"/>
          <a:lstStyle/>
          <a:p>
            <a:pPr indent="0" marL="0">
              <a:buNone/>
            </a:pPr>
            <a:r>
              <a:rPr lang="en-US" sz="2100" b="1" dirty="0">
                <a:solidFill>
                  <a:srgbClr val="F0F6FC"/>
                </a:solidFill>
                <a:latin typeface="Calibri" pitchFamily="34" charset="0"/>
                <a:ea typeface="Calibri" pitchFamily="34" charset="-122"/>
                <a:cs typeface="Calibri" pitchFamily="34" charset="-120"/>
              </a:rPr>
              <a:t>PoC は既に動いている — 実装状況</a:t>
            </a:r>
            <a:endParaRPr lang="en-US" sz="2100" dirty="0"/>
          </a:p>
        </p:txBody>
      </p:sp>
      <p:sp>
        <p:nvSpPr>
          <p:cNvPr id="4" name="Shape 2"/>
          <p:cNvSpPr/>
          <p:nvPr/>
        </p:nvSpPr>
        <p:spPr>
          <a:xfrm>
            <a:off x="411480" y="658368"/>
            <a:ext cx="8321040" cy="0"/>
          </a:xfrm>
          <a:prstGeom prst="line">
            <a:avLst/>
          </a:prstGeom>
          <a:noFill/>
          <a:ln w="9525">
            <a:solidFill>
              <a:srgbClr val="30363D"/>
            </a:solidFill>
            <a:prstDash val="solid"/>
          </a:ln>
        </p:spPr>
      </p:sp>
      <p:sp>
        <p:nvSpPr>
          <p:cNvPr id="5" name="Shape 3"/>
          <p:cNvSpPr/>
          <p:nvPr/>
        </p:nvSpPr>
        <p:spPr>
          <a:xfrm>
            <a:off x="411480" y="786384"/>
            <a:ext cx="1874520" cy="292608"/>
          </a:xfrm>
          <a:prstGeom prst="rect">
            <a:avLst/>
          </a:prstGeom>
          <a:solidFill>
            <a:srgbClr val="0F2A18"/>
          </a:solidFill>
          <a:ln w="12700">
            <a:solidFill>
              <a:srgbClr val="3FB950"/>
            </a:solidFill>
            <a:prstDash val="solid"/>
          </a:ln>
        </p:spPr>
      </p:sp>
      <p:sp>
        <p:nvSpPr>
          <p:cNvPr id="6" name="Text 4"/>
          <p:cNvSpPr/>
          <p:nvPr/>
        </p:nvSpPr>
        <p:spPr>
          <a:xfrm>
            <a:off x="411480" y="786384"/>
            <a:ext cx="1874520" cy="292608"/>
          </a:xfrm>
          <a:prstGeom prst="rect">
            <a:avLst/>
          </a:prstGeom>
          <a:noFill/>
          <a:ln/>
        </p:spPr>
        <p:txBody>
          <a:bodyPr wrap="square" lIns="0" tIns="0" rIns="0" bIns="0" rtlCol="0" anchor="ctr"/>
          <a:lstStyle/>
          <a:p>
            <a:pPr algn="ctr" indent="0" marL="0">
              <a:buNone/>
            </a:pPr>
            <a:r>
              <a:rPr lang="en-US" sz="1000" b="1" dirty="0">
                <a:solidFill>
                  <a:srgbClr val="56D364"/>
                </a:solidFill>
                <a:latin typeface="Calibri" pitchFamily="34" charset="0"/>
                <a:ea typeface="Calibri" pitchFamily="34" charset="-122"/>
                <a:cs typeface="Calibri" pitchFamily="34" charset="-120"/>
              </a:rPr>
              <a:t>✓ Phase 7 完了</a:t>
            </a:r>
            <a:endParaRPr lang="en-US" sz="1000" dirty="0"/>
          </a:p>
        </p:txBody>
      </p:sp>
      <p:sp>
        <p:nvSpPr>
          <p:cNvPr id="7" name="Text 5"/>
          <p:cNvSpPr/>
          <p:nvPr/>
        </p:nvSpPr>
        <p:spPr>
          <a:xfrm>
            <a:off x="411480" y="1207008"/>
            <a:ext cx="3931920" cy="274320"/>
          </a:xfrm>
          <a:prstGeom prst="rect">
            <a:avLst/>
          </a:prstGeom>
          <a:noFill/>
          <a:ln/>
        </p:spPr>
        <p:txBody>
          <a:bodyPr wrap="square" lIns="0" tIns="0" rIns="0" bIns="0" rtlCol="0" anchor="ctr"/>
          <a:lstStyle/>
          <a:p>
            <a:pPr indent="0" marL="0">
              <a:buNone/>
            </a:pPr>
            <a:r>
              <a:rPr lang="en-US" sz="1300" b="1" dirty="0">
                <a:solidFill>
                  <a:srgbClr val="F0F6FC"/>
                </a:solidFill>
                <a:latin typeface="Calibri" pitchFamily="34" charset="0"/>
                <a:ea typeface="Calibri" pitchFamily="34" charset="-122"/>
                <a:cs typeface="Calibri" pitchFamily="34" charset="-120"/>
              </a:rPr>
              <a:t>技術スタック</a:t>
            </a:r>
            <a:endParaRPr lang="en-US" sz="1300" dirty="0"/>
          </a:p>
        </p:txBody>
      </p:sp>
      <p:sp>
        <p:nvSpPr>
          <p:cNvPr id="8" name="Shape 6"/>
          <p:cNvSpPr/>
          <p:nvPr/>
        </p:nvSpPr>
        <p:spPr>
          <a:xfrm>
            <a:off x="411480" y="1554480"/>
            <a:ext cx="3931920" cy="512064"/>
          </a:xfrm>
          <a:prstGeom prst="rect">
            <a:avLst/>
          </a:prstGeom>
          <a:solidFill>
            <a:srgbClr val="161B22"/>
          </a:solidFill>
          <a:ln w="12700">
            <a:solidFill>
              <a:srgbClr val="30363D"/>
            </a:solidFill>
            <a:prstDash val="solid"/>
          </a:ln>
        </p:spPr>
      </p:sp>
      <p:sp>
        <p:nvSpPr>
          <p:cNvPr id="9" name="Shape 7"/>
          <p:cNvSpPr/>
          <p:nvPr/>
        </p:nvSpPr>
        <p:spPr>
          <a:xfrm>
            <a:off x="411480" y="1554480"/>
            <a:ext cx="73152" cy="512064"/>
          </a:xfrm>
          <a:prstGeom prst="rect">
            <a:avLst/>
          </a:prstGeom>
          <a:solidFill>
            <a:srgbClr val="7C3AED"/>
          </a:solidFill>
          <a:ln w="12700">
            <a:solidFill>
              <a:srgbClr val="7C3AED"/>
            </a:solidFill>
            <a:prstDash val="solid"/>
          </a:ln>
        </p:spPr>
      </p:sp>
      <p:sp>
        <p:nvSpPr>
          <p:cNvPr id="10" name="Text 8"/>
          <p:cNvSpPr/>
          <p:nvPr/>
        </p:nvSpPr>
        <p:spPr>
          <a:xfrm>
            <a:off x="603504" y="1591056"/>
            <a:ext cx="3566160" cy="237744"/>
          </a:xfrm>
          <a:prstGeom prst="rect">
            <a:avLst/>
          </a:prstGeom>
          <a:noFill/>
          <a:ln/>
        </p:spPr>
        <p:txBody>
          <a:bodyPr wrap="square" lIns="0" tIns="0" rIns="0" bIns="0" rtlCol="0" anchor="ctr"/>
          <a:lstStyle/>
          <a:p>
            <a:pPr indent="0" marL="0">
              <a:buNone/>
            </a:pPr>
            <a:r>
              <a:rPr lang="en-US" sz="1050" b="1" dirty="0">
                <a:solidFill>
                  <a:srgbClr val="79C0FF"/>
                </a:solidFill>
                <a:latin typeface="Courier New" pitchFamily="34" charset="0"/>
                <a:ea typeface="Courier New" pitchFamily="34" charset="-122"/>
                <a:cs typeface="Courier New" pitchFamily="34" charset="-120"/>
              </a:rPr>
              <a:t>Hono v4.6</a:t>
            </a:r>
            <a:endParaRPr lang="en-US" sz="1050" dirty="0"/>
          </a:p>
        </p:txBody>
      </p:sp>
      <p:sp>
        <p:nvSpPr>
          <p:cNvPr id="11" name="Text 9"/>
          <p:cNvSpPr/>
          <p:nvPr/>
        </p:nvSpPr>
        <p:spPr>
          <a:xfrm>
            <a:off x="603504" y="1828800"/>
            <a:ext cx="3611880" cy="201168"/>
          </a:xfrm>
          <a:prstGeom prst="rect">
            <a:avLst/>
          </a:prstGeom>
          <a:noFill/>
          <a:ln/>
        </p:spPr>
        <p:txBody>
          <a:bodyPr wrap="square" lIns="0" tIns="0" rIns="0" bIns="0" rtlCol="0" anchor="ctr"/>
          <a:lstStyle/>
          <a:p>
            <a:pPr indent="0" marL="0">
              <a:buNone/>
            </a:pPr>
            <a:r>
              <a:rPr lang="en-US" sz="900" dirty="0">
                <a:solidFill>
                  <a:srgbClr val="8B949E"/>
                </a:solidFill>
                <a:latin typeface="Calibri" pitchFamily="34" charset="0"/>
                <a:ea typeface="Calibri" pitchFamily="34" charset="-122"/>
                <a:cs typeface="Calibri" pitchFamily="34" charset="-120"/>
              </a:rPr>
              <a:t>HTTP サーバ / ルーティング</a:t>
            </a:r>
            <a:endParaRPr lang="en-US" sz="900" dirty="0"/>
          </a:p>
        </p:txBody>
      </p:sp>
      <p:sp>
        <p:nvSpPr>
          <p:cNvPr id="12" name="Shape 10"/>
          <p:cNvSpPr/>
          <p:nvPr/>
        </p:nvSpPr>
        <p:spPr>
          <a:xfrm>
            <a:off x="411480" y="2157984"/>
            <a:ext cx="3931920" cy="512064"/>
          </a:xfrm>
          <a:prstGeom prst="rect">
            <a:avLst/>
          </a:prstGeom>
          <a:solidFill>
            <a:srgbClr val="161B22"/>
          </a:solidFill>
          <a:ln w="12700">
            <a:solidFill>
              <a:srgbClr val="30363D"/>
            </a:solidFill>
            <a:prstDash val="solid"/>
          </a:ln>
        </p:spPr>
      </p:sp>
      <p:sp>
        <p:nvSpPr>
          <p:cNvPr id="13" name="Shape 11"/>
          <p:cNvSpPr/>
          <p:nvPr/>
        </p:nvSpPr>
        <p:spPr>
          <a:xfrm>
            <a:off x="411480" y="2157984"/>
            <a:ext cx="73152" cy="512064"/>
          </a:xfrm>
          <a:prstGeom prst="rect">
            <a:avLst/>
          </a:prstGeom>
          <a:solidFill>
            <a:srgbClr val="7C3AED"/>
          </a:solidFill>
          <a:ln w="12700">
            <a:solidFill>
              <a:srgbClr val="7C3AED"/>
            </a:solidFill>
            <a:prstDash val="solid"/>
          </a:ln>
        </p:spPr>
      </p:sp>
      <p:sp>
        <p:nvSpPr>
          <p:cNvPr id="14" name="Text 12"/>
          <p:cNvSpPr/>
          <p:nvPr/>
        </p:nvSpPr>
        <p:spPr>
          <a:xfrm>
            <a:off x="603504" y="2194560"/>
            <a:ext cx="3566160" cy="237744"/>
          </a:xfrm>
          <a:prstGeom prst="rect">
            <a:avLst/>
          </a:prstGeom>
          <a:noFill/>
          <a:ln/>
        </p:spPr>
        <p:txBody>
          <a:bodyPr wrap="square" lIns="0" tIns="0" rIns="0" bIns="0" rtlCol="0" anchor="ctr"/>
          <a:lstStyle/>
          <a:p>
            <a:pPr indent="0" marL="0">
              <a:buNone/>
            </a:pPr>
            <a:r>
              <a:rPr lang="en-US" sz="1050" b="1" dirty="0">
                <a:solidFill>
                  <a:srgbClr val="79C0FF"/>
                </a:solidFill>
                <a:latin typeface="Courier New" pitchFamily="34" charset="0"/>
                <a:ea typeface="Courier New" pitchFamily="34" charset="-122"/>
                <a:cs typeface="Courier New" pitchFamily="34" charset="-120"/>
              </a:rPr>
              <a:t>MCP SDK v1.0</a:t>
            </a:r>
            <a:endParaRPr lang="en-US" sz="1050" dirty="0"/>
          </a:p>
        </p:txBody>
      </p:sp>
      <p:sp>
        <p:nvSpPr>
          <p:cNvPr id="15" name="Text 13"/>
          <p:cNvSpPr/>
          <p:nvPr/>
        </p:nvSpPr>
        <p:spPr>
          <a:xfrm>
            <a:off x="603504" y="2432304"/>
            <a:ext cx="3611880" cy="201168"/>
          </a:xfrm>
          <a:prstGeom prst="rect">
            <a:avLst/>
          </a:prstGeom>
          <a:noFill/>
          <a:ln/>
        </p:spPr>
        <p:txBody>
          <a:bodyPr wrap="square" lIns="0" tIns="0" rIns="0" bIns="0" rtlCol="0" anchor="ctr"/>
          <a:lstStyle/>
          <a:p>
            <a:pPr indent="0" marL="0">
              <a:buNone/>
            </a:pPr>
            <a:r>
              <a:rPr lang="en-US" sz="900" dirty="0">
                <a:solidFill>
                  <a:srgbClr val="8B949E"/>
                </a:solidFill>
                <a:latin typeface="Calibri" pitchFamily="34" charset="0"/>
                <a:ea typeface="Calibri" pitchFamily="34" charset="-122"/>
                <a:cs typeface="Calibri" pitchFamily="34" charset="-120"/>
              </a:rPr>
              <a:t>MCP サーバ (HTTP transport)</a:t>
            </a:r>
            <a:endParaRPr lang="en-US" sz="900" dirty="0"/>
          </a:p>
        </p:txBody>
      </p:sp>
      <p:sp>
        <p:nvSpPr>
          <p:cNvPr id="16" name="Shape 14"/>
          <p:cNvSpPr/>
          <p:nvPr/>
        </p:nvSpPr>
        <p:spPr>
          <a:xfrm>
            <a:off x="411480" y="2761488"/>
            <a:ext cx="3931920" cy="512064"/>
          </a:xfrm>
          <a:prstGeom prst="rect">
            <a:avLst/>
          </a:prstGeom>
          <a:solidFill>
            <a:srgbClr val="161B22"/>
          </a:solidFill>
          <a:ln w="12700">
            <a:solidFill>
              <a:srgbClr val="30363D"/>
            </a:solidFill>
            <a:prstDash val="solid"/>
          </a:ln>
        </p:spPr>
      </p:sp>
      <p:sp>
        <p:nvSpPr>
          <p:cNvPr id="17" name="Shape 15"/>
          <p:cNvSpPr/>
          <p:nvPr/>
        </p:nvSpPr>
        <p:spPr>
          <a:xfrm>
            <a:off x="411480" y="2761488"/>
            <a:ext cx="73152" cy="512064"/>
          </a:xfrm>
          <a:prstGeom prst="rect">
            <a:avLst/>
          </a:prstGeom>
          <a:solidFill>
            <a:srgbClr val="7C3AED"/>
          </a:solidFill>
          <a:ln w="12700">
            <a:solidFill>
              <a:srgbClr val="7C3AED"/>
            </a:solidFill>
            <a:prstDash val="solid"/>
          </a:ln>
        </p:spPr>
      </p:sp>
      <p:sp>
        <p:nvSpPr>
          <p:cNvPr id="18" name="Text 16"/>
          <p:cNvSpPr/>
          <p:nvPr/>
        </p:nvSpPr>
        <p:spPr>
          <a:xfrm>
            <a:off x="603504" y="2798064"/>
            <a:ext cx="3566160" cy="237744"/>
          </a:xfrm>
          <a:prstGeom prst="rect">
            <a:avLst/>
          </a:prstGeom>
          <a:noFill/>
          <a:ln/>
        </p:spPr>
        <p:txBody>
          <a:bodyPr wrap="square" lIns="0" tIns="0" rIns="0" bIns="0" rtlCol="0" anchor="ctr"/>
          <a:lstStyle/>
          <a:p>
            <a:pPr indent="0" marL="0">
              <a:buNone/>
            </a:pPr>
            <a:r>
              <a:rPr lang="en-US" sz="1050" b="1" dirty="0">
                <a:solidFill>
                  <a:srgbClr val="79C0FF"/>
                </a:solidFill>
                <a:latin typeface="Courier New" pitchFamily="34" charset="0"/>
                <a:ea typeface="Courier New" pitchFamily="34" charset="-122"/>
                <a:cs typeface="Courier New" pitchFamily="34" charset="-120"/>
              </a:rPr>
              <a:t>Playwright v1.49</a:t>
            </a:r>
            <a:endParaRPr lang="en-US" sz="1050" dirty="0"/>
          </a:p>
        </p:txBody>
      </p:sp>
      <p:sp>
        <p:nvSpPr>
          <p:cNvPr id="19" name="Text 17"/>
          <p:cNvSpPr/>
          <p:nvPr/>
        </p:nvSpPr>
        <p:spPr>
          <a:xfrm>
            <a:off x="603504" y="3035808"/>
            <a:ext cx="3611880" cy="201168"/>
          </a:xfrm>
          <a:prstGeom prst="rect">
            <a:avLst/>
          </a:prstGeom>
          <a:noFill/>
          <a:ln/>
        </p:spPr>
        <p:txBody>
          <a:bodyPr wrap="square" lIns="0" tIns="0" rIns="0" bIns="0" rtlCol="0" anchor="ctr"/>
          <a:lstStyle/>
          <a:p>
            <a:pPr indent="0" marL="0">
              <a:buNone/>
            </a:pPr>
            <a:r>
              <a:rPr lang="en-US" sz="900" dirty="0">
                <a:solidFill>
                  <a:srgbClr val="8B949E"/>
                </a:solidFill>
                <a:latin typeface="Calibri" pitchFamily="34" charset="0"/>
                <a:ea typeface="Calibri" pitchFamily="34" charset="-122"/>
                <a:cs typeface="Calibri" pitchFamily="34" charset="-120"/>
              </a:rPr>
              <a:t>ヘッドレス Chrome 自動化</a:t>
            </a:r>
            <a:endParaRPr lang="en-US" sz="900" dirty="0"/>
          </a:p>
        </p:txBody>
      </p:sp>
      <p:sp>
        <p:nvSpPr>
          <p:cNvPr id="20" name="Shape 18"/>
          <p:cNvSpPr/>
          <p:nvPr/>
        </p:nvSpPr>
        <p:spPr>
          <a:xfrm>
            <a:off x="411480" y="3364992"/>
            <a:ext cx="3931920" cy="512064"/>
          </a:xfrm>
          <a:prstGeom prst="rect">
            <a:avLst/>
          </a:prstGeom>
          <a:solidFill>
            <a:srgbClr val="161B22"/>
          </a:solidFill>
          <a:ln w="12700">
            <a:solidFill>
              <a:srgbClr val="30363D"/>
            </a:solidFill>
            <a:prstDash val="solid"/>
          </a:ln>
        </p:spPr>
      </p:sp>
      <p:sp>
        <p:nvSpPr>
          <p:cNvPr id="21" name="Shape 19"/>
          <p:cNvSpPr/>
          <p:nvPr/>
        </p:nvSpPr>
        <p:spPr>
          <a:xfrm>
            <a:off x="411480" y="3364992"/>
            <a:ext cx="73152" cy="512064"/>
          </a:xfrm>
          <a:prstGeom prst="rect">
            <a:avLst/>
          </a:prstGeom>
          <a:solidFill>
            <a:srgbClr val="7C3AED"/>
          </a:solidFill>
          <a:ln w="12700">
            <a:solidFill>
              <a:srgbClr val="7C3AED"/>
            </a:solidFill>
            <a:prstDash val="solid"/>
          </a:ln>
        </p:spPr>
      </p:sp>
      <p:sp>
        <p:nvSpPr>
          <p:cNvPr id="22" name="Text 20"/>
          <p:cNvSpPr/>
          <p:nvPr/>
        </p:nvSpPr>
        <p:spPr>
          <a:xfrm>
            <a:off x="603504" y="3401568"/>
            <a:ext cx="3566160" cy="237744"/>
          </a:xfrm>
          <a:prstGeom prst="rect">
            <a:avLst/>
          </a:prstGeom>
          <a:noFill/>
          <a:ln/>
        </p:spPr>
        <p:txBody>
          <a:bodyPr wrap="square" lIns="0" tIns="0" rIns="0" bIns="0" rtlCol="0" anchor="ctr"/>
          <a:lstStyle/>
          <a:p>
            <a:pPr indent="0" marL="0">
              <a:buNone/>
            </a:pPr>
            <a:r>
              <a:rPr lang="en-US" sz="1050" b="1" dirty="0">
                <a:solidFill>
                  <a:srgbClr val="79C0FF"/>
                </a:solidFill>
                <a:latin typeface="Courier New" pitchFamily="34" charset="0"/>
                <a:ea typeface="Courier New" pitchFamily="34" charset="-122"/>
                <a:cs typeface="Courier New" pitchFamily="34" charset="-120"/>
              </a:rPr>
              <a:t>Supabase</a:t>
            </a:r>
            <a:endParaRPr lang="en-US" sz="1050" dirty="0"/>
          </a:p>
        </p:txBody>
      </p:sp>
      <p:sp>
        <p:nvSpPr>
          <p:cNvPr id="23" name="Text 21"/>
          <p:cNvSpPr/>
          <p:nvPr/>
        </p:nvSpPr>
        <p:spPr>
          <a:xfrm>
            <a:off x="603504" y="3639312"/>
            <a:ext cx="3611880" cy="201168"/>
          </a:xfrm>
          <a:prstGeom prst="rect">
            <a:avLst/>
          </a:prstGeom>
          <a:noFill/>
          <a:ln/>
        </p:spPr>
        <p:txBody>
          <a:bodyPr wrap="square" lIns="0" tIns="0" rIns="0" bIns="0" rtlCol="0" anchor="ctr"/>
          <a:lstStyle/>
          <a:p>
            <a:pPr indent="0" marL="0">
              <a:buNone/>
            </a:pPr>
            <a:r>
              <a:rPr lang="en-US" sz="900" dirty="0">
                <a:solidFill>
                  <a:srgbClr val="8B949E"/>
                </a:solidFill>
                <a:latin typeface="Calibri" pitchFamily="34" charset="0"/>
                <a:ea typeface="Calibri" pitchFamily="34" charset="-122"/>
                <a:cs typeface="Calibri" pitchFamily="34" charset="-120"/>
              </a:rPr>
              <a:t>Auth / Postgres / Storage (PoC 用)</a:t>
            </a:r>
            <a:endParaRPr lang="en-US" sz="900" dirty="0"/>
          </a:p>
        </p:txBody>
      </p:sp>
      <p:sp>
        <p:nvSpPr>
          <p:cNvPr id="24" name="Shape 22"/>
          <p:cNvSpPr/>
          <p:nvPr/>
        </p:nvSpPr>
        <p:spPr>
          <a:xfrm>
            <a:off x="411480" y="3968496"/>
            <a:ext cx="3931920" cy="512064"/>
          </a:xfrm>
          <a:prstGeom prst="rect">
            <a:avLst/>
          </a:prstGeom>
          <a:solidFill>
            <a:srgbClr val="161B22"/>
          </a:solidFill>
          <a:ln w="12700">
            <a:solidFill>
              <a:srgbClr val="30363D"/>
            </a:solidFill>
            <a:prstDash val="solid"/>
          </a:ln>
        </p:spPr>
      </p:sp>
      <p:sp>
        <p:nvSpPr>
          <p:cNvPr id="25" name="Shape 23"/>
          <p:cNvSpPr/>
          <p:nvPr/>
        </p:nvSpPr>
        <p:spPr>
          <a:xfrm>
            <a:off x="411480" y="3968496"/>
            <a:ext cx="73152" cy="512064"/>
          </a:xfrm>
          <a:prstGeom prst="rect">
            <a:avLst/>
          </a:prstGeom>
          <a:solidFill>
            <a:srgbClr val="7C3AED"/>
          </a:solidFill>
          <a:ln w="12700">
            <a:solidFill>
              <a:srgbClr val="7C3AED"/>
            </a:solidFill>
            <a:prstDash val="solid"/>
          </a:ln>
        </p:spPr>
      </p:sp>
      <p:sp>
        <p:nvSpPr>
          <p:cNvPr id="26" name="Text 24"/>
          <p:cNvSpPr/>
          <p:nvPr/>
        </p:nvSpPr>
        <p:spPr>
          <a:xfrm>
            <a:off x="603504" y="4005072"/>
            <a:ext cx="3566160" cy="237744"/>
          </a:xfrm>
          <a:prstGeom prst="rect">
            <a:avLst/>
          </a:prstGeom>
          <a:noFill/>
          <a:ln/>
        </p:spPr>
        <p:txBody>
          <a:bodyPr wrap="square" lIns="0" tIns="0" rIns="0" bIns="0" rtlCol="0" anchor="ctr"/>
          <a:lstStyle/>
          <a:p>
            <a:pPr indent="0" marL="0">
              <a:buNone/>
            </a:pPr>
            <a:r>
              <a:rPr lang="en-US" sz="1050" b="1" dirty="0">
                <a:solidFill>
                  <a:srgbClr val="79C0FF"/>
                </a:solidFill>
                <a:latin typeface="Courier New" pitchFamily="34" charset="0"/>
                <a:ea typeface="Courier New" pitchFamily="34" charset="-122"/>
                <a:cs typeface="Courier New" pitchFamily="34" charset="-120"/>
              </a:rPr>
              <a:t>Zod</a:t>
            </a:r>
            <a:endParaRPr lang="en-US" sz="1050" dirty="0"/>
          </a:p>
        </p:txBody>
      </p:sp>
      <p:sp>
        <p:nvSpPr>
          <p:cNvPr id="27" name="Text 25"/>
          <p:cNvSpPr/>
          <p:nvPr/>
        </p:nvSpPr>
        <p:spPr>
          <a:xfrm>
            <a:off x="603504" y="4242816"/>
            <a:ext cx="3611880" cy="201168"/>
          </a:xfrm>
          <a:prstGeom prst="rect">
            <a:avLst/>
          </a:prstGeom>
          <a:noFill/>
          <a:ln/>
        </p:spPr>
        <p:txBody>
          <a:bodyPr wrap="square" lIns="0" tIns="0" rIns="0" bIns="0" rtlCol="0" anchor="ctr"/>
          <a:lstStyle/>
          <a:p>
            <a:pPr indent="0" marL="0">
              <a:buNone/>
            </a:pPr>
            <a:r>
              <a:rPr lang="en-US" sz="900" dirty="0">
                <a:solidFill>
                  <a:srgbClr val="8B949E"/>
                </a:solidFill>
                <a:latin typeface="Calibri" pitchFamily="34" charset="0"/>
                <a:ea typeface="Calibri" pitchFamily="34" charset="-122"/>
                <a:cs typeface="Calibri" pitchFamily="34" charset="-120"/>
              </a:rPr>
              <a:t>環境変数・リクエストの検証</a:t>
            </a:r>
            <a:endParaRPr lang="en-US" sz="900" dirty="0"/>
          </a:p>
        </p:txBody>
      </p:sp>
      <p:sp>
        <p:nvSpPr>
          <p:cNvPr id="28" name="Text 26"/>
          <p:cNvSpPr/>
          <p:nvPr/>
        </p:nvSpPr>
        <p:spPr>
          <a:xfrm>
            <a:off x="4617720" y="1207008"/>
            <a:ext cx="4206240" cy="274320"/>
          </a:xfrm>
          <a:prstGeom prst="rect">
            <a:avLst/>
          </a:prstGeom>
          <a:noFill/>
          <a:ln/>
        </p:spPr>
        <p:txBody>
          <a:bodyPr wrap="square" lIns="0" tIns="0" rIns="0" bIns="0" rtlCol="0" anchor="ctr"/>
          <a:lstStyle/>
          <a:p>
            <a:pPr indent="0" marL="0">
              <a:buNone/>
            </a:pPr>
            <a:r>
              <a:rPr lang="en-US" sz="1300" b="1" dirty="0">
                <a:solidFill>
                  <a:srgbClr val="F0F6FC"/>
                </a:solidFill>
                <a:latin typeface="Calibri" pitchFamily="34" charset="0"/>
                <a:ea typeface="Calibri" pitchFamily="34" charset="-122"/>
                <a:cs typeface="Calibri" pitchFamily="34" charset="-120"/>
              </a:rPr>
              <a:t>Playwright レンダリングフロー</a:t>
            </a:r>
            <a:endParaRPr lang="en-US" sz="1300" dirty="0"/>
          </a:p>
        </p:txBody>
      </p:sp>
      <p:sp>
        <p:nvSpPr>
          <p:cNvPr id="29" name="Shape 27"/>
          <p:cNvSpPr/>
          <p:nvPr/>
        </p:nvSpPr>
        <p:spPr>
          <a:xfrm>
            <a:off x="4764024" y="1847088"/>
            <a:ext cx="0" cy="182880"/>
          </a:xfrm>
          <a:prstGeom prst="line">
            <a:avLst/>
          </a:prstGeom>
          <a:noFill/>
          <a:ln w="19050">
            <a:solidFill>
              <a:srgbClr val="30363D"/>
            </a:solidFill>
            <a:prstDash val="solid"/>
          </a:ln>
        </p:spPr>
      </p:sp>
      <p:sp>
        <p:nvSpPr>
          <p:cNvPr id="30" name="Shape 28"/>
          <p:cNvSpPr/>
          <p:nvPr/>
        </p:nvSpPr>
        <p:spPr>
          <a:xfrm>
            <a:off x="4617720" y="1572768"/>
            <a:ext cx="292608" cy="292608"/>
          </a:xfrm>
          <a:prstGeom prst="ellipse">
            <a:avLst/>
          </a:prstGeom>
          <a:solidFill>
            <a:srgbClr val="7C3AED"/>
          </a:solidFill>
          <a:ln w="12700">
            <a:solidFill>
              <a:srgbClr val="7C3AED"/>
            </a:solidFill>
            <a:prstDash val="solid"/>
          </a:ln>
        </p:spPr>
      </p:sp>
      <p:sp>
        <p:nvSpPr>
          <p:cNvPr id="31" name="Text 29"/>
          <p:cNvSpPr/>
          <p:nvPr/>
        </p:nvSpPr>
        <p:spPr>
          <a:xfrm>
            <a:off x="4617720" y="1572768"/>
            <a:ext cx="29260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1</a:t>
            </a:r>
            <a:endParaRPr lang="en-US" sz="1000" dirty="0"/>
          </a:p>
        </p:txBody>
      </p:sp>
      <p:sp>
        <p:nvSpPr>
          <p:cNvPr id="32" name="Text 30"/>
          <p:cNvSpPr/>
          <p:nvPr/>
        </p:nvSpPr>
        <p:spPr>
          <a:xfrm>
            <a:off x="5047488" y="1536192"/>
            <a:ext cx="3749040" cy="365760"/>
          </a:xfrm>
          <a:prstGeom prst="rect">
            <a:avLst/>
          </a:prstGeom>
          <a:noFill/>
          <a:ln/>
        </p:spPr>
        <p:txBody>
          <a:bodyPr wrap="square" lIns="0" tIns="0" rIns="0" bIns="0" rtlCol="0" anchor="ctr"/>
          <a:lstStyle/>
          <a:p>
            <a:pPr indent="0" marL="0">
              <a:buNone/>
            </a:pPr>
            <a:r>
              <a:rPr lang="en-US" sz="1000" dirty="0">
                <a:solidFill>
                  <a:srgbClr val="C9D1D9"/>
                </a:solidFill>
                <a:latin typeface="Calibri" pitchFamily="34" charset="0"/>
                <a:ea typeface="Calibri" pitchFamily="34" charset="-122"/>
                <a:cs typeface="Calibri" pitchFamily="34" charset="-120"/>
              </a:rPr>
              <a:t>storageState から Figma セッションを復元</a:t>
            </a:r>
            <a:endParaRPr lang="en-US" sz="1000" dirty="0"/>
          </a:p>
        </p:txBody>
      </p:sp>
      <p:sp>
        <p:nvSpPr>
          <p:cNvPr id="33" name="Shape 31"/>
          <p:cNvSpPr/>
          <p:nvPr/>
        </p:nvSpPr>
        <p:spPr>
          <a:xfrm>
            <a:off x="4764024" y="2304288"/>
            <a:ext cx="0" cy="182880"/>
          </a:xfrm>
          <a:prstGeom prst="line">
            <a:avLst/>
          </a:prstGeom>
          <a:noFill/>
          <a:ln w="19050">
            <a:solidFill>
              <a:srgbClr val="30363D"/>
            </a:solidFill>
            <a:prstDash val="solid"/>
          </a:ln>
        </p:spPr>
      </p:sp>
      <p:sp>
        <p:nvSpPr>
          <p:cNvPr id="34" name="Shape 32"/>
          <p:cNvSpPr/>
          <p:nvPr/>
        </p:nvSpPr>
        <p:spPr>
          <a:xfrm>
            <a:off x="4617720" y="2029968"/>
            <a:ext cx="292608" cy="292608"/>
          </a:xfrm>
          <a:prstGeom prst="ellipse">
            <a:avLst/>
          </a:prstGeom>
          <a:solidFill>
            <a:srgbClr val="7C3AED"/>
          </a:solidFill>
          <a:ln w="12700">
            <a:solidFill>
              <a:srgbClr val="7C3AED"/>
            </a:solidFill>
            <a:prstDash val="solid"/>
          </a:ln>
        </p:spPr>
      </p:sp>
      <p:sp>
        <p:nvSpPr>
          <p:cNvPr id="35" name="Text 33"/>
          <p:cNvSpPr/>
          <p:nvPr/>
        </p:nvSpPr>
        <p:spPr>
          <a:xfrm>
            <a:off x="4617720" y="2029968"/>
            <a:ext cx="29260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2</a:t>
            </a:r>
            <a:endParaRPr lang="en-US" sz="1000" dirty="0"/>
          </a:p>
        </p:txBody>
      </p:sp>
      <p:sp>
        <p:nvSpPr>
          <p:cNvPr id="36" name="Text 34"/>
          <p:cNvSpPr/>
          <p:nvPr/>
        </p:nvSpPr>
        <p:spPr>
          <a:xfrm>
            <a:off x="5047488" y="1993392"/>
            <a:ext cx="3749040" cy="365760"/>
          </a:xfrm>
          <a:prstGeom prst="rect">
            <a:avLst/>
          </a:prstGeom>
          <a:noFill/>
          <a:ln/>
        </p:spPr>
        <p:txBody>
          <a:bodyPr wrap="square" lIns="0" tIns="0" rIns="0" bIns="0" rtlCol="0" anchor="ctr"/>
          <a:lstStyle/>
          <a:p>
            <a:pPr indent="0" marL="0">
              <a:buNone/>
            </a:pPr>
            <a:r>
              <a:rPr lang="en-US" sz="1000" dirty="0">
                <a:solidFill>
                  <a:srgbClr val="C9D1D9"/>
                </a:solidFill>
                <a:latin typeface="Calibri" pitchFamily="34" charset="0"/>
                <a:ea typeface="Calibri" pitchFamily="34" charset="-122"/>
                <a:cs typeface="Calibri" pitchFamily="34" charset="-120"/>
              </a:rPr>
              <a:t>ヘッドレス Chrome 起動（ボット検知回避）</a:t>
            </a:r>
            <a:endParaRPr lang="en-US" sz="1000" dirty="0"/>
          </a:p>
        </p:txBody>
      </p:sp>
      <p:sp>
        <p:nvSpPr>
          <p:cNvPr id="37" name="Shape 35"/>
          <p:cNvSpPr/>
          <p:nvPr/>
        </p:nvSpPr>
        <p:spPr>
          <a:xfrm>
            <a:off x="4764024" y="2761488"/>
            <a:ext cx="0" cy="182880"/>
          </a:xfrm>
          <a:prstGeom prst="line">
            <a:avLst/>
          </a:prstGeom>
          <a:noFill/>
          <a:ln w="19050">
            <a:solidFill>
              <a:srgbClr val="30363D"/>
            </a:solidFill>
            <a:prstDash val="solid"/>
          </a:ln>
        </p:spPr>
      </p:sp>
      <p:sp>
        <p:nvSpPr>
          <p:cNvPr id="38" name="Shape 36"/>
          <p:cNvSpPr/>
          <p:nvPr/>
        </p:nvSpPr>
        <p:spPr>
          <a:xfrm>
            <a:off x="4617720" y="2487168"/>
            <a:ext cx="292608" cy="292608"/>
          </a:xfrm>
          <a:prstGeom prst="ellipse">
            <a:avLst/>
          </a:prstGeom>
          <a:solidFill>
            <a:srgbClr val="7C3AED"/>
          </a:solidFill>
          <a:ln w="12700">
            <a:solidFill>
              <a:srgbClr val="7C3AED"/>
            </a:solidFill>
            <a:prstDash val="solid"/>
          </a:ln>
        </p:spPr>
      </p:sp>
      <p:sp>
        <p:nvSpPr>
          <p:cNvPr id="39" name="Text 37"/>
          <p:cNvSpPr/>
          <p:nvPr/>
        </p:nvSpPr>
        <p:spPr>
          <a:xfrm>
            <a:off x="4617720" y="2487168"/>
            <a:ext cx="29260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3</a:t>
            </a:r>
            <a:endParaRPr lang="en-US" sz="1000" dirty="0"/>
          </a:p>
        </p:txBody>
      </p:sp>
      <p:sp>
        <p:nvSpPr>
          <p:cNvPr id="40" name="Text 38"/>
          <p:cNvSpPr/>
          <p:nvPr/>
        </p:nvSpPr>
        <p:spPr>
          <a:xfrm>
            <a:off x="5047488" y="2450592"/>
            <a:ext cx="3749040" cy="365760"/>
          </a:xfrm>
          <a:prstGeom prst="rect">
            <a:avLst/>
          </a:prstGeom>
          <a:noFill/>
          <a:ln/>
        </p:spPr>
        <p:txBody>
          <a:bodyPr wrap="square" lIns="0" tIns="0" rIns="0" bIns="0" rtlCol="0" anchor="ctr"/>
          <a:lstStyle/>
          <a:p>
            <a:pPr indent="0" marL="0">
              <a:buNone/>
            </a:pPr>
            <a:r>
              <a:rPr lang="en-US" sz="1000" dirty="0">
                <a:solidFill>
                  <a:srgbClr val="C9D1D9"/>
                </a:solidFill>
                <a:latin typeface="Calibri" pitchFamily="34" charset="0"/>
                <a:ea typeface="Calibri" pitchFamily="34" charset="-122"/>
                <a:cs typeface="Calibri" pitchFamily="34" charset="-120"/>
              </a:rPr>
              <a:t>figma.com/design/{fileKey} に遷移</a:t>
            </a:r>
            <a:endParaRPr lang="en-US" sz="1000" dirty="0"/>
          </a:p>
        </p:txBody>
      </p:sp>
      <p:sp>
        <p:nvSpPr>
          <p:cNvPr id="41" name="Shape 39"/>
          <p:cNvSpPr/>
          <p:nvPr/>
        </p:nvSpPr>
        <p:spPr>
          <a:xfrm>
            <a:off x="4764024" y="3218688"/>
            <a:ext cx="0" cy="182880"/>
          </a:xfrm>
          <a:prstGeom prst="line">
            <a:avLst/>
          </a:prstGeom>
          <a:noFill/>
          <a:ln w="19050">
            <a:solidFill>
              <a:srgbClr val="30363D"/>
            </a:solidFill>
            <a:prstDash val="solid"/>
          </a:ln>
        </p:spPr>
      </p:sp>
      <p:sp>
        <p:nvSpPr>
          <p:cNvPr id="42" name="Shape 40"/>
          <p:cNvSpPr/>
          <p:nvPr/>
        </p:nvSpPr>
        <p:spPr>
          <a:xfrm>
            <a:off x="4617720" y="2944368"/>
            <a:ext cx="292608" cy="292608"/>
          </a:xfrm>
          <a:prstGeom prst="ellipse">
            <a:avLst/>
          </a:prstGeom>
          <a:solidFill>
            <a:srgbClr val="7C3AED"/>
          </a:solidFill>
          <a:ln w="12700">
            <a:solidFill>
              <a:srgbClr val="7C3AED"/>
            </a:solidFill>
            <a:prstDash val="solid"/>
          </a:ln>
        </p:spPr>
      </p:sp>
      <p:sp>
        <p:nvSpPr>
          <p:cNvPr id="43" name="Text 41"/>
          <p:cNvSpPr/>
          <p:nvPr/>
        </p:nvSpPr>
        <p:spPr>
          <a:xfrm>
            <a:off x="4617720" y="2944368"/>
            <a:ext cx="29260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4</a:t>
            </a:r>
            <a:endParaRPr lang="en-US" sz="1000" dirty="0"/>
          </a:p>
        </p:txBody>
      </p:sp>
      <p:sp>
        <p:nvSpPr>
          <p:cNvPr id="44" name="Text 42"/>
          <p:cNvSpPr/>
          <p:nvPr/>
        </p:nvSpPr>
        <p:spPr>
          <a:xfrm>
            <a:off x="5047488" y="2907792"/>
            <a:ext cx="3749040" cy="365760"/>
          </a:xfrm>
          <a:prstGeom prst="rect">
            <a:avLst/>
          </a:prstGeom>
          <a:noFill/>
          <a:ln/>
        </p:spPr>
        <p:txBody>
          <a:bodyPr wrap="square" lIns="0" tIns="0" rIns="0" bIns="0" rtlCol="0" anchor="ctr"/>
          <a:lstStyle/>
          <a:p>
            <a:pPr indent="0" marL="0">
              <a:buNone/>
            </a:pPr>
            <a:r>
              <a:rPr lang="en-US" sz="1000" dirty="0">
                <a:solidFill>
                  <a:srgbClr val="C9D1D9"/>
                </a:solidFill>
                <a:latin typeface="Calibri" pitchFamily="34" charset="0"/>
                <a:ea typeface="Calibri" pitchFamily="34" charset="-122"/>
                <a:cs typeface="Calibri" pitchFamily="34" charset="-120"/>
              </a:rPr>
              <a:t>Shift+0 でノードにズーム</a:t>
            </a:r>
            <a:endParaRPr lang="en-US" sz="1000" dirty="0"/>
          </a:p>
        </p:txBody>
      </p:sp>
      <p:sp>
        <p:nvSpPr>
          <p:cNvPr id="45" name="Shape 43"/>
          <p:cNvSpPr/>
          <p:nvPr/>
        </p:nvSpPr>
        <p:spPr>
          <a:xfrm>
            <a:off x="4764024" y="3675888"/>
            <a:ext cx="0" cy="182880"/>
          </a:xfrm>
          <a:prstGeom prst="line">
            <a:avLst/>
          </a:prstGeom>
          <a:noFill/>
          <a:ln w="19050">
            <a:solidFill>
              <a:srgbClr val="30363D"/>
            </a:solidFill>
            <a:prstDash val="solid"/>
          </a:ln>
        </p:spPr>
      </p:sp>
      <p:sp>
        <p:nvSpPr>
          <p:cNvPr id="46" name="Shape 44"/>
          <p:cNvSpPr/>
          <p:nvPr/>
        </p:nvSpPr>
        <p:spPr>
          <a:xfrm>
            <a:off x="4617720" y="3401568"/>
            <a:ext cx="292608" cy="292608"/>
          </a:xfrm>
          <a:prstGeom prst="ellipse">
            <a:avLst/>
          </a:prstGeom>
          <a:solidFill>
            <a:srgbClr val="7C3AED"/>
          </a:solidFill>
          <a:ln w="12700">
            <a:solidFill>
              <a:srgbClr val="7C3AED"/>
            </a:solidFill>
            <a:prstDash val="solid"/>
          </a:ln>
        </p:spPr>
      </p:sp>
      <p:sp>
        <p:nvSpPr>
          <p:cNvPr id="47" name="Text 45"/>
          <p:cNvSpPr/>
          <p:nvPr/>
        </p:nvSpPr>
        <p:spPr>
          <a:xfrm>
            <a:off x="4617720" y="3401568"/>
            <a:ext cx="29260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5</a:t>
            </a:r>
            <a:endParaRPr lang="en-US" sz="1000" dirty="0"/>
          </a:p>
        </p:txBody>
      </p:sp>
      <p:sp>
        <p:nvSpPr>
          <p:cNvPr id="48" name="Text 46"/>
          <p:cNvSpPr/>
          <p:nvPr/>
        </p:nvSpPr>
        <p:spPr>
          <a:xfrm>
            <a:off x="5047488" y="3364992"/>
            <a:ext cx="3749040" cy="365760"/>
          </a:xfrm>
          <a:prstGeom prst="rect">
            <a:avLst/>
          </a:prstGeom>
          <a:noFill/>
          <a:ln/>
        </p:spPr>
        <p:txBody>
          <a:bodyPr wrap="square" lIns="0" tIns="0" rIns="0" bIns="0" rtlCol="0" anchor="ctr"/>
          <a:lstStyle/>
          <a:p>
            <a:pPr indent="0" marL="0">
              <a:buNone/>
            </a:pPr>
            <a:r>
              <a:rPr lang="en-US" sz="1000" dirty="0">
                <a:solidFill>
                  <a:srgbClr val="C9D1D9"/>
                </a:solidFill>
                <a:latin typeface="Calibri" pitchFamily="34" charset="0"/>
                <a:ea typeface="Calibri" pitchFamily="34" charset="-122"/>
                <a:cs typeface="Calibri" pitchFamily="34" charset="-120"/>
              </a:rPr>
              <a:t>canvas の bounding box を取得</a:t>
            </a:r>
            <a:endParaRPr lang="en-US" sz="1000" dirty="0"/>
          </a:p>
        </p:txBody>
      </p:sp>
      <p:sp>
        <p:nvSpPr>
          <p:cNvPr id="49" name="Shape 47"/>
          <p:cNvSpPr/>
          <p:nvPr/>
        </p:nvSpPr>
        <p:spPr>
          <a:xfrm>
            <a:off x="4764024" y="4133088"/>
            <a:ext cx="0" cy="182880"/>
          </a:xfrm>
          <a:prstGeom prst="line">
            <a:avLst/>
          </a:prstGeom>
          <a:noFill/>
          <a:ln w="19050">
            <a:solidFill>
              <a:srgbClr val="30363D"/>
            </a:solidFill>
            <a:prstDash val="solid"/>
          </a:ln>
        </p:spPr>
      </p:sp>
      <p:sp>
        <p:nvSpPr>
          <p:cNvPr id="50" name="Shape 48"/>
          <p:cNvSpPr/>
          <p:nvPr/>
        </p:nvSpPr>
        <p:spPr>
          <a:xfrm>
            <a:off x="4617720" y="3858768"/>
            <a:ext cx="292608" cy="292608"/>
          </a:xfrm>
          <a:prstGeom prst="ellipse">
            <a:avLst/>
          </a:prstGeom>
          <a:solidFill>
            <a:srgbClr val="7C3AED"/>
          </a:solidFill>
          <a:ln w="12700">
            <a:solidFill>
              <a:srgbClr val="7C3AED"/>
            </a:solidFill>
            <a:prstDash val="solid"/>
          </a:ln>
        </p:spPr>
      </p:sp>
      <p:sp>
        <p:nvSpPr>
          <p:cNvPr id="51" name="Text 49"/>
          <p:cNvSpPr/>
          <p:nvPr/>
        </p:nvSpPr>
        <p:spPr>
          <a:xfrm>
            <a:off x="4617720" y="3858768"/>
            <a:ext cx="29260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6</a:t>
            </a:r>
            <a:endParaRPr lang="en-US" sz="1000" dirty="0"/>
          </a:p>
        </p:txBody>
      </p:sp>
      <p:sp>
        <p:nvSpPr>
          <p:cNvPr id="52" name="Text 50"/>
          <p:cNvSpPr/>
          <p:nvPr/>
        </p:nvSpPr>
        <p:spPr>
          <a:xfrm>
            <a:off x="5047488" y="3822192"/>
            <a:ext cx="3749040" cy="365760"/>
          </a:xfrm>
          <a:prstGeom prst="rect">
            <a:avLst/>
          </a:prstGeom>
          <a:noFill/>
          <a:ln/>
        </p:spPr>
        <p:txBody>
          <a:bodyPr wrap="square" lIns="0" tIns="0" rIns="0" bIns="0" rtlCol="0" anchor="ctr"/>
          <a:lstStyle/>
          <a:p>
            <a:pPr indent="0" marL="0">
              <a:buNone/>
            </a:pPr>
            <a:r>
              <a:rPr lang="en-US" sz="1000" dirty="0">
                <a:solidFill>
                  <a:srgbClr val="C9D1D9"/>
                </a:solidFill>
                <a:latin typeface="Calibri" pitchFamily="34" charset="0"/>
                <a:ea typeface="Calibri" pitchFamily="34" charset="-122"/>
                <a:cs typeface="Calibri" pitchFamily="34" charset="-120"/>
              </a:rPr>
              <a:t>PNG でスクショ → バイトをメモリに保持</a:t>
            </a:r>
            <a:endParaRPr lang="en-US" sz="1000" dirty="0"/>
          </a:p>
        </p:txBody>
      </p:sp>
      <p:sp>
        <p:nvSpPr>
          <p:cNvPr id="53" name="Shape 51"/>
          <p:cNvSpPr/>
          <p:nvPr/>
        </p:nvSpPr>
        <p:spPr>
          <a:xfrm>
            <a:off x="4617720" y="4315968"/>
            <a:ext cx="292608" cy="292608"/>
          </a:xfrm>
          <a:prstGeom prst="ellipse">
            <a:avLst/>
          </a:prstGeom>
          <a:solidFill>
            <a:srgbClr val="3FB950"/>
          </a:solidFill>
          <a:ln w="12700">
            <a:solidFill>
              <a:srgbClr val="3FB950"/>
            </a:solidFill>
            <a:prstDash val="solid"/>
          </a:ln>
        </p:spPr>
      </p:sp>
      <p:sp>
        <p:nvSpPr>
          <p:cNvPr id="54" name="Text 52"/>
          <p:cNvSpPr/>
          <p:nvPr/>
        </p:nvSpPr>
        <p:spPr>
          <a:xfrm>
            <a:off x="4617720" y="4315968"/>
            <a:ext cx="29260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7</a:t>
            </a:r>
            <a:endParaRPr lang="en-US" sz="1000" dirty="0"/>
          </a:p>
        </p:txBody>
      </p:sp>
      <p:sp>
        <p:nvSpPr>
          <p:cNvPr id="55" name="Text 53"/>
          <p:cNvSpPr/>
          <p:nvPr/>
        </p:nvSpPr>
        <p:spPr>
          <a:xfrm>
            <a:off x="5047488" y="4279392"/>
            <a:ext cx="3749040" cy="365760"/>
          </a:xfrm>
          <a:prstGeom prst="rect">
            <a:avLst/>
          </a:prstGeom>
          <a:noFill/>
          <a:ln/>
        </p:spPr>
        <p:txBody>
          <a:bodyPr wrap="square" lIns="0" tIns="0" rIns="0" bIns="0" rtlCol="0" anchor="ctr"/>
          <a:lstStyle/>
          <a:p>
            <a:pPr indent="0" marL="0">
              <a:buNone/>
            </a:pPr>
            <a:r>
              <a:rPr lang="en-US" sz="1000" b="1" dirty="0">
                <a:solidFill>
                  <a:srgbClr val="F0F6FC"/>
                </a:solidFill>
                <a:latin typeface="Calibri" pitchFamily="34" charset="0"/>
                <a:ea typeface="Calibri" pitchFamily="34" charset="-122"/>
                <a:cs typeface="Calibri" pitchFamily="34" charset="-120"/>
              </a:rPr>
              <a:t>base64 化して MCP レスポンスに返却</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D1117"/>
        </a:solidFill>
      </p:bgPr>
    </p:bg>
    <p:spTree>
      <p:nvGrpSpPr>
        <p:cNvPr id="1" name=""/>
        <p:cNvGrpSpPr/>
        <p:nvPr/>
      </p:nvGrpSpPr>
      <p:grpSpPr>
        <a:xfrm>
          <a:off x="0" y="0"/>
          <a:ext cx="0" cy="0"/>
          <a:chOff x="0" y="0"/>
          <a:chExt cx="0" cy="0"/>
        </a:xfrm>
      </p:grpSpPr>
      <p:sp>
        <p:nvSpPr>
          <p:cNvPr id="2" name="Shape 0"/>
          <p:cNvSpPr/>
          <p:nvPr/>
        </p:nvSpPr>
        <p:spPr>
          <a:xfrm>
            <a:off x="0" y="0"/>
            <a:ext cx="9144000" cy="50292"/>
          </a:xfrm>
          <a:prstGeom prst="rect">
            <a:avLst/>
          </a:prstGeom>
          <a:solidFill>
            <a:srgbClr val="7C3AED"/>
          </a:solidFill>
          <a:ln w="12700">
            <a:solidFill>
              <a:srgbClr val="7C3AED"/>
            </a:solidFill>
            <a:prstDash val="solid"/>
          </a:ln>
        </p:spPr>
      </p:sp>
      <p:sp>
        <p:nvSpPr>
          <p:cNvPr id="3" name="Text 1"/>
          <p:cNvSpPr/>
          <p:nvPr/>
        </p:nvSpPr>
        <p:spPr>
          <a:xfrm>
            <a:off x="411480" y="91440"/>
            <a:ext cx="8321040" cy="475488"/>
          </a:xfrm>
          <a:prstGeom prst="rect">
            <a:avLst/>
          </a:prstGeom>
          <a:noFill/>
          <a:ln/>
        </p:spPr>
        <p:txBody>
          <a:bodyPr wrap="square" lIns="0" tIns="0" rIns="0" bIns="0" rtlCol="0" anchor="ctr"/>
          <a:lstStyle/>
          <a:p>
            <a:pPr indent="0" marL="0">
              <a:buNone/>
            </a:pPr>
            <a:r>
              <a:rPr lang="en-US" sz="2100" b="1" dirty="0">
                <a:solidFill>
                  <a:srgbClr val="F0F6FC"/>
                </a:solidFill>
                <a:latin typeface="Calibri" pitchFamily="34" charset="0"/>
                <a:ea typeface="Calibri" pitchFamily="34" charset="-122"/>
                <a:cs typeface="Calibri" pitchFamily="34" charset="-120"/>
              </a:rPr>
              <a:t>Supabase の役割と本番への移行方針</a:t>
            </a:r>
            <a:endParaRPr lang="en-US" sz="2100" dirty="0"/>
          </a:p>
        </p:txBody>
      </p:sp>
      <p:sp>
        <p:nvSpPr>
          <p:cNvPr id="4" name="Shape 2"/>
          <p:cNvSpPr/>
          <p:nvPr/>
        </p:nvSpPr>
        <p:spPr>
          <a:xfrm>
            <a:off x="411480" y="658368"/>
            <a:ext cx="8321040" cy="0"/>
          </a:xfrm>
          <a:prstGeom prst="line">
            <a:avLst/>
          </a:prstGeom>
          <a:noFill/>
          <a:ln w="9525">
            <a:solidFill>
              <a:srgbClr val="30363D"/>
            </a:solidFill>
            <a:prstDash val="solid"/>
          </a:ln>
        </p:spPr>
      </p:sp>
      <p:sp>
        <p:nvSpPr>
          <p:cNvPr id="5" name="Text 3"/>
          <p:cNvSpPr/>
          <p:nvPr/>
        </p:nvSpPr>
        <p:spPr>
          <a:xfrm>
            <a:off x="411480" y="749808"/>
            <a:ext cx="8321040" cy="310896"/>
          </a:xfrm>
          <a:prstGeom prst="rect">
            <a:avLst/>
          </a:prstGeom>
          <a:noFill/>
          <a:ln/>
        </p:spPr>
        <p:txBody>
          <a:bodyPr wrap="square" lIns="0" tIns="0" rIns="0" bIns="0" rtlCol="0" anchor="ctr"/>
          <a:lstStyle/>
          <a:p>
            <a:pPr indent="0" marL="0">
              <a:buNone/>
            </a:pPr>
            <a:r>
              <a:rPr lang="en-US" sz="1100" dirty="0">
                <a:solidFill>
                  <a:srgbClr val="C9D1D9"/>
                </a:solidFill>
                <a:latin typeface="Calibri" pitchFamily="34" charset="0"/>
                <a:ea typeface="Calibri" pitchFamily="34" charset="-122"/>
                <a:cs typeface="Calibri" pitchFamily="34" charset="-120"/>
              </a:rPr>
              <a:t>Supabase は PoC 専用の足場 — Auth + Postgres + Storage の詰め合わせ。本番では会社の基盤に置き換える。</a:t>
            </a:r>
            <a:endParaRPr lang="en-US" sz="1100" dirty="0"/>
          </a:p>
        </p:txBody>
      </p:sp>
      <p:sp>
        <p:nvSpPr>
          <p:cNvPr id="6" name="Shape 4"/>
          <p:cNvSpPr/>
          <p:nvPr/>
        </p:nvSpPr>
        <p:spPr>
          <a:xfrm>
            <a:off x="411480" y="1170432"/>
            <a:ext cx="2514600" cy="1024128"/>
          </a:xfrm>
          <a:prstGeom prst="rect">
            <a:avLst/>
          </a:prstGeom>
          <a:solidFill>
            <a:srgbClr val="161B22"/>
          </a:solidFill>
          <a:ln w="12700">
            <a:solidFill>
              <a:srgbClr val="30363D"/>
            </a:solidFill>
            <a:prstDash val="solid"/>
          </a:ln>
        </p:spPr>
      </p:sp>
      <p:sp>
        <p:nvSpPr>
          <p:cNvPr id="7" name="Shape 5"/>
          <p:cNvSpPr/>
          <p:nvPr/>
        </p:nvSpPr>
        <p:spPr>
          <a:xfrm>
            <a:off x="411480" y="1170432"/>
            <a:ext cx="2514600" cy="237744"/>
          </a:xfrm>
          <a:prstGeom prst="rect">
            <a:avLst/>
          </a:prstGeom>
          <a:solidFill>
            <a:srgbClr val="2A1213"/>
          </a:solidFill>
          <a:ln w="12700">
            <a:solidFill>
              <a:srgbClr val="F85149"/>
            </a:solidFill>
            <a:prstDash val="solid"/>
          </a:ln>
        </p:spPr>
      </p:sp>
      <p:sp>
        <p:nvSpPr>
          <p:cNvPr id="8" name="Text 6"/>
          <p:cNvSpPr/>
          <p:nvPr/>
        </p:nvSpPr>
        <p:spPr>
          <a:xfrm>
            <a:off x="411480" y="1170432"/>
            <a:ext cx="2514600" cy="237744"/>
          </a:xfrm>
          <a:prstGeom prst="rect">
            <a:avLst/>
          </a:prstGeom>
          <a:noFill/>
          <a:ln/>
        </p:spPr>
        <p:txBody>
          <a:bodyPr wrap="square" lIns="0" tIns="0" rIns="0" bIns="0" rtlCol="0" anchor="ctr"/>
          <a:lstStyle/>
          <a:p>
            <a:pPr algn="ctr" indent="0" marL="0">
              <a:buNone/>
            </a:pPr>
            <a:r>
              <a:rPr lang="en-US" sz="800" b="1" spc="100" kern="0" dirty="0">
                <a:solidFill>
                  <a:srgbClr val="FF7B72"/>
                </a:solidFill>
                <a:latin typeface="Courier New" pitchFamily="34" charset="0"/>
                <a:ea typeface="Courier New" pitchFamily="34" charset="-122"/>
                <a:cs typeface="Courier New" pitchFamily="34" charset="-120"/>
              </a:rPr>
              <a:t>PoC</a:t>
            </a:r>
            <a:endParaRPr lang="en-US" sz="800" dirty="0"/>
          </a:p>
        </p:txBody>
      </p:sp>
      <p:sp>
        <p:nvSpPr>
          <p:cNvPr id="9" name="Text 7"/>
          <p:cNvSpPr/>
          <p:nvPr/>
        </p:nvSpPr>
        <p:spPr>
          <a:xfrm>
            <a:off x="512064" y="1444752"/>
            <a:ext cx="2331720" cy="694944"/>
          </a:xfrm>
          <a:prstGeom prst="rect">
            <a:avLst/>
          </a:prstGeom>
          <a:noFill/>
          <a:ln/>
        </p:spPr>
        <p:txBody>
          <a:bodyPr wrap="square" lIns="0" tIns="0" rIns="0" bIns="0" rtlCol="0" anchor="ctr"/>
          <a:lstStyle/>
          <a:p>
            <a:pPr indent="0" marL="0">
              <a:lnSpc>
                <a:spcPct val="110000"/>
              </a:lnSpc>
              <a:buNone/>
            </a:pPr>
            <a:r>
              <a:rPr lang="en-US" sz="1000" b="1" dirty="0">
                <a:solidFill>
                  <a:srgbClr val="F0F6FC"/>
                </a:solidFill>
                <a:latin typeface="Calibri" pitchFamily="34" charset="0"/>
                <a:ea typeface="Calibri" pitchFamily="34" charset="-122"/>
                <a:cs typeface="Calibri" pitchFamily="34" charset="-120"/>
              </a:rPr>
              <a:t>Supabase Auth</a:t>
            </a:r>
            <a:endParaRPr lang="en-US" sz="1000" dirty="0"/>
          </a:p>
          <a:p>
            <a:pPr indent="0" marL="0">
              <a:lnSpc>
                <a:spcPct val="110000"/>
              </a:lnSpc>
              <a:buNone/>
            </a:pPr>
            <a:r>
              <a:rPr lang="en-US" sz="1000" b="1" dirty="0">
                <a:solidFill>
                  <a:srgbClr val="F0F6FC"/>
                </a:solidFill>
                <a:latin typeface="Calibri" pitchFamily="34" charset="0"/>
                <a:ea typeface="Calibri" pitchFamily="34" charset="-122"/>
                <a:cs typeface="Calibri" pitchFamily="34" charset="-120"/>
              </a:rPr>
              <a:t>(JWT / API キー)</a:t>
            </a:r>
            <a:endParaRPr lang="en-US" sz="1000" dirty="0"/>
          </a:p>
        </p:txBody>
      </p:sp>
      <p:sp>
        <p:nvSpPr>
          <p:cNvPr id="10" name="Text 8"/>
          <p:cNvSpPr/>
          <p:nvPr/>
        </p:nvSpPr>
        <p:spPr>
          <a:xfrm>
            <a:off x="2999232" y="1499616"/>
            <a:ext cx="548640" cy="365760"/>
          </a:xfrm>
          <a:prstGeom prst="rect">
            <a:avLst/>
          </a:prstGeom>
          <a:noFill/>
          <a:ln/>
        </p:spPr>
        <p:txBody>
          <a:bodyPr wrap="square" lIns="0" tIns="0" rIns="0" bIns="0" rtlCol="0" anchor="ctr"/>
          <a:lstStyle/>
          <a:p>
            <a:pPr algn="ctr" indent="0" marL="0">
              <a:buNone/>
            </a:pPr>
            <a:r>
              <a:rPr lang="en-US" sz="1800" dirty="0">
                <a:solidFill>
                  <a:srgbClr val="A78BFA"/>
                </a:solidFill>
                <a:latin typeface="Calibri" pitchFamily="34" charset="0"/>
                <a:ea typeface="Calibri" pitchFamily="34" charset="-122"/>
                <a:cs typeface="Calibri" pitchFamily="34" charset="-120"/>
              </a:rPr>
              <a:t>→</a:t>
            </a:r>
            <a:endParaRPr lang="en-US" sz="1800" dirty="0"/>
          </a:p>
        </p:txBody>
      </p:sp>
      <p:sp>
        <p:nvSpPr>
          <p:cNvPr id="11" name="Shape 9"/>
          <p:cNvSpPr/>
          <p:nvPr/>
        </p:nvSpPr>
        <p:spPr>
          <a:xfrm>
            <a:off x="3611880" y="1170432"/>
            <a:ext cx="2148840" cy="1024128"/>
          </a:xfrm>
          <a:prstGeom prst="rect">
            <a:avLst/>
          </a:prstGeom>
          <a:solidFill>
            <a:srgbClr val="161B22"/>
          </a:solidFill>
          <a:ln w="19050">
            <a:solidFill>
              <a:srgbClr val="7C3AED"/>
            </a:solidFill>
            <a:prstDash val="solid"/>
          </a:ln>
        </p:spPr>
      </p:sp>
      <p:sp>
        <p:nvSpPr>
          <p:cNvPr id="12" name="Shape 10"/>
          <p:cNvSpPr/>
          <p:nvPr/>
        </p:nvSpPr>
        <p:spPr>
          <a:xfrm>
            <a:off x="3611880" y="1170432"/>
            <a:ext cx="2148840" cy="237744"/>
          </a:xfrm>
          <a:prstGeom prst="rect">
            <a:avLst/>
          </a:prstGeom>
          <a:solidFill>
            <a:srgbClr val="553C9A"/>
          </a:solidFill>
          <a:ln w="19050">
            <a:solidFill>
              <a:srgbClr val="7C3AED"/>
            </a:solidFill>
            <a:prstDash val="solid"/>
          </a:ln>
        </p:spPr>
      </p:sp>
      <p:sp>
        <p:nvSpPr>
          <p:cNvPr id="13" name="Text 11"/>
          <p:cNvSpPr/>
          <p:nvPr/>
        </p:nvSpPr>
        <p:spPr>
          <a:xfrm>
            <a:off x="3611880" y="1170432"/>
            <a:ext cx="2148840" cy="237744"/>
          </a:xfrm>
          <a:prstGeom prst="rect">
            <a:avLst/>
          </a:prstGeom>
          <a:noFill/>
          <a:ln/>
        </p:spPr>
        <p:txBody>
          <a:bodyPr wrap="square" lIns="0" tIns="0" rIns="0" bIns="0" rtlCol="0" anchor="ctr"/>
          <a:lstStyle/>
          <a:p>
            <a:pPr algn="ctr" indent="0" marL="0">
              <a:buNone/>
            </a:pPr>
            <a:r>
              <a:rPr lang="en-US" sz="800" b="1" spc="100" kern="0" dirty="0">
                <a:solidFill>
                  <a:srgbClr val="A78BFA"/>
                </a:solidFill>
                <a:latin typeface="Courier New" pitchFamily="34" charset="0"/>
                <a:ea typeface="Courier New" pitchFamily="34" charset="-122"/>
                <a:cs typeface="Courier New" pitchFamily="34" charset="-120"/>
              </a:rPr>
              <a:t>本番 — 最優先</a:t>
            </a:r>
            <a:endParaRPr lang="en-US" sz="800" dirty="0"/>
          </a:p>
        </p:txBody>
      </p:sp>
      <p:sp>
        <p:nvSpPr>
          <p:cNvPr id="14" name="Text 12"/>
          <p:cNvSpPr/>
          <p:nvPr/>
        </p:nvSpPr>
        <p:spPr>
          <a:xfrm>
            <a:off x="3712464" y="1444752"/>
            <a:ext cx="1965960" cy="694944"/>
          </a:xfrm>
          <a:prstGeom prst="rect">
            <a:avLst/>
          </a:prstGeom>
          <a:noFill/>
          <a:ln/>
        </p:spPr>
        <p:txBody>
          <a:bodyPr wrap="square" lIns="0" tIns="0" rIns="0" bIns="0" rtlCol="0" anchor="ctr"/>
          <a:lstStyle/>
          <a:p>
            <a:pPr indent="0" marL="0">
              <a:lnSpc>
                <a:spcPct val="110000"/>
              </a:lnSpc>
              <a:buNone/>
            </a:pPr>
            <a:r>
              <a:rPr lang="en-US" sz="1000" b="1" dirty="0">
                <a:solidFill>
                  <a:srgbClr val="F0F6FC"/>
                </a:solidFill>
                <a:latin typeface="Calibri" pitchFamily="34" charset="0"/>
                <a:ea typeface="Calibri" pitchFamily="34" charset="-122"/>
                <a:cs typeface="Calibri" pitchFamily="34" charset="-120"/>
              </a:rPr>
              <a:t>会社の IdP</a:t>
            </a:r>
            <a:endParaRPr lang="en-US" sz="1000" dirty="0"/>
          </a:p>
          <a:p>
            <a:pPr indent="0" marL="0">
              <a:lnSpc>
                <a:spcPct val="110000"/>
              </a:lnSpc>
              <a:buNone/>
            </a:pPr>
            <a:r>
              <a:rPr lang="en-US" sz="1000" b="1" dirty="0">
                <a:solidFill>
                  <a:srgbClr val="F0F6FC"/>
                </a:solidFill>
                <a:latin typeface="Calibri" pitchFamily="34" charset="0"/>
                <a:ea typeface="Calibri" pitchFamily="34" charset="-122"/>
                <a:cs typeface="Calibri" pitchFamily="34" charset="-120"/>
              </a:rPr>
              <a:t>(OIDC 統合)</a:t>
            </a:r>
            <a:endParaRPr lang="en-US" sz="1000" dirty="0"/>
          </a:p>
        </p:txBody>
      </p:sp>
      <p:sp>
        <p:nvSpPr>
          <p:cNvPr id="15" name="Text 13"/>
          <p:cNvSpPr/>
          <p:nvPr/>
        </p:nvSpPr>
        <p:spPr>
          <a:xfrm>
            <a:off x="5943600" y="1225296"/>
            <a:ext cx="2834640" cy="914400"/>
          </a:xfrm>
          <a:prstGeom prst="rect">
            <a:avLst/>
          </a:prstGeom>
          <a:noFill/>
          <a:ln/>
        </p:spPr>
        <p:txBody>
          <a:bodyPr wrap="square" lIns="0" tIns="0" rIns="0" bIns="0" rtlCol="0" anchor="ctr"/>
          <a:lstStyle/>
          <a:p>
            <a:pPr indent="0" marL="0">
              <a:lnSpc>
                <a:spcPct val="118000"/>
              </a:lnSpc>
              <a:buNone/>
            </a:pPr>
            <a:r>
              <a:rPr lang="en-US" sz="880" dirty="0">
                <a:solidFill>
                  <a:srgbClr val="8B949E"/>
                </a:solidFill>
                <a:latin typeface="Calibri" pitchFamily="34" charset="0"/>
                <a:ea typeface="Calibri" pitchFamily="34" charset="-122"/>
                <a:cs typeface="Calibri" pitchFamily="34" charset="-120"/>
              </a:rPr>
              <a:t>Azure Entra ID / Google SSO / AWS IAM。</a:t>
            </a:r>
            <a:endParaRPr lang="en-US" sz="880" dirty="0"/>
          </a:p>
          <a:p>
            <a:pPr indent="0" marL="0">
              <a:lnSpc>
                <a:spcPct val="118000"/>
              </a:lnSpc>
              <a:buNone/>
            </a:pPr>
            <a:r>
              <a:rPr lang="en-US" sz="880" dirty="0">
                <a:solidFill>
                  <a:srgbClr val="8B949E"/>
                </a:solidFill>
                <a:latin typeface="Calibri" pitchFamily="34" charset="0"/>
                <a:ea typeface="Calibri" pitchFamily="34" charset="-122"/>
                <a:cs typeface="Calibri" pitchFamily="34" charset="-120"/>
              </a:rPr>
              <a:t>どれか未確定でも OIDC 設計なら差し替え可。</a:t>
            </a:r>
            <a:endParaRPr lang="en-US" sz="880" dirty="0"/>
          </a:p>
          <a:p>
            <a:pPr indent="0" marL="0">
              <a:lnSpc>
                <a:spcPct val="118000"/>
              </a:lnSpc>
              <a:buNone/>
            </a:pPr>
            <a:r>
              <a:rPr lang="en-US" sz="880" dirty="0">
                <a:solidFill>
                  <a:srgbClr val="8B949E"/>
                </a:solidFill>
                <a:latin typeface="Calibri" pitchFamily="34" charset="0"/>
                <a:ea typeface="Calibri" pitchFamily="34" charset="-122"/>
                <a:cs typeface="Calibri" pitchFamily="34" charset="-120"/>
              </a:rPr>
              <a:t>→ 退職者の即時遮断・SSO 監査を中央管理</a:t>
            </a:r>
            <a:endParaRPr lang="en-US" sz="880" dirty="0"/>
          </a:p>
        </p:txBody>
      </p:sp>
      <p:sp>
        <p:nvSpPr>
          <p:cNvPr id="16" name="Shape 14"/>
          <p:cNvSpPr/>
          <p:nvPr/>
        </p:nvSpPr>
        <p:spPr>
          <a:xfrm>
            <a:off x="411480" y="2322576"/>
            <a:ext cx="2514600" cy="1024128"/>
          </a:xfrm>
          <a:prstGeom prst="rect">
            <a:avLst/>
          </a:prstGeom>
          <a:solidFill>
            <a:srgbClr val="161B22"/>
          </a:solidFill>
          <a:ln w="12700">
            <a:solidFill>
              <a:srgbClr val="30363D"/>
            </a:solidFill>
            <a:prstDash val="solid"/>
          </a:ln>
        </p:spPr>
      </p:sp>
      <p:sp>
        <p:nvSpPr>
          <p:cNvPr id="17" name="Shape 15"/>
          <p:cNvSpPr/>
          <p:nvPr/>
        </p:nvSpPr>
        <p:spPr>
          <a:xfrm>
            <a:off x="411480" y="2322576"/>
            <a:ext cx="2514600" cy="237744"/>
          </a:xfrm>
          <a:prstGeom prst="rect">
            <a:avLst/>
          </a:prstGeom>
          <a:solidFill>
            <a:srgbClr val="2A1213"/>
          </a:solidFill>
          <a:ln w="12700">
            <a:solidFill>
              <a:srgbClr val="F85149"/>
            </a:solidFill>
            <a:prstDash val="solid"/>
          </a:ln>
        </p:spPr>
      </p:sp>
      <p:sp>
        <p:nvSpPr>
          <p:cNvPr id="18" name="Text 16"/>
          <p:cNvSpPr/>
          <p:nvPr/>
        </p:nvSpPr>
        <p:spPr>
          <a:xfrm>
            <a:off x="411480" y="2322576"/>
            <a:ext cx="2514600" cy="237744"/>
          </a:xfrm>
          <a:prstGeom prst="rect">
            <a:avLst/>
          </a:prstGeom>
          <a:noFill/>
          <a:ln/>
        </p:spPr>
        <p:txBody>
          <a:bodyPr wrap="square" lIns="0" tIns="0" rIns="0" bIns="0" rtlCol="0" anchor="ctr"/>
          <a:lstStyle/>
          <a:p>
            <a:pPr algn="ctr" indent="0" marL="0">
              <a:buNone/>
            </a:pPr>
            <a:r>
              <a:rPr lang="en-US" sz="800" b="1" spc="100" kern="0" dirty="0">
                <a:solidFill>
                  <a:srgbClr val="FF7B72"/>
                </a:solidFill>
                <a:latin typeface="Courier New" pitchFamily="34" charset="0"/>
                <a:ea typeface="Courier New" pitchFamily="34" charset="-122"/>
                <a:cs typeface="Courier New" pitchFamily="34" charset="-120"/>
              </a:rPr>
              <a:t>PoC</a:t>
            </a:r>
            <a:endParaRPr lang="en-US" sz="800" dirty="0"/>
          </a:p>
        </p:txBody>
      </p:sp>
      <p:sp>
        <p:nvSpPr>
          <p:cNvPr id="19" name="Text 17"/>
          <p:cNvSpPr/>
          <p:nvPr/>
        </p:nvSpPr>
        <p:spPr>
          <a:xfrm>
            <a:off x="512064" y="2596896"/>
            <a:ext cx="2331720" cy="694944"/>
          </a:xfrm>
          <a:prstGeom prst="rect">
            <a:avLst/>
          </a:prstGeom>
          <a:noFill/>
          <a:ln/>
        </p:spPr>
        <p:txBody>
          <a:bodyPr wrap="square" lIns="0" tIns="0" rIns="0" bIns="0" rtlCol="0" anchor="ctr"/>
          <a:lstStyle/>
          <a:p>
            <a:pPr indent="0" marL="0">
              <a:lnSpc>
                <a:spcPct val="110000"/>
              </a:lnSpc>
              <a:buNone/>
            </a:pPr>
            <a:r>
              <a:rPr lang="en-US" sz="1000" b="1" dirty="0">
                <a:solidFill>
                  <a:srgbClr val="F0F6FC"/>
                </a:solidFill>
                <a:latin typeface="Calibri" pitchFamily="34" charset="0"/>
                <a:ea typeface="Calibri" pitchFamily="34" charset="-122"/>
                <a:cs typeface="Calibri" pitchFamily="34" charset="-120"/>
              </a:rPr>
              <a:t>Supabase Postgres</a:t>
            </a:r>
            <a:endParaRPr lang="en-US" sz="1000" dirty="0"/>
          </a:p>
          <a:p>
            <a:pPr indent="0" marL="0">
              <a:lnSpc>
                <a:spcPct val="110000"/>
              </a:lnSpc>
              <a:buNone/>
            </a:pPr>
            <a:r>
              <a:rPr lang="en-US" sz="1000" b="1" dirty="0">
                <a:solidFill>
                  <a:srgbClr val="F0F6FC"/>
                </a:solidFill>
                <a:latin typeface="Calibri" pitchFamily="34" charset="0"/>
                <a:ea typeface="Calibri" pitchFamily="34" charset="-122"/>
                <a:cs typeface="Calibri" pitchFamily="34" charset="-120"/>
              </a:rPr>
              <a:t>(索引 + 監査ログ)</a:t>
            </a:r>
            <a:endParaRPr lang="en-US" sz="1000" dirty="0"/>
          </a:p>
        </p:txBody>
      </p:sp>
      <p:sp>
        <p:nvSpPr>
          <p:cNvPr id="20" name="Text 18"/>
          <p:cNvSpPr/>
          <p:nvPr/>
        </p:nvSpPr>
        <p:spPr>
          <a:xfrm>
            <a:off x="2999232" y="2651760"/>
            <a:ext cx="548640" cy="365760"/>
          </a:xfrm>
          <a:prstGeom prst="rect">
            <a:avLst/>
          </a:prstGeom>
          <a:noFill/>
          <a:ln/>
        </p:spPr>
        <p:txBody>
          <a:bodyPr wrap="square" lIns="0" tIns="0" rIns="0" bIns="0" rtlCol="0" anchor="ctr"/>
          <a:lstStyle/>
          <a:p>
            <a:pPr algn="ctr" indent="0" marL="0">
              <a:buNone/>
            </a:pPr>
            <a:r>
              <a:rPr lang="en-US" sz="1800" dirty="0">
                <a:solidFill>
                  <a:srgbClr val="A78BFA"/>
                </a:solidFill>
                <a:latin typeface="Calibri" pitchFamily="34" charset="0"/>
                <a:ea typeface="Calibri" pitchFamily="34" charset="-122"/>
                <a:cs typeface="Calibri" pitchFamily="34" charset="-120"/>
              </a:rPr>
              <a:t>→</a:t>
            </a:r>
            <a:endParaRPr lang="en-US" sz="1800" dirty="0"/>
          </a:p>
        </p:txBody>
      </p:sp>
      <p:sp>
        <p:nvSpPr>
          <p:cNvPr id="21" name="Shape 19"/>
          <p:cNvSpPr/>
          <p:nvPr/>
        </p:nvSpPr>
        <p:spPr>
          <a:xfrm>
            <a:off x="3611880" y="2322576"/>
            <a:ext cx="2148840" cy="1024128"/>
          </a:xfrm>
          <a:prstGeom prst="rect">
            <a:avLst/>
          </a:prstGeom>
          <a:solidFill>
            <a:srgbClr val="161B22"/>
          </a:solidFill>
          <a:ln w="12700">
            <a:solidFill>
              <a:srgbClr val="30363D"/>
            </a:solidFill>
            <a:prstDash val="solid"/>
          </a:ln>
        </p:spPr>
      </p:sp>
      <p:sp>
        <p:nvSpPr>
          <p:cNvPr id="22" name="Shape 20"/>
          <p:cNvSpPr/>
          <p:nvPr/>
        </p:nvSpPr>
        <p:spPr>
          <a:xfrm>
            <a:off x="3611880" y="2322576"/>
            <a:ext cx="2148840" cy="237744"/>
          </a:xfrm>
          <a:prstGeom prst="rect">
            <a:avLst/>
          </a:prstGeom>
          <a:solidFill>
            <a:srgbClr val="1C2128"/>
          </a:solidFill>
          <a:ln w="12700">
            <a:solidFill>
              <a:srgbClr val="30363D"/>
            </a:solidFill>
            <a:prstDash val="solid"/>
          </a:ln>
        </p:spPr>
      </p:sp>
      <p:sp>
        <p:nvSpPr>
          <p:cNvPr id="23" name="Text 21"/>
          <p:cNvSpPr/>
          <p:nvPr/>
        </p:nvSpPr>
        <p:spPr>
          <a:xfrm>
            <a:off x="3611880" y="2322576"/>
            <a:ext cx="2148840" cy="237744"/>
          </a:xfrm>
          <a:prstGeom prst="rect">
            <a:avLst/>
          </a:prstGeom>
          <a:noFill/>
          <a:ln/>
        </p:spPr>
        <p:txBody>
          <a:bodyPr wrap="square" lIns="0" tIns="0" rIns="0" bIns="0" rtlCol="0" anchor="ctr"/>
          <a:lstStyle/>
          <a:p>
            <a:pPr algn="ctr" indent="0" marL="0">
              <a:buNone/>
            </a:pPr>
            <a:r>
              <a:rPr lang="en-US" sz="800" b="1" spc="100" kern="0" dirty="0">
                <a:solidFill>
                  <a:srgbClr val="8B949E"/>
                </a:solidFill>
                <a:latin typeface="Courier New" pitchFamily="34" charset="0"/>
                <a:ea typeface="Courier New" pitchFamily="34" charset="-122"/>
                <a:cs typeface="Courier New" pitchFamily="34" charset="-120"/>
              </a:rPr>
              <a:t>本番</a:t>
            </a:r>
            <a:endParaRPr lang="en-US" sz="800" dirty="0"/>
          </a:p>
        </p:txBody>
      </p:sp>
      <p:sp>
        <p:nvSpPr>
          <p:cNvPr id="24" name="Text 22"/>
          <p:cNvSpPr/>
          <p:nvPr/>
        </p:nvSpPr>
        <p:spPr>
          <a:xfrm>
            <a:off x="3712464" y="2596896"/>
            <a:ext cx="1965960" cy="694944"/>
          </a:xfrm>
          <a:prstGeom prst="rect">
            <a:avLst/>
          </a:prstGeom>
          <a:noFill/>
          <a:ln/>
        </p:spPr>
        <p:txBody>
          <a:bodyPr wrap="square" lIns="0" tIns="0" rIns="0" bIns="0" rtlCol="0" anchor="ctr"/>
          <a:lstStyle/>
          <a:p>
            <a:pPr indent="0" marL="0">
              <a:lnSpc>
                <a:spcPct val="110000"/>
              </a:lnSpc>
              <a:buNone/>
            </a:pPr>
            <a:r>
              <a:rPr lang="en-US" sz="1000" b="1" dirty="0">
                <a:solidFill>
                  <a:srgbClr val="C9D1D9"/>
                </a:solidFill>
                <a:latin typeface="Calibri" pitchFamily="34" charset="0"/>
                <a:ea typeface="Calibri" pitchFamily="34" charset="-122"/>
                <a:cs typeface="Calibri" pitchFamily="34" charset="-120"/>
              </a:rPr>
              <a:t>会社の DB /</a:t>
            </a:r>
            <a:endParaRPr lang="en-US" sz="1000" dirty="0"/>
          </a:p>
          <a:p>
            <a:pPr indent="0" marL="0">
              <a:lnSpc>
                <a:spcPct val="110000"/>
              </a:lnSpc>
              <a:buNone/>
            </a:pPr>
            <a:r>
              <a:rPr lang="en-US" sz="1000" b="1" dirty="0">
                <a:solidFill>
                  <a:srgbClr val="C9D1D9"/>
                </a:solidFill>
                <a:latin typeface="Calibri" pitchFamily="34" charset="0"/>
                <a:ea typeface="Calibri" pitchFamily="34" charset="-122"/>
                <a:cs typeface="Calibri" pitchFamily="34" charset="-120"/>
              </a:rPr>
              <a:t>ログ基盤</a:t>
            </a:r>
            <a:endParaRPr lang="en-US" sz="1000" dirty="0"/>
          </a:p>
        </p:txBody>
      </p:sp>
      <p:sp>
        <p:nvSpPr>
          <p:cNvPr id="25" name="Text 23"/>
          <p:cNvSpPr/>
          <p:nvPr/>
        </p:nvSpPr>
        <p:spPr>
          <a:xfrm>
            <a:off x="5943600" y="2377440"/>
            <a:ext cx="2834640" cy="914400"/>
          </a:xfrm>
          <a:prstGeom prst="rect">
            <a:avLst/>
          </a:prstGeom>
          <a:noFill/>
          <a:ln/>
        </p:spPr>
        <p:txBody>
          <a:bodyPr wrap="square" lIns="0" tIns="0" rIns="0" bIns="0" rtlCol="0" anchor="ctr"/>
          <a:lstStyle/>
          <a:p>
            <a:pPr indent="0" marL="0">
              <a:lnSpc>
                <a:spcPct val="118000"/>
              </a:lnSpc>
              <a:buNone/>
            </a:pPr>
            <a:r>
              <a:rPr lang="en-US" sz="880" dirty="0">
                <a:solidFill>
                  <a:srgbClr val="8B949E"/>
                </a:solidFill>
                <a:latin typeface="Calibri" pitchFamily="34" charset="0"/>
                <a:ea typeface="Calibri" pitchFamily="34" charset="-122"/>
                <a:cs typeface="Calibri" pitchFamily="34" charset="-120"/>
              </a:rPr>
              <a:t>RDS / Azure Database / Cloud SQL。</a:t>
            </a:r>
            <a:endParaRPr lang="en-US" sz="880" dirty="0"/>
          </a:p>
          <a:p>
            <a:pPr indent="0" marL="0">
              <a:lnSpc>
                <a:spcPct val="118000"/>
              </a:lnSpc>
              <a:buNone/>
            </a:pPr>
            <a:r>
              <a:rPr lang="en-US" sz="880" dirty="0">
                <a:solidFill>
                  <a:srgbClr val="8B949E"/>
                </a:solidFill>
                <a:latin typeface="Calibri" pitchFamily="34" charset="0"/>
                <a:ea typeface="Calibri" pitchFamily="34" charset="-122"/>
                <a:cs typeface="Calibri" pitchFamily="34" charset="-120"/>
              </a:rPr>
              <a:t>監査要件がなければ省略も可。</a:t>
            </a:r>
            <a:endParaRPr lang="en-US" sz="880" dirty="0"/>
          </a:p>
          <a:p>
            <a:pPr indent="0" marL="0">
              <a:lnSpc>
                <a:spcPct val="118000"/>
              </a:lnSpc>
              <a:buNone/>
            </a:pPr>
            <a:r>
              <a:rPr lang="en-US" sz="880" dirty="0">
                <a:solidFill>
                  <a:srgbClr val="8B949E"/>
                </a:solidFill>
                <a:latin typeface="Calibri" pitchFamily="34" charset="0"/>
                <a:ea typeface="Calibri" pitchFamily="34" charset="-122"/>
                <a:cs typeface="Calibri" pitchFamily="34" charset="-120"/>
              </a:rPr>
              <a:t>→ 既存 SIEM にログを流す方法が◎</a:t>
            </a:r>
            <a:endParaRPr lang="en-US" sz="880" dirty="0"/>
          </a:p>
        </p:txBody>
      </p:sp>
      <p:sp>
        <p:nvSpPr>
          <p:cNvPr id="26" name="Shape 24"/>
          <p:cNvSpPr/>
          <p:nvPr/>
        </p:nvSpPr>
        <p:spPr>
          <a:xfrm>
            <a:off x="411480" y="3474720"/>
            <a:ext cx="2514600" cy="1024128"/>
          </a:xfrm>
          <a:prstGeom prst="rect">
            <a:avLst/>
          </a:prstGeom>
          <a:solidFill>
            <a:srgbClr val="161B22"/>
          </a:solidFill>
          <a:ln w="12700">
            <a:solidFill>
              <a:srgbClr val="30363D"/>
            </a:solidFill>
            <a:prstDash val="solid"/>
          </a:ln>
        </p:spPr>
      </p:sp>
      <p:sp>
        <p:nvSpPr>
          <p:cNvPr id="27" name="Shape 25"/>
          <p:cNvSpPr/>
          <p:nvPr/>
        </p:nvSpPr>
        <p:spPr>
          <a:xfrm>
            <a:off x="411480" y="3474720"/>
            <a:ext cx="2514600" cy="237744"/>
          </a:xfrm>
          <a:prstGeom prst="rect">
            <a:avLst/>
          </a:prstGeom>
          <a:solidFill>
            <a:srgbClr val="2A1213"/>
          </a:solidFill>
          <a:ln w="12700">
            <a:solidFill>
              <a:srgbClr val="F85149"/>
            </a:solidFill>
            <a:prstDash val="solid"/>
          </a:ln>
        </p:spPr>
      </p:sp>
      <p:sp>
        <p:nvSpPr>
          <p:cNvPr id="28" name="Text 26"/>
          <p:cNvSpPr/>
          <p:nvPr/>
        </p:nvSpPr>
        <p:spPr>
          <a:xfrm>
            <a:off x="411480" y="3474720"/>
            <a:ext cx="2514600" cy="237744"/>
          </a:xfrm>
          <a:prstGeom prst="rect">
            <a:avLst/>
          </a:prstGeom>
          <a:noFill/>
          <a:ln/>
        </p:spPr>
        <p:txBody>
          <a:bodyPr wrap="square" lIns="0" tIns="0" rIns="0" bIns="0" rtlCol="0" anchor="ctr"/>
          <a:lstStyle/>
          <a:p>
            <a:pPr algn="ctr" indent="0" marL="0">
              <a:buNone/>
            </a:pPr>
            <a:r>
              <a:rPr lang="en-US" sz="800" b="1" spc="100" kern="0" dirty="0">
                <a:solidFill>
                  <a:srgbClr val="FF7B72"/>
                </a:solidFill>
                <a:latin typeface="Courier New" pitchFamily="34" charset="0"/>
                <a:ea typeface="Courier New" pitchFamily="34" charset="-122"/>
                <a:cs typeface="Courier New" pitchFamily="34" charset="-120"/>
              </a:rPr>
              <a:t>PoC</a:t>
            </a:r>
            <a:endParaRPr lang="en-US" sz="800" dirty="0"/>
          </a:p>
        </p:txBody>
      </p:sp>
      <p:sp>
        <p:nvSpPr>
          <p:cNvPr id="29" name="Text 27"/>
          <p:cNvSpPr/>
          <p:nvPr/>
        </p:nvSpPr>
        <p:spPr>
          <a:xfrm>
            <a:off x="512064" y="3749040"/>
            <a:ext cx="2331720" cy="694944"/>
          </a:xfrm>
          <a:prstGeom prst="rect">
            <a:avLst/>
          </a:prstGeom>
          <a:noFill/>
          <a:ln/>
        </p:spPr>
        <p:txBody>
          <a:bodyPr wrap="square" lIns="0" tIns="0" rIns="0" bIns="0" rtlCol="0" anchor="ctr"/>
          <a:lstStyle/>
          <a:p>
            <a:pPr indent="0" marL="0">
              <a:lnSpc>
                <a:spcPct val="110000"/>
              </a:lnSpc>
              <a:buNone/>
            </a:pPr>
            <a:r>
              <a:rPr lang="en-US" sz="1000" b="1" dirty="0">
                <a:solidFill>
                  <a:srgbClr val="F0F6FC"/>
                </a:solidFill>
                <a:latin typeface="Calibri" pitchFamily="34" charset="0"/>
                <a:ea typeface="Calibri" pitchFamily="34" charset="-122"/>
                <a:cs typeface="Calibri" pitchFamily="34" charset="-120"/>
              </a:rPr>
              <a:t>Supabase Storage</a:t>
            </a:r>
            <a:endParaRPr lang="en-US" sz="1000" dirty="0"/>
          </a:p>
          <a:p>
            <a:pPr indent="0" marL="0">
              <a:lnSpc>
                <a:spcPct val="110000"/>
              </a:lnSpc>
              <a:buNone/>
            </a:pPr>
            <a:r>
              <a:rPr lang="en-US" sz="1000" b="1" dirty="0">
                <a:solidFill>
                  <a:srgbClr val="F0F6FC"/>
                </a:solidFill>
                <a:latin typeface="Calibri" pitchFamily="34" charset="0"/>
                <a:ea typeface="Calibri" pitchFamily="34" charset="-122"/>
                <a:cs typeface="Calibri" pitchFamily="34" charset="-120"/>
              </a:rPr>
              <a:t>(PNG キャッシュ)</a:t>
            </a:r>
            <a:endParaRPr lang="en-US" sz="1000" dirty="0"/>
          </a:p>
        </p:txBody>
      </p:sp>
      <p:sp>
        <p:nvSpPr>
          <p:cNvPr id="30" name="Text 28"/>
          <p:cNvSpPr/>
          <p:nvPr/>
        </p:nvSpPr>
        <p:spPr>
          <a:xfrm>
            <a:off x="2999232" y="3803904"/>
            <a:ext cx="548640" cy="365760"/>
          </a:xfrm>
          <a:prstGeom prst="rect">
            <a:avLst/>
          </a:prstGeom>
          <a:noFill/>
          <a:ln/>
        </p:spPr>
        <p:txBody>
          <a:bodyPr wrap="square" lIns="0" tIns="0" rIns="0" bIns="0" rtlCol="0" anchor="ctr"/>
          <a:lstStyle/>
          <a:p>
            <a:pPr algn="ctr" indent="0" marL="0">
              <a:buNone/>
            </a:pPr>
            <a:r>
              <a:rPr lang="en-US" sz="1800" dirty="0">
                <a:solidFill>
                  <a:srgbClr val="A78BFA"/>
                </a:solidFill>
                <a:latin typeface="Calibri" pitchFamily="34" charset="0"/>
                <a:ea typeface="Calibri" pitchFamily="34" charset="-122"/>
                <a:cs typeface="Calibri" pitchFamily="34" charset="-120"/>
              </a:rPr>
              <a:t>→</a:t>
            </a:r>
            <a:endParaRPr lang="en-US" sz="1800" dirty="0"/>
          </a:p>
        </p:txBody>
      </p:sp>
      <p:sp>
        <p:nvSpPr>
          <p:cNvPr id="31" name="Shape 29"/>
          <p:cNvSpPr/>
          <p:nvPr/>
        </p:nvSpPr>
        <p:spPr>
          <a:xfrm>
            <a:off x="3611880" y="3474720"/>
            <a:ext cx="2148840" cy="1024128"/>
          </a:xfrm>
          <a:prstGeom prst="rect">
            <a:avLst/>
          </a:prstGeom>
          <a:solidFill>
            <a:srgbClr val="161B22"/>
          </a:solidFill>
          <a:ln w="12700">
            <a:solidFill>
              <a:srgbClr val="30363D"/>
            </a:solidFill>
            <a:prstDash val="solid"/>
          </a:ln>
        </p:spPr>
      </p:sp>
      <p:sp>
        <p:nvSpPr>
          <p:cNvPr id="32" name="Shape 30"/>
          <p:cNvSpPr/>
          <p:nvPr/>
        </p:nvSpPr>
        <p:spPr>
          <a:xfrm>
            <a:off x="3611880" y="3474720"/>
            <a:ext cx="2148840" cy="237744"/>
          </a:xfrm>
          <a:prstGeom prst="rect">
            <a:avLst/>
          </a:prstGeom>
          <a:solidFill>
            <a:srgbClr val="1C2128"/>
          </a:solidFill>
          <a:ln w="12700">
            <a:solidFill>
              <a:srgbClr val="30363D"/>
            </a:solidFill>
            <a:prstDash val="solid"/>
          </a:ln>
        </p:spPr>
      </p:sp>
      <p:sp>
        <p:nvSpPr>
          <p:cNvPr id="33" name="Text 31"/>
          <p:cNvSpPr/>
          <p:nvPr/>
        </p:nvSpPr>
        <p:spPr>
          <a:xfrm>
            <a:off x="3611880" y="3474720"/>
            <a:ext cx="2148840" cy="237744"/>
          </a:xfrm>
          <a:prstGeom prst="rect">
            <a:avLst/>
          </a:prstGeom>
          <a:noFill/>
          <a:ln/>
        </p:spPr>
        <p:txBody>
          <a:bodyPr wrap="square" lIns="0" tIns="0" rIns="0" bIns="0" rtlCol="0" anchor="ctr"/>
          <a:lstStyle/>
          <a:p>
            <a:pPr algn="ctr" indent="0" marL="0">
              <a:buNone/>
            </a:pPr>
            <a:r>
              <a:rPr lang="en-US" sz="800" b="1" spc="100" kern="0" dirty="0">
                <a:solidFill>
                  <a:srgbClr val="8B949E"/>
                </a:solidFill>
                <a:latin typeface="Courier New" pitchFamily="34" charset="0"/>
                <a:ea typeface="Courier New" pitchFamily="34" charset="-122"/>
                <a:cs typeface="Courier New" pitchFamily="34" charset="-120"/>
              </a:rPr>
              <a:t>本番</a:t>
            </a:r>
            <a:endParaRPr lang="en-US" sz="800" dirty="0"/>
          </a:p>
        </p:txBody>
      </p:sp>
      <p:sp>
        <p:nvSpPr>
          <p:cNvPr id="34" name="Text 32"/>
          <p:cNvSpPr/>
          <p:nvPr/>
        </p:nvSpPr>
        <p:spPr>
          <a:xfrm>
            <a:off x="3712464" y="3749040"/>
            <a:ext cx="1965960" cy="694944"/>
          </a:xfrm>
          <a:prstGeom prst="rect">
            <a:avLst/>
          </a:prstGeom>
          <a:noFill/>
          <a:ln/>
        </p:spPr>
        <p:txBody>
          <a:bodyPr wrap="square" lIns="0" tIns="0" rIns="0" bIns="0" rtlCol="0" anchor="ctr"/>
          <a:lstStyle/>
          <a:p>
            <a:pPr indent="0" marL="0">
              <a:lnSpc>
                <a:spcPct val="110000"/>
              </a:lnSpc>
              <a:buNone/>
            </a:pPr>
            <a:r>
              <a:rPr lang="en-US" sz="1000" b="1" dirty="0">
                <a:solidFill>
                  <a:srgbClr val="C9D1D9"/>
                </a:solidFill>
                <a:latin typeface="Calibri" pitchFamily="34" charset="0"/>
                <a:ea typeface="Calibri" pitchFamily="34" charset="-122"/>
                <a:cs typeface="Calibri" pitchFamily="34" charset="-120"/>
              </a:rPr>
              <a:t>プライベート</a:t>
            </a:r>
            <a:endParaRPr lang="en-US" sz="1000" dirty="0"/>
          </a:p>
          <a:p>
            <a:pPr indent="0" marL="0">
              <a:lnSpc>
                <a:spcPct val="110000"/>
              </a:lnSpc>
              <a:buNone/>
            </a:pPr>
            <a:r>
              <a:rPr lang="en-US" sz="1000" b="1" dirty="0">
                <a:solidFill>
                  <a:srgbClr val="C9D1D9"/>
                </a:solidFill>
                <a:latin typeface="Calibri" pitchFamily="34" charset="0"/>
                <a:ea typeface="Calibri" pitchFamily="34" charset="-122"/>
                <a:cs typeface="Calibri" pitchFamily="34" charset="-120"/>
              </a:rPr>
              <a:t>Blob ストレージ</a:t>
            </a:r>
            <a:endParaRPr lang="en-US" sz="1000" dirty="0"/>
          </a:p>
        </p:txBody>
      </p:sp>
      <p:sp>
        <p:nvSpPr>
          <p:cNvPr id="35" name="Text 33"/>
          <p:cNvSpPr/>
          <p:nvPr/>
        </p:nvSpPr>
        <p:spPr>
          <a:xfrm>
            <a:off x="5943600" y="3529584"/>
            <a:ext cx="2834640" cy="914400"/>
          </a:xfrm>
          <a:prstGeom prst="rect">
            <a:avLst/>
          </a:prstGeom>
          <a:noFill/>
          <a:ln/>
        </p:spPr>
        <p:txBody>
          <a:bodyPr wrap="square" lIns="0" tIns="0" rIns="0" bIns="0" rtlCol="0" anchor="ctr"/>
          <a:lstStyle/>
          <a:p>
            <a:pPr indent="0" marL="0">
              <a:lnSpc>
                <a:spcPct val="118000"/>
              </a:lnSpc>
              <a:buNone/>
            </a:pPr>
            <a:r>
              <a:rPr lang="en-US" sz="880" dirty="0">
                <a:solidFill>
                  <a:srgbClr val="8B949E"/>
                </a:solidFill>
                <a:latin typeface="Calibri" pitchFamily="34" charset="0"/>
                <a:ea typeface="Calibri" pitchFamily="34" charset="-122"/>
                <a:cs typeface="Calibri" pitchFamily="34" charset="-120"/>
              </a:rPr>
              <a:t>S3 / Azure Blob / GCS。</a:t>
            </a:r>
            <a:endParaRPr lang="en-US" sz="880" dirty="0"/>
          </a:p>
          <a:p>
            <a:pPr indent="0" marL="0">
              <a:lnSpc>
                <a:spcPct val="118000"/>
              </a:lnSpc>
              <a:buNone/>
            </a:pPr>
            <a:r>
              <a:rPr lang="en-US" sz="880" dirty="0">
                <a:solidFill>
                  <a:srgbClr val="8B949E"/>
                </a:solidFill>
                <a:latin typeface="Calibri" pitchFamily="34" charset="0"/>
                <a:ea typeface="Calibri" pitchFamily="34" charset="-122"/>
                <a:cs typeface="Calibri" pitchFamily="34" charset="-120"/>
              </a:rPr>
              <a:t>小規模チームならコンテナのローカル</a:t>
            </a:r>
            <a:endParaRPr lang="en-US" sz="880" dirty="0"/>
          </a:p>
          <a:p>
            <a:pPr indent="0" marL="0">
              <a:lnSpc>
                <a:spcPct val="118000"/>
              </a:lnSpc>
              <a:buNone/>
            </a:pPr>
            <a:r>
              <a:rPr lang="en-US" sz="880" dirty="0">
                <a:solidFill>
                  <a:srgbClr val="8B949E"/>
                </a:solidFill>
                <a:latin typeface="Calibri" pitchFamily="34" charset="0"/>
                <a:ea typeface="Calibri" pitchFamily="34" charset="-122"/>
                <a:cs typeface="Calibri" pitchFamily="34" charset="-120"/>
              </a:rPr>
              <a:t>ディスクキャッシュでも成立</a:t>
            </a:r>
            <a:endParaRPr lang="en-US" sz="880" dirty="0"/>
          </a:p>
        </p:txBody>
      </p:sp>
      <p:sp>
        <p:nvSpPr>
          <p:cNvPr id="36" name="Shape 34"/>
          <p:cNvSpPr/>
          <p:nvPr/>
        </p:nvSpPr>
        <p:spPr>
          <a:xfrm>
            <a:off x="411480" y="4663440"/>
            <a:ext cx="8321040" cy="329184"/>
          </a:xfrm>
          <a:prstGeom prst="rect">
            <a:avLst/>
          </a:prstGeom>
          <a:solidFill>
            <a:srgbClr val="161B22"/>
          </a:solidFill>
          <a:ln w="12700">
            <a:solidFill>
              <a:srgbClr val="30363D"/>
            </a:solidFill>
            <a:prstDash val="solid"/>
          </a:ln>
        </p:spPr>
      </p:sp>
      <p:sp>
        <p:nvSpPr>
          <p:cNvPr id="37" name="Shape 35"/>
          <p:cNvSpPr/>
          <p:nvPr/>
        </p:nvSpPr>
        <p:spPr>
          <a:xfrm>
            <a:off x="411480" y="4663440"/>
            <a:ext cx="82296" cy="329184"/>
          </a:xfrm>
          <a:prstGeom prst="rect">
            <a:avLst/>
          </a:prstGeom>
          <a:solidFill>
            <a:srgbClr val="7C3AED"/>
          </a:solidFill>
          <a:ln w="12700">
            <a:solidFill>
              <a:srgbClr val="7C3AED"/>
            </a:solidFill>
            <a:prstDash val="solid"/>
          </a:ln>
        </p:spPr>
      </p:sp>
      <p:sp>
        <p:nvSpPr>
          <p:cNvPr id="38" name="Text 36"/>
          <p:cNvSpPr/>
          <p:nvPr/>
        </p:nvSpPr>
        <p:spPr>
          <a:xfrm>
            <a:off x="621792" y="4663440"/>
            <a:ext cx="8046720" cy="329184"/>
          </a:xfrm>
          <a:prstGeom prst="rect">
            <a:avLst/>
          </a:prstGeom>
          <a:noFill/>
          <a:ln/>
        </p:spPr>
        <p:txBody>
          <a:bodyPr wrap="square" lIns="0" tIns="0" rIns="0" bIns="0" rtlCol="0" anchor="ctr"/>
          <a:lstStyle/>
          <a:p>
            <a:pPr indent="0" marL="0">
              <a:buNone/>
            </a:pPr>
            <a:r>
              <a:rPr lang="en-US" sz="950" dirty="0">
                <a:solidFill>
                  <a:srgbClr val="A78BFA"/>
                </a:solidFill>
                <a:latin typeface="Calibri" pitchFamily="34" charset="0"/>
                <a:ea typeface="Calibri" pitchFamily="34" charset="-122"/>
                <a:cs typeface="Calibri" pitchFamily="34" charset="-120"/>
              </a:rPr>
              <a:t>現在 Fly.io + Supabase で検証中。社内環境へのアクセス権取得後、会社の基盤に移植予定。</a:t>
            </a:r>
            <a:endParaRPr lang="en-US" sz="9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D1117"/>
        </a:solidFill>
      </p:bgPr>
    </p:bg>
    <p:spTree>
      <p:nvGrpSpPr>
        <p:cNvPr id="1" name=""/>
        <p:cNvGrpSpPr/>
        <p:nvPr/>
      </p:nvGrpSpPr>
      <p:grpSpPr>
        <a:xfrm>
          <a:off x="0" y="0"/>
          <a:ext cx="0" cy="0"/>
          <a:chOff x="0" y="0"/>
          <a:chExt cx="0" cy="0"/>
        </a:xfrm>
      </p:grpSpPr>
      <p:sp>
        <p:nvSpPr>
          <p:cNvPr id="2" name="Shape 0"/>
          <p:cNvSpPr/>
          <p:nvPr/>
        </p:nvSpPr>
        <p:spPr>
          <a:xfrm>
            <a:off x="0" y="0"/>
            <a:ext cx="9144000" cy="50292"/>
          </a:xfrm>
          <a:prstGeom prst="rect">
            <a:avLst/>
          </a:prstGeom>
          <a:solidFill>
            <a:srgbClr val="7C3AED"/>
          </a:solidFill>
          <a:ln w="12700">
            <a:solidFill>
              <a:srgbClr val="7C3AED"/>
            </a:solidFill>
            <a:prstDash val="solid"/>
          </a:ln>
        </p:spPr>
      </p:sp>
      <p:sp>
        <p:nvSpPr>
          <p:cNvPr id="3" name="Text 1"/>
          <p:cNvSpPr/>
          <p:nvPr/>
        </p:nvSpPr>
        <p:spPr>
          <a:xfrm>
            <a:off x="411480" y="91440"/>
            <a:ext cx="8321040" cy="475488"/>
          </a:xfrm>
          <a:prstGeom prst="rect">
            <a:avLst/>
          </a:prstGeom>
          <a:noFill/>
          <a:ln/>
        </p:spPr>
        <p:txBody>
          <a:bodyPr wrap="square" lIns="0" tIns="0" rIns="0" bIns="0" rtlCol="0" anchor="ctr"/>
          <a:lstStyle/>
          <a:p>
            <a:pPr indent="0" marL="0">
              <a:buNone/>
            </a:pPr>
            <a:r>
              <a:rPr lang="en-US" sz="2100" b="1" dirty="0">
                <a:solidFill>
                  <a:srgbClr val="F0F6FC"/>
                </a:solidFill>
                <a:latin typeface="Calibri" pitchFamily="34" charset="0"/>
                <a:ea typeface="Calibri" pitchFamily="34" charset="-122"/>
                <a:cs typeface="Calibri" pitchFamily="34" charset="-120"/>
              </a:rPr>
              <a:t>デプロイ構成 — PoC → 本番 移行マップ</a:t>
            </a:r>
            <a:endParaRPr lang="en-US" sz="2100" dirty="0"/>
          </a:p>
        </p:txBody>
      </p:sp>
      <p:sp>
        <p:nvSpPr>
          <p:cNvPr id="4" name="Shape 2"/>
          <p:cNvSpPr/>
          <p:nvPr/>
        </p:nvSpPr>
        <p:spPr>
          <a:xfrm>
            <a:off x="411480" y="658368"/>
            <a:ext cx="8321040" cy="0"/>
          </a:xfrm>
          <a:prstGeom prst="line">
            <a:avLst/>
          </a:prstGeom>
          <a:noFill/>
          <a:ln w="9525">
            <a:solidFill>
              <a:srgbClr val="30363D"/>
            </a:solidFill>
            <a:prstDash val="solid"/>
          </a:ln>
        </p:spPr>
      </p:sp>
      <p:sp>
        <p:nvSpPr>
          <p:cNvPr id="5" name="Shape 3"/>
          <p:cNvSpPr/>
          <p:nvPr/>
        </p:nvSpPr>
        <p:spPr>
          <a:xfrm>
            <a:off x="1965960" y="841248"/>
            <a:ext cx="3017520" cy="329184"/>
          </a:xfrm>
          <a:prstGeom prst="rect">
            <a:avLst/>
          </a:prstGeom>
          <a:solidFill>
            <a:srgbClr val="1C2128"/>
          </a:solidFill>
          <a:ln w="12700">
            <a:solidFill>
              <a:srgbClr val="30363D"/>
            </a:solidFill>
            <a:prstDash val="solid"/>
          </a:ln>
        </p:spPr>
      </p:sp>
      <p:sp>
        <p:nvSpPr>
          <p:cNvPr id="6" name="Text 4"/>
          <p:cNvSpPr/>
          <p:nvPr/>
        </p:nvSpPr>
        <p:spPr>
          <a:xfrm>
            <a:off x="1965960" y="841248"/>
            <a:ext cx="3017520" cy="329184"/>
          </a:xfrm>
          <a:prstGeom prst="rect">
            <a:avLst/>
          </a:prstGeom>
          <a:noFill/>
          <a:ln/>
        </p:spPr>
        <p:txBody>
          <a:bodyPr wrap="square" lIns="0" tIns="0" rIns="0" bIns="0" rtlCol="0" anchor="ctr"/>
          <a:lstStyle/>
          <a:p>
            <a:pPr algn="ctr" indent="0" marL="0">
              <a:buNone/>
            </a:pPr>
            <a:r>
              <a:rPr lang="en-US" sz="1000" b="1" dirty="0">
                <a:solidFill>
                  <a:srgbClr val="C9D1D9"/>
                </a:solidFill>
                <a:latin typeface="Calibri" pitchFamily="34" charset="0"/>
                <a:ea typeface="Calibri" pitchFamily="34" charset="-122"/>
                <a:cs typeface="Calibri" pitchFamily="34" charset="-120"/>
              </a:rPr>
              <a:t>PoC (検証用) — Fly.io / Supabase</a:t>
            </a:r>
            <a:endParaRPr lang="en-US" sz="1000" dirty="0"/>
          </a:p>
        </p:txBody>
      </p:sp>
      <p:sp>
        <p:nvSpPr>
          <p:cNvPr id="7" name="Shape 5"/>
          <p:cNvSpPr/>
          <p:nvPr/>
        </p:nvSpPr>
        <p:spPr>
          <a:xfrm>
            <a:off x="5166360" y="841248"/>
            <a:ext cx="3566160" cy="329184"/>
          </a:xfrm>
          <a:prstGeom prst="rect">
            <a:avLst/>
          </a:prstGeom>
          <a:solidFill>
            <a:srgbClr val="553C9A"/>
          </a:solidFill>
          <a:ln w="12700">
            <a:solidFill>
              <a:srgbClr val="7C3AED"/>
            </a:solidFill>
            <a:prstDash val="solid"/>
          </a:ln>
        </p:spPr>
      </p:sp>
      <p:sp>
        <p:nvSpPr>
          <p:cNvPr id="8" name="Text 6"/>
          <p:cNvSpPr/>
          <p:nvPr/>
        </p:nvSpPr>
        <p:spPr>
          <a:xfrm>
            <a:off x="5166360" y="841248"/>
            <a:ext cx="3566160" cy="329184"/>
          </a:xfrm>
          <a:prstGeom prst="rect">
            <a:avLst/>
          </a:prstGeom>
          <a:noFill/>
          <a:ln/>
        </p:spPr>
        <p:txBody>
          <a:bodyPr wrap="square" lIns="0" tIns="0" rIns="0" bIns="0" rtlCol="0" anchor="ctr"/>
          <a:lstStyle/>
          <a:p>
            <a:pPr algn="ctr" indent="0" marL="0">
              <a:buNone/>
            </a:pPr>
            <a:r>
              <a:rPr lang="en-US" sz="1000" b="1" dirty="0">
                <a:solidFill>
                  <a:srgbClr val="F0F6FC"/>
                </a:solidFill>
                <a:latin typeface="Calibri" pitchFamily="34" charset="0"/>
                <a:ea typeface="Calibri" pitchFamily="34" charset="-122"/>
                <a:cs typeface="Calibri" pitchFamily="34" charset="-120"/>
              </a:rPr>
              <a:t>本命 — 社内クラウド基盤</a:t>
            </a:r>
            <a:endParaRPr lang="en-US" sz="1000" dirty="0"/>
          </a:p>
        </p:txBody>
      </p:sp>
      <p:sp>
        <p:nvSpPr>
          <p:cNvPr id="9" name="Text 7"/>
          <p:cNvSpPr/>
          <p:nvPr/>
        </p:nvSpPr>
        <p:spPr>
          <a:xfrm>
            <a:off x="502920" y="1298448"/>
            <a:ext cx="1417320" cy="457200"/>
          </a:xfrm>
          <a:prstGeom prst="rect">
            <a:avLst/>
          </a:prstGeom>
          <a:noFill/>
          <a:ln/>
        </p:spPr>
        <p:txBody>
          <a:bodyPr wrap="square" lIns="0" tIns="0" rIns="0" bIns="0" rtlCol="0" anchor="ctr"/>
          <a:lstStyle/>
          <a:p>
            <a:pPr indent="0" marL="0">
              <a:buNone/>
            </a:pPr>
            <a:r>
              <a:rPr lang="en-US" sz="950" b="1" dirty="0">
                <a:solidFill>
                  <a:srgbClr val="F0F6FC"/>
                </a:solidFill>
                <a:latin typeface="Calibri" pitchFamily="34" charset="0"/>
                <a:ea typeface="Calibri" pitchFamily="34" charset="-122"/>
                <a:cs typeface="Calibri" pitchFamily="34" charset="-120"/>
              </a:rPr>
              <a:t>MCP + Playwright</a:t>
            </a:r>
            <a:endParaRPr lang="en-US" sz="950" dirty="0"/>
          </a:p>
        </p:txBody>
      </p:sp>
      <p:sp>
        <p:nvSpPr>
          <p:cNvPr id="10" name="Shape 8"/>
          <p:cNvSpPr/>
          <p:nvPr/>
        </p:nvSpPr>
        <p:spPr>
          <a:xfrm>
            <a:off x="1965960" y="1325880"/>
            <a:ext cx="0" cy="411480"/>
          </a:xfrm>
          <a:prstGeom prst="line">
            <a:avLst/>
          </a:prstGeom>
          <a:noFill/>
          <a:ln w="6350">
            <a:solidFill>
              <a:srgbClr val="30363D"/>
            </a:solidFill>
            <a:prstDash val="solid"/>
          </a:ln>
        </p:spPr>
      </p:sp>
      <p:sp>
        <p:nvSpPr>
          <p:cNvPr id="11" name="Text 9"/>
          <p:cNvSpPr/>
          <p:nvPr/>
        </p:nvSpPr>
        <p:spPr>
          <a:xfrm>
            <a:off x="2084832" y="1298448"/>
            <a:ext cx="2697480" cy="457200"/>
          </a:xfrm>
          <a:prstGeom prst="rect">
            <a:avLst/>
          </a:prstGeom>
          <a:noFill/>
          <a:ln/>
        </p:spPr>
        <p:txBody>
          <a:bodyPr wrap="square" lIns="0" tIns="0" rIns="0" bIns="0" rtlCol="0" anchor="ctr"/>
          <a:lstStyle/>
          <a:p>
            <a:pPr indent="0" marL="0">
              <a:buNone/>
            </a:pPr>
            <a:r>
              <a:rPr lang="en-US" sz="900" dirty="0">
                <a:solidFill>
                  <a:srgbClr val="8B949E"/>
                </a:solidFill>
                <a:latin typeface="Courier New" pitchFamily="34" charset="0"/>
                <a:ea typeface="Courier New" pitchFamily="34" charset="-122"/>
                <a:cs typeface="Courier New" pitchFamily="34" charset="-120"/>
              </a:rPr>
              <a:t>Fly.io (常駐コンテナ)</a:t>
            </a:r>
            <a:endParaRPr lang="en-US" sz="900" dirty="0"/>
          </a:p>
        </p:txBody>
      </p:sp>
      <p:sp>
        <p:nvSpPr>
          <p:cNvPr id="12" name="Text 10"/>
          <p:cNvSpPr/>
          <p:nvPr/>
        </p:nvSpPr>
        <p:spPr>
          <a:xfrm>
            <a:off x="4800600" y="1298448"/>
            <a:ext cx="365760" cy="457200"/>
          </a:xfrm>
          <a:prstGeom prst="rect">
            <a:avLst/>
          </a:prstGeom>
          <a:noFill/>
          <a:ln/>
        </p:spPr>
        <p:txBody>
          <a:bodyPr wrap="square" lIns="0" tIns="0" rIns="0" bIns="0" rtlCol="0" anchor="ctr"/>
          <a:lstStyle/>
          <a:p>
            <a:pPr algn="ctr" indent="0" marL="0">
              <a:buNone/>
            </a:pPr>
            <a:r>
              <a:rPr lang="en-US" sz="1200" dirty="0">
                <a:solidFill>
                  <a:srgbClr val="A78BFA"/>
                </a:solidFill>
                <a:latin typeface="Calibri" pitchFamily="34" charset="0"/>
                <a:ea typeface="Calibri" pitchFamily="34" charset="-122"/>
                <a:cs typeface="Calibri" pitchFamily="34" charset="-120"/>
              </a:rPr>
              <a:t>→</a:t>
            </a:r>
            <a:endParaRPr lang="en-US" sz="1200" dirty="0"/>
          </a:p>
        </p:txBody>
      </p:sp>
      <p:sp>
        <p:nvSpPr>
          <p:cNvPr id="13" name="Text 11"/>
          <p:cNvSpPr/>
          <p:nvPr/>
        </p:nvSpPr>
        <p:spPr>
          <a:xfrm>
            <a:off x="5230368" y="1298448"/>
            <a:ext cx="3474720" cy="457200"/>
          </a:xfrm>
          <a:prstGeom prst="rect">
            <a:avLst/>
          </a:prstGeom>
          <a:noFill/>
          <a:ln/>
        </p:spPr>
        <p:txBody>
          <a:bodyPr wrap="square" lIns="0" tIns="0" rIns="0" bIns="0" rtlCol="0" anchor="ctr"/>
          <a:lstStyle/>
          <a:p>
            <a:pPr indent="0" marL="0">
              <a:buNone/>
            </a:pPr>
            <a:r>
              <a:rPr lang="en-US" sz="900" dirty="0">
                <a:solidFill>
                  <a:srgbClr val="C9D1D9"/>
                </a:solidFill>
                <a:latin typeface="Calibri" pitchFamily="34" charset="0"/>
                <a:ea typeface="Calibri" pitchFamily="34" charset="-122"/>
                <a:cs typeface="Calibri" pitchFamily="34" charset="-120"/>
              </a:rPr>
              <a:t>ECS Fargate / Azure Container Apps</a:t>
            </a:r>
            <a:endParaRPr lang="en-US" sz="900" dirty="0"/>
          </a:p>
        </p:txBody>
      </p:sp>
      <p:sp>
        <p:nvSpPr>
          <p:cNvPr id="14" name="Shape 12"/>
          <p:cNvSpPr/>
          <p:nvPr/>
        </p:nvSpPr>
        <p:spPr>
          <a:xfrm>
            <a:off x="411480" y="1819656"/>
            <a:ext cx="8321040" cy="502920"/>
          </a:xfrm>
          <a:prstGeom prst="rect">
            <a:avLst/>
          </a:prstGeom>
          <a:solidFill>
            <a:srgbClr val="161B22"/>
          </a:solidFill>
          <a:ln w="12700">
            <a:solidFill>
              <a:srgbClr val="161B22"/>
            </a:solidFill>
            <a:prstDash val="solid"/>
          </a:ln>
        </p:spPr>
      </p:sp>
      <p:sp>
        <p:nvSpPr>
          <p:cNvPr id="15" name="Text 13"/>
          <p:cNvSpPr/>
          <p:nvPr/>
        </p:nvSpPr>
        <p:spPr>
          <a:xfrm>
            <a:off x="502920" y="1837944"/>
            <a:ext cx="1417320" cy="457200"/>
          </a:xfrm>
          <a:prstGeom prst="rect">
            <a:avLst/>
          </a:prstGeom>
          <a:noFill/>
          <a:ln/>
        </p:spPr>
        <p:txBody>
          <a:bodyPr wrap="square" lIns="0" tIns="0" rIns="0" bIns="0" rtlCol="0" anchor="ctr"/>
          <a:lstStyle/>
          <a:p>
            <a:pPr indent="0" marL="0">
              <a:buNone/>
            </a:pPr>
            <a:r>
              <a:rPr lang="en-US" sz="950" b="1" dirty="0">
                <a:solidFill>
                  <a:srgbClr val="F0F6FC"/>
                </a:solidFill>
                <a:latin typeface="Calibri" pitchFamily="34" charset="0"/>
                <a:ea typeface="Calibri" pitchFamily="34" charset="-122"/>
                <a:cs typeface="Calibri" pitchFamily="34" charset="-120"/>
              </a:rPr>
              <a:t>認証</a:t>
            </a:r>
            <a:endParaRPr lang="en-US" sz="950" dirty="0"/>
          </a:p>
        </p:txBody>
      </p:sp>
      <p:sp>
        <p:nvSpPr>
          <p:cNvPr id="16" name="Shape 14"/>
          <p:cNvSpPr/>
          <p:nvPr/>
        </p:nvSpPr>
        <p:spPr>
          <a:xfrm>
            <a:off x="1965960" y="1865376"/>
            <a:ext cx="0" cy="411480"/>
          </a:xfrm>
          <a:prstGeom prst="line">
            <a:avLst/>
          </a:prstGeom>
          <a:noFill/>
          <a:ln w="6350">
            <a:solidFill>
              <a:srgbClr val="30363D"/>
            </a:solidFill>
            <a:prstDash val="solid"/>
          </a:ln>
        </p:spPr>
      </p:sp>
      <p:sp>
        <p:nvSpPr>
          <p:cNvPr id="17" name="Text 15"/>
          <p:cNvSpPr/>
          <p:nvPr/>
        </p:nvSpPr>
        <p:spPr>
          <a:xfrm>
            <a:off x="2084832" y="1837944"/>
            <a:ext cx="2697480" cy="457200"/>
          </a:xfrm>
          <a:prstGeom prst="rect">
            <a:avLst/>
          </a:prstGeom>
          <a:noFill/>
          <a:ln/>
        </p:spPr>
        <p:txBody>
          <a:bodyPr wrap="square" lIns="0" tIns="0" rIns="0" bIns="0" rtlCol="0" anchor="ctr"/>
          <a:lstStyle/>
          <a:p>
            <a:pPr indent="0" marL="0">
              <a:buNone/>
            </a:pPr>
            <a:r>
              <a:rPr lang="en-US" sz="900" dirty="0">
                <a:solidFill>
                  <a:srgbClr val="8B949E"/>
                </a:solidFill>
                <a:latin typeface="Courier New" pitchFamily="34" charset="0"/>
                <a:ea typeface="Courier New" pitchFamily="34" charset="-122"/>
                <a:cs typeface="Courier New" pitchFamily="34" charset="-120"/>
              </a:rPr>
              <a:t>Supabase Auth (JWT)</a:t>
            </a:r>
            <a:endParaRPr lang="en-US" sz="900" dirty="0"/>
          </a:p>
        </p:txBody>
      </p:sp>
      <p:sp>
        <p:nvSpPr>
          <p:cNvPr id="18" name="Text 16"/>
          <p:cNvSpPr/>
          <p:nvPr/>
        </p:nvSpPr>
        <p:spPr>
          <a:xfrm>
            <a:off x="4800600" y="1837944"/>
            <a:ext cx="365760" cy="457200"/>
          </a:xfrm>
          <a:prstGeom prst="rect">
            <a:avLst/>
          </a:prstGeom>
          <a:noFill/>
          <a:ln/>
        </p:spPr>
        <p:txBody>
          <a:bodyPr wrap="square" lIns="0" tIns="0" rIns="0" bIns="0" rtlCol="0" anchor="ctr"/>
          <a:lstStyle/>
          <a:p>
            <a:pPr algn="ctr" indent="0" marL="0">
              <a:buNone/>
            </a:pPr>
            <a:r>
              <a:rPr lang="en-US" sz="1200" dirty="0">
                <a:solidFill>
                  <a:srgbClr val="A78BFA"/>
                </a:solidFill>
                <a:latin typeface="Calibri" pitchFamily="34" charset="0"/>
                <a:ea typeface="Calibri" pitchFamily="34" charset="-122"/>
                <a:cs typeface="Calibri" pitchFamily="34" charset="-120"/>
              </a:rPr>
              <a:t>→</a:t>
            </a:r>
            <a:endParaRPr lang="en-US" sz="1200" dirty="0"/>
          </a:p>
        </p:txBody>
      </p:sp>
      <p:sp>
        <p:nvSpPr>
          <p:cNvPr id="19" name="Text 17"/>
          <p:cNvSpPr/>
          <p:nvPr/>
        </p:nvSpPr>
        <p:spPr>
          <a:xfrm>
            <a:off x="5230368" y="1837944"/>
            <a:ext cx="3474720" cy="457200"/>
          </a:xfrm>
          <a:prstGeom prst="rect">
            <a:avLst/>
          </a:prstGeom>
          <a:noFill/>
          <a:ln/>
        </p:spPr>
        <p:txBody>
          <a:bodyPr wrap="square" lIns="0" tIns="0" rIns="0" bIns="0" rtlCol="0" anchor="ctr"/>
          <a:lstStyle/>
          <a:p>
            <a:pPr indent="0" marL="0">
              <a:buNone/>
            </a:pPr>
            <a:r>
              <a:rPr lang="en-US" sz="900" b="1" dirty="0">
                <a:solidFill>
                  <a:srgbClr val="A78BFA"/>
                </a:solidFill>
                <a:latin typeface="Calibri" pitchFamily="34" charset="0"/>
                <a:ea typeface="Calibri" pitchFamily="34" charset="-122"/>
                <a:cs typeface="Calibri" pitchFamily="34" charset="-120"/>
              </a:rPr>
              <a:t>会社 IdP (OIDC) — 最優先</a:t>
            </a:r>
            <a:endParaRPr lang="en-US" sz="900" dirty="0"/>
          </a:p>
        </p:txBody>
      </p:sp>
      <p:sp>
        <p:nvSpPr>
          <p:cNvPr id="20" name="Text 18"/>
          <p:cNvSpPr/>
          <p:nvPr/>
        </p:nvSpPr>
        <p:spPr>
          <a:xfrm>
            <a:off x="502920" y="2377440"/>
            <a:ext cx="1417320" cy="457200"/>
          </a:xfrm>
          <a:prstGeom prst="rect">
            <a:avLst/>
          </a:prstGeom>
          <a:noFill/>
          <a:ln/>
        </p:spPr>
        <p:txBody>
          <a:bodyPr wrap="square" lIns="0" tIns="0" rIns="0" bIns="0" rtlCol="0" anchor="ctr"/>
          <a:lstStyle/>
          <a:p>
            <a:pPr indent="0" marL="0">
              <a:buNone/>
            </a:pPr>
            <a:r>
              <a:rPr lang="en-US" sz="950" b="1" dirty="0">
                <a:solidFill>
                  <a:srgbClr val="F0F6FC"/>
                </a:solidFill>
                <a:latin typeface="Calibri" pitchFamily="34" charset="0"/>
                <a:ea typeface="Calibri" pitchFamily="34" charset="-122"/>
                <a:cs typeface="Calibri" pitchFamily="34" charset="-120"/>
              </a:rPr>
              <a:t>画像キャッシュ</a:t>
            </a:r>
            <a:endParaRPr lang="en-US" sz="950" dirty="0"/>
          </a:p>
        </p:txBody>
      </p:sp>
      <p:sp>
        <p:nvSpPr>
          <p:cNvPr id="21" name="Shape 19"/>
          <p:cNvSpPr/>
          <p:nvPr/>
        </p:nvSpPr>
        <p:spPr>
          <a:xfrm>
            <a:off x="1965960" y="2404872"/>
            <a:ext cx="0" cy="411480"/>
          </a:xfrm>
          <a:prstGeom prst="line">
            <a:avLst/>
          </a:prstGeom>
          <a:noFill/>
          <a:ln w="6350">
            <a:solidFill>
              <a:srgbClr val="30363D"/>
            </a:solidFill>
            <a:prstDash val="solid"/>
          </a:ln>
        </p:spPr>
      </p:sp>
      <p:sp>
        <p:nvSpPr>
          <p:cNvPr id="22" name="Text 20"/>
          <p:cNvSpPr/>
          <p:nvPr/>
        </p:nvSpPr>
        <p:spPr>
          <a:xfrm>
            <a:off x="2084832" y="2377440"/>
            <a:ext cx="2697480" cy="457200"/>
          </a:xfrm>
          <a:prstGeom prst="rect">
            <a:avLst/>
          </a:prstGeom>
          <a:noFill/>
          <a:ln/>
        </p:spPr>
        <p:txBody>
          <a:bodyPr wrap="square" lIns="0" tIns="0" rIns="0" bIns="0" rtlCol="0" anchor="ctr"/>
          <a:lstStyle/>
          <a:p>
            <a:pPr indent="0" marL="0">
              <a:buNone/>
            </a:pPr>
            <a:r>
              <a:rPr lang="en-US" sz="900" dirty="0">
                <a:solidFill>
                  <a:srgbClr val="8B949E"/>
                </a:solidFill>
                <a:latin typeface="Courier New" pitchFamily="34" charset="0"/>
                <a:ea typeface="Courier New" pitchFamily="34" charset="-122"/>
                <a:cs typeface="Courier New" pitchFamily="34" charset="-120"/>
              </a:rPr>
              <a:t>Supabase Storage</a:t>
            </a:r>
            <a:endParaRPr lang="en-US" sz="900" dirty="0"/>
          </a:p>
        </p:txBody>
      </p:sp>
      <p:sp>
        <p:nvSpPr>
          <p:cNvPr id="23" name="Text 21"/>
          <p:cNvSpPr/>
          <p:nvPr/>
        </p:nvSpPr>
        <p:spPr>
          <a:xfrm>
            <a:off x="4800600" y="2377440"/>
            <a:ext cx="365760" cy="457200"/>
          </a:xfrm>
          <a:prstGeom prst="rect">
            <a:avLst/>
          </a:prstGeom>
          <a:noFill/>
          <a:ln/>
        </p:spPr>
        <p:txBody>
          <a:bodyPr wrap="square" lIns="0" tIns="0" rIns="0" bIns="0" rtlCol="0" anchor="ctr"/>
          <a:lstStyle/>
          <a:p>
            <a:pPr algn="ctr" indent="0" marL="0">
              <a:buNone/>
            </a:pPr>
            <a:r>
              <a:rPr lang="en-US" sz="1200" dirty="0">
                <a:solidFill>
                  <a:srgbClr val="A78BFA"/>
                </a:solidFill>
                <a:latin typeface="Calibri" pitchFamily="34" charset="0"/>
                <a:ea typeface="Calibri" pitchFamily="34" charset="-122"/>
                <a:cs typeface="Calibri" pitchFamily="34" charset="-120"/>
              </a:rPr>
              <a:t>→</a:t>
            </a:r>
            <a:endParaRPr lang="en-US" sz="1200" dirty="0"/>
          </a:p>
        </p:txBody>
      </p:sp>
      <p:sp>
        <p:nvSpPr>
          <p:cNvPr id="24" name="Text 22"/>
          <p:cNvSpPr/>
          <p:nvPr/>
        </p:nvSpPr>
        <p:spPr>
          <a:xfrm>
            <a:off x="5230368" y="2377440"/>
            <a:ext cx="3474720" cy="457200"/>
          </a:xfrm>
          <a:prstGeom prst="rect">
            <a:avLst/>
          </a:prstGeom>
          <a:noFill/>
          <a:ln/>
        </p:spPr>
        <p:txBody>
          <a:bodyPr wrap="square" lIns="0" tIns="0" rIns="0" bIns="0" rtlCol="0" anchor="ctr"/>
          <a:lstStyle/>
          <a:p>
            <a:pPr indent="0" marL="0">
              <a:buNone/>
            </a:pPr>
            <a:r>
              <a:rPr lang="en-US" sz="900" dirty="0">
                <a:solidFill>
                  <a:srgbClr val="C9D1D9"/>
                </a:solidFill>
                <a:latin typeface="Calibri" pitchFamily="34" charset="0"/>
                <a:ea typeface="Calibri" pitchFamily="34" charset="-122"/>
                <a:cs typeface="Calibri" pitchFamily="34" charset="-120"/>
              </a:rPr>
              <a:t>プライベート S3 / Azure Blob</a:t>
            </a:r>
            <a:endParaRPr lang="en-US" sz="900" dirty="0"/>
          </a:p>
        </p:txBody>
      </p:sp>
      <p:sp>
        <p:nvSpPr>
          <p:cNvPr id="25" name="Shape 23"/>
          <p:cNvSpPr/>
          <p:nvPr/>
        </p:nvSpPr>
        <p:spPr>
          <a:xfrm>
            <a:off x="411480" y="2898648"/>
            <a:ext cx="8321040" cy="502920"/>
          </a:xfrm>
          <a:prstGeom prst="rect">
            <a:avLst/>
          </a:prstGeom>
          <a:solidFill>
            <a:srgbClr val="161B22"/>
          </a:solidFill>
          <a:ln w="12700">
            <a:solidFill>
              <a:srgbClr val="161B22"/>
            </a:solidFill>
            <a:prstDash val="solid"/>
          </a:ln>
        </p:spPr>
      </p:sp>
      <p:sp>
        <p:nvSpPr>
          <p:cNvPr id="26" name="Text 24"/>
          <p:cNvSpPr/>
          <p:nvPr/>
        </p:nvSpPr>
        <p:spPr>
          <a:xfrm>
            <a:off x="502920" y="2916936"/>
            <a:ext cx="1417320" cy="457200"/>
          </a:xfrm>
          <a:prstGeom prst="rect">
            <a:avLst/>
          </a:prstGeom>
          <a:noFill/>
          <a:ln/>
        </p:spPr>
        <p:txBody>
          <a:bodyPr wrap="square" lIns="0" tIns="0" rIns="0" bIns="0" rtlCol="0" anchor="ctr"/>
          <a:lstStyle/>
          <a:p>
            <a:pPr indent="0" marL="0">
              <a:buNone/>
            </a:pPr>
            <a:r>
              <a:rPr lang="en-US" sz="950" b="1" dirty="0">
                <a:solidFill>
                  <a:srgbClr val="F0F6FC"/>
                </a:solidFill>
                <a:latin typeface="Calibri" pitchFamily="34" charset="0"/>
                <a:ea typeface="Calibri" pitchFamily="34" charset="-122"/>
                <a:cs typeface="Calibri" pitchFamily="34" charset="-120"/>
              </a:rPr>
              <a:t>メタデータ DB</a:t>
            </a:r>
            <a:endParaRPr lang="en-US" sz="950" dirty="0"/>
          </a:p>
        </p:txBody>
      </p:sp>
      <p:sp>
        <p:nvSpPr>
          <p:cNvPr id="27" name="Shape 25"/>
          <p:cNvSpPr/>
          <p:nvPr/>
        </p:nvSpPr>
        <p:spPr>
          <a:xfrm>
            <a:off x="1965960" y="2944368"/>
            <a:ext cx="0" cy="411480"/>
          </a:xfrm>
          <a:prstGeom prst="line">
            <a:avLst/>
          </a:prstGeom>
          <a:noFill/>
          <a:ln w="6350">
            <a:solidFill>
              <a:srgbClr val="30363D"/>
            </a:solidFill>
            <a:prstDash val="solid"/>
          </a:ln>
        </p:spPr>
      </p:sp>
      <p:sp>
        <p:nvSpPr>
          <p:cNvPr id="28" name="Text 26"/>
          <p:cNvSpPr/>
          <p:nvPr/>
        </p:nvSpPr>
        <p:spPr>
          <a:xfrm>
            <a:off x="2084832" y="2916936"/>
            <a:ext cx="2697480" cy="457200"/>
          </a:xfrm>
          <a:prstGeom prst="rect">
            <a:avLst/>
          </a:prstGeom>
          <a:noFill/>
          <a:ln/>
        </p:spPr>
        <p:txBody>
          <a:bodyPr wrap="square" lIns="0" tIns="0" rIns="0" bIns="0" rtlCol="0" anchor="ctr"/>
          <a:lstStyle/>
          <a:p>
            <a:pPr indent="0" marL="0">
              <a:buNone/>
            </a:pPr>
            <a:r>
              <a:rPr lang="en-US" sz="900" dirty="0">
                <a:solidFill>
                  <a:srgbClr val="8B949E"/>
                </a:solidFill>
                <a:latin typeface="Courier New" pitchFamily="34" charset="0"/>
                <a:ea typeface="Courier New" pitchFamily="34" charset="-122"/>
                <a:cs typeface="Courier New" pitchFamily="34" charset="-120"/>
              </a:rPr>
              <a:t>Supabase Postgres</a:t>
            </a:r>
            <a:endParaRPr lang="en-US" sz="900" dirty="0"/>
          </a:p>
        </p:txBody>
      </p:sp>
      <p:sp>
        <p:nvSpPr>
          <p:cNvPr id="29" name="Text 27"/>
          <p:cNvSpPr/>
          <p:nvPr/>
        </p:nvSpPr>
        <p:spPr>
          <a:xfrm>
            <a:off x="4800600" y="2916936"/>
            <a:ext cx="365760" cy="457200"/>
          </a:xfrm>
          <a:prstGeom prst="rect">
            <a:avLst/>
          </a:prstGeom>
          <a:noFill/>
          <a:ln/>
        </p:spPr>
        <p:txBody>
          <a:bodyPr wrap="square" lIns="0" tIns="0" rIns="0" bIns="0" rtlCol="0" anchor="ctr"/>
          <a:lstStyle/>
          <a:p>
            <a:pPr algn="ctr" indent="0" marL="0">
              <a:buNone/>
            </a:pPr>
            <a:r>
              <a:rPr lang="en-US" sz="1200" dirty="0">
                <a:solidFill>
                  <a:srgbClr val="A78BFA"/>
                </a:solidFill>
                <a:latin typeface="Calibri" pitchFamily="34" charset="0"/>
                <a:ea typeface="Calibri" pitchFamily="34" charset="-122"/>
                <a:cs typeface="Calibri" pitchFamily="34" charset="-120"/>
              </a:rPr>
              <a:t>→</a:t>
            </a:r>
            <a:endParaRPr lang="en-US" sz="1200" dirty="0"/>
          </a:p>
        </p:txBody>
      </p:sp>
      <p:sp>
        <p:nvSpPr>
          <p:cNvPr id="30" name="Text 28"/>
          <p:cNvSpPr/>
          <p:nvPr/>
        </p:nvSpPr>
        <p:spPr>
          <a:xfrm>
            <a:off x="5230368" y="2916936"/>
            <a:ext cx="3474720" cy="457200"/>
          </a:xfrm>
          <a:prstGeom prst="rect">
            <a:avLst/>
          </a:prstGeom>
          <a:noFill/>
          <a:ln/>
        </p:spPr>
        <p:txBody>
          <a:bodyPr wrap="square" lIns="0" tIns="0" rIns="0" bIns="0" rtlCol="0" anchor="ctr"/>
          <a:lstStyle/>
          <a:p>
            <a:pPr indent="0" marL="0">
              <a:buNone/>
            </a:pPr>
            <a:r>
              <a:rPr lang="en-US" sz="900" dirty="0">
                <a:solidFill>
                  <a:srgbClr val="C9D1D9"/>
                </a:solidFill>
                <a:latin typeface="Calibri" pitchFamily="34" charset="0"/>
                <a:ea typeface="Calibri" pitchFamily="34" charset="-122"/>
                <a:cs typeface="Calibri" pitchFamily="34" charset="-120"/>
              </a:rPr>
              <a:t>RDS / Azure Database</a:t>
            </a:r>
            <a:endParaRPr lang="en-US" sz="900" dirty="0"/>
          </a:p>
        </p:txBody>
      </p:sp>
      <p:sp>
        <p:nvSpPr>
          <p:cNvPr id="31" name="Text 29"/>
          <p:cNvSpPr/>
          <p:nvPr/>
        </p:nvSpPr>
        <p:spPr>
          <a:xfrm>
            <a:off x="502920" y="3456432"/>
            <a:ext cx="1417320" cy="457200"/>
          </a:xfrm>
          <a:prstGeom prst="rect">
            <a:avLst/>
          </a:prstGeom>
          <a:noFill/>
          <a:ln/>
        </p:spPr>
        <p:txBody>
          <a:bodyPr wrap="square" lIns="0" tIns="0" rIns="0" bIns="0" rtlCol="0" anchor="ctr"/>
          <a:lstStyle/>
          <a:p>
            <a:pPr indent="0" marL="0">
              <a:buNone/>
            </a:pPr>
            <a:r>
              <a:rPr lang="en-US" sz="950" b="1" dirty="0">
                <a:solidFill>
                  <a:srgbClr val="F0F6FC"/>
                </a:solidFill>
                <a:latin typeface="Calibri" pitchFamily="34" charset="0"/>
                <a:ea typeface="Calibri" pitchFamily="34" charset="-122"/>
                <a:cs typeface="Calibri" pitchFamily="34" charset="-120"/>
              </a:rPr>
              <a:t>監査ログ</a:t>
            </a:r>
            <a:endParaRPr lang="en-US" sz="950" dirty="0"/>
          </a:p>
        </p:txBody>
      </p:sp>
      <p:sp>
        <p:nvSpPr>
          <p:cNvPr id="32" name="Shape 30"/>
          <p:cNvSpPr/>
          <p:nvPr/>
        </p:nvSpPr>
        <p:spPr>
          <a:xfrm>
            <a:off x="1965960" y="3483864"/>
            <a:ext cx="0" cy="411480"/>
          </a:xfrm>
          <a:prstGeom prst="line">
            <a:avLst/>
          </a:prstGeom>
          <a:noFill/>
          <a:ln w="6350">
            <a:solidFill>
              <a:srgbClr val="30363D"/>
            </a:solidFill>
            <a:prstDash val="solid"/>
          </a:ln>
        </p:spPr>
      </p:sp>
      <p:sp>
        <p:nvSpPr>
          <p:cNvPr id="33" name="Text 31"/>
          <p:cNvSpPr/>
          <p:nvPr/>
        </p:nvSpPr>
        <p:spPr>
          <a:xfrm>
            <a:off x="2084832" y="3456432"/>
            <a:ext cx="2697480" cy="457200"/>
          </a:xfrm>
          <a:prstGeom prst="rect">
            <a:avLst/>
          </a:prstGeom>
          <a:noFill/>
          <a:ln/>
        </p:spPr>
        <p:txBody>
          <a:bodyPr wrap="square" lIns="0" tIns="0" rIns="0" bIns="0" rtlCol="0" anchor="ctr"/>
          <a:lstStyle/>
          <a:p>
            <a:pPr indent="0" marL="0">
              <a:buNone/>
            </a:pPr>
            <a:r>
              <a:rPr lang="en-US" sz="900" dirty="0">
                <a:solidFill>
                  <a:srgbClr val="8B949E"/>
                </a:solidFill>
                <a:latin typeface="Courier New" pitchFamily="34" charset="0"/>
                <a:ea typeface="Courier New" pitchFamily="34" charset="-122"/>
                <a:cs typeface="Courier New" pitchFamily="34" charset="-120"/>
              </a:rPr>
              <a:t>audit_log テーブル</a:t>
            </a:r>
            <a:endParaRPr lang="en-US" sz="900" dirty="0"/>
          </a:p>
        </p:txBody>
      </p:sp>
      <p:sp>
        <p:nvSpPr>
          <p:cNvPr id="34" name="Text 32"/>
          <p:cNvSpPr/>
          <p:nvPr/>
        </p:nvSpPr>
        <p:spPr>
          <a:xfrm>
            <a:off x="4800600" y="3456432"/>
            <a:ext cx="365760" cy="457200"/>
          </a:xfrm>
          <a:prstGeom prst="rect">
            <a:avLst/>
          </a:prstGeom>
          <a:noFill/>
          <a:ln/>
        </p:spPr>
        <p:txBody>
          <a:bodyPr wrap="square" lIns="0" tIns="0" rIns="0" bIns="0" rtlCol="0" anchor="ctr"/>
          <a:lstStyle/>
          <a:p>
            <a:pPr algn="ctr" indent="0" marL="0">
              <a:buNone/>
            </a:pPr>
            <a:r>
              <a:rPr lang="en-US" sz="1200" dirty="0">
                <a:solidFill>
                  <a:srgbClr val="A78BFA"/>
                </a:solidFill>
                <a:latin typeface="Calibri" pitchFamily="34" charset="0"/>
                <a:ea typeface="Calibri" pitchFamily="34" charset="-122"/>
                <a:cs typeface="Calibri" pitchFamily="34" charset="-120"/>
              </a:rPr>
              <a:t>→</a:t>
            </a:r>
            <a:endParaRPr lang="en-US" sz="1200" dirty="0"/>
          </a:p>
        </p:txBody>
      </p:sp>
      <p:sp>
        <p:nvSpPr>
          <p:cNvPr id="35" name="Text 33"/>
          <p:cNvSpPr/>
          <p:nvPr/>
        </p:nvSpPr>
        <p:spPr>
          <a:xfrm>
            <a:off x="5230368" y="3456432"/>
            <a:ext cx="3474720" cy="457200"/>
          </a:xfrm>
          <a:prstGeom prst="rect">
            <a:avLst/>
          </a:prstGeom>
          <a:noFill/>
          <a:ln/>
        </p:spPr>
        <p:txBody>
          <a:bodyPr wrap="square" lIns="0" tIns="0" rIns="0" bIns="0" rtlCol="0" anchor="ctr"/>
          <a:lstStyle/>
          <a:p>
            <a:pPr indent="0" marL="0">
              <a:buNone/>
            </a:pPr>
            <a:r>
              <a:rPr lang="en-US" sz="900" dirty="0">
                <a:solidFill>
                  <a:srgbClr val="C9D1D9"/>
                </a:solidFill>
                <a:latin typeface="Calibri" pitchFamily="34" charset="0"/>
                <a:ea typeface="Calibri" pitchFamily="34" charset="-122"/>
                <a:cs typeface="Calibri" pitchFamily="34" charset="-120"/>
              </a:rPr>
              <a:t>会社のログ基盤 (SIEM 等)</a:t>
            </a:r>
            <a:endParaRPr lang="en-US" sz="900" dirty="0"/>
          </a:p>
        </p:txBody>
      </p:sp>
      <p:sp>
        <p:nvSpPr>
          <p:cNvPr id="36" name="Shape 34"/>
          <p:cNvSpPr/>
          <p:nvPr/>
        </p:nvSpPr>
        <p:spPr>
          <a:xfrm>
            <a:off x="411480" y="3977640"/>
            <a:ext cx="8321040" cy="502920"/>
          </a:xfrm>
          <a:prstGeom prst="rect">
            <a:avLst/>
          </a:prstGeom>
          <a:solidFill>
            <a:srgbClr val="161B22"/>
          </a:solidFill>
          <a:ln w="12700">
            <a:solidFill>
              <a:srgbClr val="161B22"/>
            </a:solidFill>
            <a:prstDash val="solid"/>
          </a:ln>
        </p:spPr>
      </p:sp>
      <p:sp>
        <p:nvSpPr>
          <p:cNvPr id="37" name="Text 35"/>
          <p:cNvSpPr/>
          <p:nvPr/>
        </p:nvSpPr>
        <p:spPr>
          <a:xfrm>
            <a:off x="502920" y="3995928"/>
            <a:ext cx="1417320" cy="457200"/>
          </a:xfrm>
          <a:prstGeom prst="rect">
            <a:avLst/>
          </a:prstGeom>
          <a:noFill/>
          <a:ln/>
        </p:spPr>
        <p:txBody>
          <a:bodyPr wrap="square" lIns="0" tIns="0" rIns="0" bIns="0" rtlCol="0" anchor="ctr"/>
          <a:lstStyle/>
          <a:p>
            <a:pPr indent="0" marL="0">
              <a:buNone/>
            </a:pPr>
            <a:r>
              <a:rPr lang="en-US" sz="950" b="1" dirty="0">
                <a:solidFill>
                  <a:srgbClr val="F0F6FC"/>
                </a:solidFill>
                <a:latin typeface="Calibri" pitchFamily="34" charset="0"/>
                <a:ea typeface="Calibri" pitchFamily="34" charset="-122"/>
                <a:cs typeface="Calibri" pitchFamily="34" charset="-120"/>
              </a:rPr>
              <a:t>キャッシュ削除</a:t>
            </a:r>
            <a:endParaRPr lang="en-US" sz="950" dirty="0"/>
          </a:p>
        </p:txBody>
      </p:sp>
      <p:sp>
        <p:nvSpPr>
          <p:cNvPr id="38" name="Shape 36"/>
          <p:cNvSpPr/>
          <p:nvPr/>
        </p:nvSpPr>
        <p:spPr>
          <a:xfrm>
            <a:off x="1965960" y="4023360"/>
            <a:ext cx="0" cy="411480"/>
          </a:xfrm>
          <a:prstGeom prst="line">
            <a:avLst/>
          </a:prstGeom>
          <a:noFill/>
          <a:ln w="6350">
            <a:solidFill>
              <a:srgbClr val="30363D"/>
            </a:solidFill>
            <a:prstDash val="solid"/>
          </a:ln>
        </p:spPr>
      </p:sp>
      <p:sp>
        <p:nvSpPr>
          <p:cNvPr id="39" name="Text 37"/>
          <p:cNvSpPr/>
          <p:nvPr/>
        </p:nvSpPr>
        <p:spPr>
          <a:xfrm>
            <a:off x="2084832" y="3995928"/>
            <a:ext cx="2697480" cy="457200"/>
          </a:xfrm>
          <a:prstGeom prst="rect">
            <a:avLst/>
          </a:prstGeom>
          <a:noFill/>
          <a:ln/>
        </p:spPr>
        <p:txBody>
          <a:bodyPr wrap="square" lIns="0" tIns="0" rIns="0" bIns="0" rtlCol="0" anchor="ctr"/>
          <a:lstStyle/>
          <a:p>
            <a:pPr indent="0" marL="0">
              <a:buNone/>
            </a:pPr>
            <a:r>
              <a:rPr lang="en-US" sz="900" dirty="0">
                <a:solidFill>
                  <a:srgbClr val="8B949E"/>
                </a:solidFill>
                <a:latin typeface="Courier New" pitchFamily="34" charset="0"/>
                <a:ea typeface="Courier New" pitchFamily="34" charset="-122"/>
                <a:cs typeface="Courier New" pitchFamily="34" charset="-120"/>
              </a:rPr>
              <a:t>SQL 関数 cron</a:t>
            </a:r>
            <a:endParaRPr lang="en-US" sz="900" dirty="0"/>
          </a:p>
        </p:txBody>
      </p:sp>
      <p:sp>
        <p:nvSpPr>
          <p:cNvPr id="40" name="Text 38"/>
          <p:cNvSpPr/>
          <p:nvPr/>
        </p:nvSpPr>
        <p:spPr>
          <a:xfrm>
            <a:off x="4800600" y="3995928"/>
            <a:ext cx="365760" cy="457200"/>
          </a:xfrm>
          <a:prstGeom prst="rect">
            <a:avLst/>
          </a:prstGeom>
          <a:noFill/>
          <a:ln/>
        </p:spPr>
        <p:txBody>
          <a:bodyPr wrap="square" lIns="0" tIns="0" rIns="0" bIns="0" rtlCol="0" anchor="ctr"/>
          <a:lstStyle/>
          <a:p>
            <a:pPr algn="ctr" indent="0" marL="0">
              <a:buNone/>
            </a:pPr>
            <a:r>
              <a:rPr lang="en-US" sz="1200" dirty="0">
                <a:solidFill>
                  <a:srgbClr val="A78BFA"/>
                </a:solidFill>
                <a:latin typeface="Calibri" pitchFamily="34" charset="0"/>
                <a:ea typeface="Calibri" pitchFamily="34" charset="-122"/>
                <a:cs typeface="Calibri" pitchFamily="34" charset="-120"/>
              </a:rPr>
              <a:t>→</a:t>
            </a:r>
            <a:endParaRPr lang="en-US" sz="1200" dirty="0"/>
          </a:p>
        </p:txBody>
      </p:sp>
      <p:sp>
        <p:nvSpPr>
          <p:cNvPr id="41" name="Text 39"/>
          <p:cNvSpPr/>
          <p:nvPr/>
        </p:nvSpPr>
        <p:spPr>
          <a:xfrm>
            <a:off x="5230368" y="3995928"/>
            <a:ext cx="3474720" cy="457200"/>
          </a:xfrm>
          <a:prstGeom prst="rect">
            <a:avLst/>
          </a:prstGeom>
          <a:noFill/>
          <a:ln/>
        </p:spPr>
        <p:txBody>
          <a:bodyPr wrap="square" lIns="0" tIns="0" rIns="0" bIns="0" rtlCol="0" anchor="ctr"/>
          <a:lstStyle/>
          <a:p>
            <a:pPr indent="0" marL="0">
              <a:buNone/>
            </a:pPr>
            <a:r>
              <a:rPr lang="en-US" sz="900" dirty="0">
                <a:solidFill>
                  <a:srgbClr val="C9D1D9"/>
                </a:solidFill>
                <a:latin typeface="Calibri" pitchFamily="34" charset="0"/>
                <a:ea typeface="Calibri" pitchFamily="34" charset="-122"/>
                <a:cs typeface="Calibri" pitchFamily="34" charset="-120"/>
              </a:rPr>
              <a:t>Lambda / Azure Functions Timer</a:t>
            </a:r>
            <a:endParaRPr lang="en-US" sz="900" dirty="0"/>
          </a:p>
        </p:txBody>
      </p:sp>
      <p:sp>
        <p:nvSpPr>
          <p:cNvPr id="42" name="Shape 40"/>
          <p:cNvSpPr/>
          <p:nvPr/>
        </p:nvSpPr>
        <p:spPr>
          <a:xfrm>
            <a:off x="411480" y="4608576"/>
            <a:ext cx="8321040" cy="384048"/>
          </a:xfrm>
          <a:prstGeom prst="rect">
            <a:avLst/>
          </a:prstGeom>
          <a:solidFill>
            <a:srgbClr val="161B22"/>
          </a:solidFill>
          <a:ln w="12700">
            <a:solidFill>
              <a:srgbClr val="30363D"/>
            </a:solidFill>
            <a:prstDash val="solid"/>
          </a:ln>
        </p:spPr>
      </p:sp>
      <p:sp>
        <p:nvSpPr>
          <p:cNvPr id="43" name="Shape 41"/>
          <p:cNvSpPr/>
          <p:nvPr/>
        </p:nvSpPr>
        <p:spPr>
          <a:xfrm>
            <a:off x="411480" y="4608576"/>
            <a:ext cx="82296" cy="384048"/>
          </a:xfrm>
          <a:prstGeom prst="rect">
            <a:avLst/>
          </a:prstGeom>
          <a:solidFill>
            <a:srgbClr val="7C3AED"/>
          </a:solidFill>
          <a:ln w="12700">
            <a:solidFill>
              <a:srgbClr val="7C3AED"/>
            </a:solidFill>
            <a:prstDash val="solid"/>
          </a:ln>
        </p:spPr>
      </p:sp>
      <p:sp>
        <p:nvSpPr>
          <p:cNvPr id="44" name="Text 42"/>
          <p:cNvSpPr/>
          <p:nvPr/>
        </p:nvSpPr>
        <p:spPr>
          <a:xfrm>
            <a:off x="621792" y="4608576"/>
            <a:ext cx="8046720" cy="384048"/>
          </a:xfrm>
          <a:prstGeom prst="rect">
            <a:avLst/>
          </a:prstGeom>
          <a:noFill/>
          <a:ln/>
        </p:spPr>
        <p:txBody>
          <a:bodyPr wrap="square" lIns="0" tIns="0" rIns="0" bIns="0" rtlCol="0" anchor="ctr"/>
          <a:lstStyle/>
          <a:p>
            <a:pPr indent="0" marL="0">
              <a:buNone/>
            </a:pPr>
            <a:r>
              <a:rPr lang="en-US" sz="900" b="1" dirty="0">
                <a:solidFill>
                  <a:srgbClr val="A78BFA"/>
                </a:solidFill>
                <a:latin typeface="Calibri" pitchFamily="34" charset="0"/>
                <a:ea typeface="Calibri" pitchFamily="34" charset="-122"/>
                <a:cs typeface="Calibri" pitchFamily="34" charset="-120"/>
              </a:rPr>
              <a:t>最小構成: </a:t>
            </a:r>
            <a:pPr indent="0" marL="0">
              <a:buNone/>
            </a:pPr>
            <a:r>
              <a:rPr lang="en-US" sz="900" dirty="0">
                <a:solidFill>
                  <a:srgbClr val="C9D1D9"/>
                </a:solidFill>
                <a:latin typeface="Calibri" pitchFamily="34" charset="0"/>
                <a:ea typeface="Calibri" pitchFamily="34" charset="-122"/>
                <a:cs typeface="Calibri" pitchFamily="34" charset="-120"/>
              </a:rPr>
              <a:t>コンテナ 1台 + 会社 IdP + ローカルディスクキャッシュ + 標準出力ログ — Storage も DB も不要。スケール要件が出た時点で追加。</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D1117"/>
        </a:solidFill>
      </p:bgPr>
    </p:bg>
    <p:spTree>
      <p:nvGrpSpPr>
        <p:cNvPr id="1" name=""/>
        <p:cNvGrpSpPr/>
        <p:nvPr/>
      </p:nvGrpSpPr>
      <p:grpSpPr>
        <a:xfrm>
          <a:off x="0" y="0"/>
          <a:ext cx="0" cy="0"/>
          <a:chOff x="0" y="0"/>
          <a:chExt cx="0" cy="0"/>
        </a:xfrm>
      </p:grpSpPr>
      <p:sp>
        <p:nvSpPr>
          <p:cNvPr id="2" name="Shape 0"/>
          <p:cNvSpPr/>
          <p:nvPr/>
        </p:nvSpPr>
        <p:spPr>
          <a:xfrm>
            <a:off x="0" y="0"/>
            <a:ext cx="9144000" cy="50292"/>
          </a:xfrm>
          <a:prstGeom prst="rect">
            <a:avLst/>
          </a:prstGeom>
          <a:solidFill>
            <a:srgbClr val="7C3AED"/>
          </a:solidFill>
          <a:ln w="12700">
            <a:solidFill>
              <a:srgbClr val="7C3AED"/>
            </a:solidFill>
            <a:prstDash val="solid"/>
          </a:ln>
        </p:spPr>
      </p:sp>
      <p:sp>
        <p:nvSpPr>
          <p:cNvPr id="3" name="Text 1"/>
          <p:cNvSpPr/>
          <p:nvPr/>
        </p:nvSpPr>
        <p:spPr>
          <a:xfrm>
            <a:off x="411480" y="91440"/>
            <a:ext cx="8321040" cy="475488"/>
          </a:xfrm>
          <a:prstGeom prst="rect">
            <a:avLst/>
          </a:prstGeom>
          <a:noFill/>
          <a:ln/>
        </p:spPr>
        <p:txBody>
          <a:bodyPr wrap="square" lIns="0" tIns="0" rIns="0" bIns="0" rtlCol="0" anchor="ctr"/>
          <a:lstStyle/>
          <a:p>
            <a:pPr indent="0" marL="0">
              <a:buNone/>
            </a:pPr>
            <a:r>
              <a:rPr lang="en-US" sz="2100" b="1" dirty="0">
                <a:solidFill>
                  <a:srgbClr val="F0F6FC"/>
                </a:solidFill>
                <a:latin typeface="Calibri" pitchFamily="34" charset="0"/>
                <a:ea typeface="Calibri" pitchFamily="34" charset="-122"/>
                <a:cs typeface="Calibri" pitchFamily="34" charset="-120"/>
              </a:rPr>
              <a:t>未検証のポイントとリスク</a:t>
            </a:r>
            <a:endParaRPr lang="en-US" sz="2100" dirty="0"/>
          </a:p>
        </p:txBody>
      </p:sp>
      <p:sp>
        <p:nvSpPr>
          <p:cNvPr id="4" name="Shape 2"/>
          <p:cNvSpPr/>
          <p:nvPr/>
        </p:nvSpPr>
        <p:spPr>
          <a:xfrm>
            <a:off x="411480" y="658368"/>
            <a:ext cx="8321040" cy="0"/>
          </a:xfrm>
          <a:prstGeom prst="line">
            <a:avLst/>
          </a:prstGeom>
          <a:noFill/>
          <a:ln w="9525">
            <a:solidFill>
              <a:srgbClr val="30363D"/>
            </a:solidFill>
            <a:prstDash val="solid"/>
          </a:ln>
        </p:spPr>
      </p:sp>
      <p:sp>
        <p:nvSpPr>
          <p:cNvPr id="5" name="Shape 3"/>
          <p:cNvSpPr/>
          <p:nvPr/>
        </p:nvSpPr>
        <p:spPr>
          <a:xfrm>
            <a:off x="411480" y="841248"/>
            <a:ext cx="2624328" cy="1828800"/>
          </a:xfrm>
          <a:prstGeom prst="rect">
            <a:avLst/>
          </a:prstGeom>
          <a:solidFill>
            <a:srgbClr val="161B22"/>
          </a:solidFill>
          <a:ln w="12700">
            <a:solidFill>
              <a:srgbClr val="30363D"/>
            </a:solidFill>
            <a:prstDash val="solid"/>
          </a:ln>
        </p:spPr>
      </p:sp>
      <p:sp>
        <p:nvSpPr>
          <p:cNvPr id="6" name="Shape 4"/>
          <p:cNvSpPr/>
          <p:nvPr/>
        </p:nvSpPr>
        <p:spPr>
          <a:xfrm>
            <a:off x="411480" y="841248"/>
            <a:ext cx="2624328" cy="64008"/>
          </a:xfrm>
          <a:prstGeom prst="rect">
            <a:avLst/>
          </a:prstGeom>
          <a:solidFill>
            <a:srgbClr val="D29922"/>
          </a:solidFill>
          <a:ln w="12700">
            <a:solidFill>
              <a:srgbClr val="D29922"/>
            </a:solidFill>
            <a:prstDash val="solid"/>
          </a:ln>
        </p:spPr>
      </p:sp>
      <p:sp>
        <p:nvSpPr>
          <p:cNvPr id="7" name="Shape 5"/>
          <p:cNvSpPr/>
          <p:nvPr/>
        </p:nvSpPr>
        <p:spPr>
          <a:xfrm>
            <a:off x="557784" y="1024128"/>
            <a:ext cx="713232" cy="274320"/>
          </a:xfrm>
          <a:prstGeom prst="rect">
            <a:avLst/>
          </a:prstGeom>
          <a:solidFill>
            <a:srgbClr val="2A2008"/>
          </a:solidFill>
          <a:ln w="9525">
            <a:solidFill>
              <a:srgbClr val="D29922"/>
            </a:solidFill>
            <a:prstDash val="solid"/>
          </a:ln>
        </p:spPr>
      </p:sp>
      <p:sp>
        <p:nvSpPr>
          <p:cNvPr id="8" name="Text 6"/>
          <p:cNvSpPr/>
          <p:nvPr/>
        </p:nvSpPr>
        <p:spPr>
          <a:xfrm>
            <a:off x="557784" y="1024128"/>
            <a:ext cx="713232" cy="274320"/>
          </a:xfrm>
          <a:prstGeom prst="rect">
            <a:avLst/>
          </a:prstGeom>
          <a:noFill/>
          <a:ln/>
        </p:spPr>
        <p:txBody>
          <a:bodyPr wrap="square" lIns="0" tIns="0" rIns="0" bIns="0" rtlCol="0" anchor="ctr"/>
          <a:lstStyle/>
          <a:p>
            <a:pPr algn="ctr" indent="0" marL="0">
              <a:buNone/>
            </a:pPr>
            <a:r>
              <a:rPr lang="en-US" sz="850" b="1" spc="100" kern="0" dirty="0">
                <a:solidFill>
                  <a:srgbClr val="E3B341"/>
                </a:solidFill>
                <a:latin typeface="Courier New" pitchFamily="34" charset="0"/>
                <a:ea typeface="Courier New" pitchFamily="34" charset="-122"/>
                <a:cs typeface="Courier New" pitchFamily="34" charset="-120"/>
              </a:rPr>
              <a:t>MED</a:t>
            </a:r>
            <a:endParaRPr lang="en-US" sz="850" dirty="0"/>
          </a:p>
        </p:txBody>
      </p:sp>
      <p:sp>
        <p:nvSpPr>
          <p:cNvPr id="9" name="Text 7"/>
          <p:cNvSpPr/>
          <p:nvPr/>
        </p:nvSpPr>
        <p:spPr>
          <a:xfrm>
            <a:off x="557784" y="1371600"/>
            <a:ext cx="2377440" cy="347472"/>
          </a:xfrm>
          <a:prstGeom prst="rect">
            <a:avLst/>
          </a:prstGeom>
          <a:noFill/>
          <a:ln/>
        </p:spPr>
        <p:txBody>
          <a:bodyPr wrap="square" lIns="0" tIns="0" rIns="0" bIns="0" rtlCol="0" anchor="ctr"/>
          <a:lstStyle/>
          <a:p>
            <a:pPr indent="0" marL="0">
              <a:buNone/>
            </a:pPr>
            <a:r>
              <a:rPr lang="en-US" sz="1100" b="1" dirty="0">
                <a:solidFill>
                  <a:srgbClr val="F0F6FC"/>
                </a:solidFill>
                <a:latin typeface="Calibri" pitchFamily="34" charset="0"/>
                <a:ea typeface="Calibri" pitchFamily="34" charset="-122"/>
                <a:cs typeface="Calibri" pitchFamily="34" charset="-120"/>
              </a:rPr>
              <a:t>Codespaces での Playwright</a:t>
            </a:r>
            <a:endParaRPr lang="en-US" sz="1100" dirty="0"/>
          </a:p>
        </p:txBody>
      </p:sp>
      <p:sp>
        <p:nvSpPr>
          <p:cNvPr id="10" name="Text 8"/>
          <p:cNvSpPr/>
          <p:nvPr/>
        </p:nvSpPr>
        <p:spPr>
          <a:xfrm>
            <a:off x="557784" y="1755648"/>
            <a:ext cx="2359152" cy="841248"/>
          </a:xfrm>
          <a:prstGeom prst="rect">
            <a:avLst/>
          </a:prstGeom>
          <a:noFill/>
          <a:ln/>
        </p:spPr>
        <p:txBody>
          <a:bodyPr wrap="square" lIns="0" tIns="0" rIns="0" bIns="0" rtlCol="0" anchor="ctr"/>
          <a:lstStyle/>
          <a:p>
            <a:pPr indent="0" marL="0">
              <a:lnSpc>
                <a:spcPct val="122000"/>
              </a:lnSpc>
              <a:buNone/>
            </a:pPr>
            <a:r>
              <a:rPr lang="en-US" sz="900" dirty="0">
                <a:solidFill>
                  <a:srgbClr val="8B949E"/>
                </a:solidFill>
                <a:latin typeface="Calibri" pitchFamily="34" charset="0"/>
                <a:ea typeface="Calibri" pitchFamily="34" charset="-122"/>
                <a:cs typeface="Calibri" pitchFamily="34" charset="-120"/>
              </a:rPr>
              <a:t>ヘッドレス Chrome が Codespaces VM で安定稼働するか要検証 (メモリ / --no-sandbox 前提)</a:t>
            </a:r>
            <a:endParaRPr lang="en-US" sz="900" dirty="0"/>
          </a:p>
        </p:txBody>
      </p:sp>
      <p:sp>
        <p:nvSpPr>
          <p:cNvPr id="11" name="Shape 9"/>
          <p:cNvSpPr/>
          <p:nvPr/>
        </p:nvSpPr>
        <p:spPr>
          <a:xfrm>
            <a:off x="3218688" y="841248"/>
            <a:ext cx="2624328" cy="1828800"/>
          </a:xfrm>
          <a:prstGeom prst="rect">
            <a:avLst/>
          </a:prstGeom>
          <a:solidFill>
            <a:srgbClr val="161B22"/>
          </a:solidFill>
          <a:ln w="12700">
            <a:solidFill>
              <a:srgbClr val="30363D"/>
            </a:solidFill>
            <a:prstDash val="solid"/>
          </a:ln>
        </p:spPr>
      </p:sp>
      <p:sp>
        <p:nvSpPr>
          <p:cNvPr id="12" name="Shape 10"/>
          <p:cNvSpPr/>
          <p:nvPr/>
        </p:nvSpPr>
        <p:spPr>
          <a:xfrm>
            <a:off x="3218688" y="841248"/>
            <a:ext cx="2624328" cy="64008"/>
          </a:xfrm>
          <a:prstGeom prst="rect">
            <a:avLst/>
          </a:prstGeom>
          <a:solidFill>
            <a:srgbClr val="F85149"/>
          </a:solidFill>
          <a:ln w="12700">
            <a:solidFill>
              <a:srgbClr val="F85149"/>
            </a:solidFill>
            <a:prstDash val="solid"/>
          </a:ln>
        </p:spPr>
      </p:sp>
      <p:sp>
        <p:nvSpPr>
          <p:cNvPr id="13" name="Shape 11"/>
          <p:cNvSpPr/>
          <p:nvPr/>
        </p:nvSpPr>
        <p:spPr>
          <a:xfrm>
            <a:off x="3364992" y="1024128"/>
            <a:ext cx="713232" cy="274320"/>
          </a:xfrm>
          <a:prstGeom prst="rect">
            <a:avLst/>
          </a:prstGeom>
          <a:solidFill>
            <a:srgbClr val="2A1213"/>
          </a:solidFill>
          <a:ln w="9525">
            <a:solidFill>
              <a:srgbClr val="F85149"/>
            </a:solidFill>
            <a:prstDash val="solid"/>
          </a:ln>
        </p:spPr>
      </p:sp>
      <p:sp>
        <p:nvSpPr>
          <p:cNvPr id="14" name="Text 12"/>
          <p:cNvSpPr/>
          <p:nvPr/>
        </p:nvSpPr>
        <p:spPr>
          <a:xfrm>
            <a:off x="3364992" y="1024128"/>
            <a:ext cx="713232" cy="274320"/>
          </a:xfrm>
          <a:prstGeom prst="rect">
            <a:avLst/>
          </a:prstGeom>
          <a:noFill/>
          <a:ln/>
        </p:spPr>
        <p:txBody>
          <a:bodyPr wrap="square" lIns="0" tIns="0" rIns="0" bIns="0" rtlCol="0" anchor="ctr"/>
          <a:lstStyle/>
          <a:p>
            <a:pPr algn="ctr" indent="0" marL="0">
              <a:buNone/>
            </a:pPr>
            <a:r>
              <a:rPr lang="en-US" sz="850" b="1" spc="100" kern="0" dirty="0">
                <a:solidFill>
                  <a:srgbClr val="FF7B72"/>
                </a:solidFill>
                <a:latin typeface="Courier New" pitchFamily="34" charset="0"/>
                <a:ea typeface="Courier New" pitchFamily="34" charset="-122"/>
                <a:cs typeface="Courier New" pitchFamily="34" charset="-120"/>
              </a:rPr>
              <a:t>HIGH</a:t>
            </a:r>
            <a:endParaRPr lang="en-US" sz="850" dirty="0"/>
          </a:p>
        </p:txBody>
      </p:sp>
      <p:sp>
        <p:nvSpPr>
          <p:cNvPr id="15" name="Text 13"/>
          <p:cNvSpPr/>
          <p:nvPr/>
        </p:nvSpPr>
        <p:spPr>
          <a:xfrm>
            <a:off x="3364992" y="1371600"/>
            <a:ext cx="2377440" cy="347472"/>
          </a:xfrm>
          <a:prstGeom prst="rect">
            <a:avLst/>
          </a:prstGeom>
          <a:noFill/>
          <a:ln/>
        </p:spPr>
        <p:txBody>
          <a:bodyPr wrap="square" lIns="0" tIns="0" rIns="0" bIns="0" rtlCol="0" anchor="ctr"/>
          <a:lstStyle/>
          <a:p>
            <a:pPr indent="0" marL="0">
              <a:buNone/>
            </a:pPr>
            <a:r>
              <a:rPr lang="en-US" sz="1100" b="1" dirty="0">
                <a:solidFill>
                  <a:srgbClr val="F0F6FC"/>
                </a:solidFill>
                <a:latin typeface="Calibri" pitchFamily="34" charset="0"/>
                <a:ea typeface="Calibri" pitchFamily="34" charset="-122"/>
                <a:cs typeface="Calibri" pitchFamily="34" charset="-120"/>
              </a:rPr>
              <a:t>AI へのデータ送信</a:t>
            </a:r>
            <a:endParaRPr lang="en-US" sz="1100" dirty="0"/>
          </a:p>
        </p:txBody>
      </p:sp>
      <p:sp>
        <p:nvSpPr>
          <p:cNvPr id="16" name="Text 14"/>
          <p:cNvSpPr/>
          <p:nvPr/>
        </p:nvSpPr>
        <p:spPr>
          <a:xfrm>
            <a:off x="3364992" y="1755648"/>
            <a:ext cx="2359152" cy="841248"/>
          </a:xfrm>
          <a:prstGeom prst="rect">
            <a:avLst/>
          </a:prstGeom>
          <a:noFill/>
          <a:ln/>
        </p:spPr>
        <p:txBody>
          <a:bodyPr wrap="square" lIns="0" tIns="0" rIns="0" bIns="0" rtlCol="0" anchor="ctr"/>
          <a:lstStyle/>
          <a:p>
            <a:pPr indent="0" marL="0">
              <a:lnSpc>
                <a:spcPct val="122000"/>
              </a:lnSpc>
              <a:buNone/>
            </a:pPr>
            <a:r>
              <a:rPr lang="en-US" sz="900" dirty="0">
                <a:solidFill>
                  <a:srgbClr val="8B949E"/>
                </a:solidFill>
                <a:latin typeface="Calibri" pitchFamily="34" charset="0"/>
                <a:ea typeface="Calibri" pitchFamily="34" charset="-122"/>
                <a:cs typeface="Calibri" pitchFamily="34" charset="-120"/>
              </a:rPr>
              <a:t>公開 S3 漏洩は防げるが、スクショをモデルプロバイダに送信する事実はガバナンス整理が必要</a:t>
            </a:r>
            <a:endParaRPr lang="en-US" sz="900" dirty="0"/>
          </a:p>
        </p:txBody>
      </p:sp>
      <p:sp>
        <p:nvSpPr>
          <p:cNvPr id="17" name="Shape 15"/>
          <p:cNvSpPr/>
          <p:nvPr/>
        </p:nvSpPr>
        <p:spPr>
          <a:xfrm>
            <a:off x="6025896" y="841248"/>
            <a:ext cx="2624328" cy="1828800"/>
          </a:xfrm>
          <a:prstGeom prst="rect">
            <a:avLst/>
          </a:prstGeom>
          <a:solidFill>
            <a:srgbClr val="161B22"/>
          </a:solidFill>
          <a:ln w="12700">
            <a:solidFill>
              <a:srgbClr val="30363D"/>
            </a:solidFill>
            <a:prstDash val="solid"/>
          </a:ln>
        </p:spPr>
      </p:sp>
      <p:sp>
        <p:nvSpPr>
          <p:cNvPr id="18" name="Shape 16"/>
          <p:cNvSpPr/>
          <p:nvPr/>
        </p:nvSpPr>
        <p:spPr>
          <a:xfrm>
            <a:off x="6025896" y="841248"/>
            <a:ext cx="2624328" cy="64008"/>
          </a:xfrm>
          <a:prstGeom prst="rect">
            <a:avLst/>
          </a:prstGeom>
          <a:solidFill>
            <a:srgbClr val="D29922"/>
          </a:solidFill>
          <a:ln w="12700">
            <a:solidFill>
              <a:srgbClr val="D29922"/>
            </a:solidFill>
            <a:prstDash val="solid"/>
          </a:ln>
        </p:spPr>
      </p:sp>
      <p:sp>
        <p:nvSpPr>
          <p:cNvPr id="19" name="Shape 17"/>
          <p:cNvSpPr/>
          <p:nvPr/>
        </p:nvSpPr>
        <p:spPr>
          <a:xfrm>
            <a:off x="6172200" y="1024128"/>
            <a:ext cx="713232" cy="274320"/>
          </a:xfrm>
          <a:prstGeom prst="rect">
            <a:avLst/>
          </a:prstGeom>
          <a:solidFill>
            <a:srgbClr val="2A2008"/>
          </a:solidFill>
          <a:ln w="9525">
            <a:solidFill>
              <a:srgbClr val="D29922"/>
            </a:solidFill>
            <a:prstDash val="solid"/>
          </a:ln>
        </p:spPr>
      </p:sp>
      <p:sp>
        <p:nvSpPr>
          <p:cNvPr id="20" name="Text 18"/>
          <p:cNvSpPr/>
          <p:nvPr/>
        </p:nvSpPr>
        <p:spPr>
          <a:xfrm>
            <a:off x="6172200" y="1024128"/>
            <a:ext cx="713232" cy="274320"/>
          </a:xfrm>
          <a:prstGeom prst="rect">
            <a:avLst/>
          </a:prstGeom>
          <a:noFill/>
          <a:ln/>
        </p:spPr>
        <p:txBody>
          <a:bodyPr wrap="square" lIns="0" tIns="0" rIns="0" bIns="0" rtlCol="0" anchor="ctr"/>
          <a:lstStyle/>
          <a:p>
            <a:pPr algn="ctr" indent="0" marL="0">
              <a:buNone/>
            </a:pPr>
            <a:r>
              <a:rPr lang="en-US" sz="850" b="1" spc="100" kern="0" dirty="0">
                <a:solidFill>
                  <a:srgbClr val="E3B341"/>
                </a:solidFill>
                <a:latin typeface="Courier New" pitchFamily="34" charset="0"/>
                <a:ea typeface="Courier New" pitchFamily="34" charset="-122"/>
                <a:cs typeface="Courier New" pitchFamily="34" charset="-120"/>
              </a:rPr>
              <a:t>MED</a:t>
            </a:r>
            <a:endParaRPr lang="en-US" sz="850" dirty="0"/>
          </a:p>
        </p:txBody>
      </p:sp>
      <p:sp>
        <p:nvSpPr>
          <p:cNvPr id="21" name="Text 19"/>
          <p:cNvSpPr/>
          <p:nvPr/>
        </p:nvSpPr>
        <p:spPr>
          <a:xfrm>
            <a:off x="6172200" y="1371600"/>
            <a:ext cx="2377440" cy="347472"/>
          </a:xfrm>
          <a:prstGeom prst="rect">
            <a:avLst/>
          </a:prstGeom>
          <a:noFill/>
          <a:ln/>
        </p:spPr>
        <p:txBody>
          <a:bodyPr wrap="square" lIns="0" tIns="0" rIns="0" bIns="0" rtlCol="0" anchor="ctr"/>
          <a:lstStyle/>
          <a:p>
            <a:pPr indent="0" marL="0">
              <a:buNone/>
            </a:pPr>
            <a:r>
              <a:rPr lang="en-US" sz="1100" b="1" dirty="0">
                <a:solidFill>
                  <a:srgbClr val="F0F6FC"/>
                </a:solidFill>
                <a:latin typeface="Calibri" pitchFamily="34" charset="0"/>
                <a:ea typeface="Calibri" pitchFamily="34" charset="-122"/>
                <a:cs typeface="Calibri" pitchFamily="34" charset="-120"/>
              </a:rPr>
              <a:t>Figma セッション管理</a:t>
            </a:r>
            <a:endParaRPr lang="en-US" sz="1100" dirty="0"/>
          </a:p>
        </p:txBody>
      </p:sp>
      <p:sp>
        <p:nvSpPr>
          <p:cNvPr id="22" name="Text 20"/>
          <p:cNvSpPr/>
          <p:nvPr/>
        </p:nvSpPr>
        <p:spPr>
          <a:xfrm>
            <a:off x="6172200" y="1755648"/>
            <a:ext cx="2359152" cy="841248"/>
          </a:xfrm>
          <a:prstGeom prst="rect">
            <a:avLst/>
          </a:prstGeom>
          <a:noFill/>
          <a:ln/>
        </p:spPr>
        <p:txBody>
          <a:bodyPr wrap="square" lIns="0" tIns="0" rIns="0" bIns="0" rtlCol="0" anchor="ctr"/>
          <a:lstStyle/>
          <a:p>
            <a:pPr indent="0" marL="0">
              <a:lnSpc>
                <a:spcPct val="122000"/>
              </a:lnSpc>
              <a:buNone/>
            </a:pPr>
            <a:r>
              <a:rPr lang="en-US" sz="900" dirty="0">
                <a:solidFill>
                  <a:srgbClr val="8B949E"/>
                </a:solidFill>
                <a:latin typeface="Calibri" pitchFamily="34" charset="0"/>
                <a:ea typeface="Calibri" pitchFamily="34" charset="-122"/>
                <a:cs typeface="Calibri" pitchFamily="34" charset="-120"/>
              </a:rPr>
              <a:t>storageState (cookie) の保持場所と更新。Codespaces は ephemeral。env 渡し対処済み</a:t>
            </a:r>
            <a:endParaRPr lang="en-US" sz="900" dirty="0"/>
          </a:p>
        </p:txBody>
      </p:sp>
      <p:sp>
        <p:nvSpPr>
          <p:cNvPr id="23" name="Shape 21"/>
          <p:cNvSpPr/>
          <p:nvPr/>
        </p:nvSpPr>
        <p:spPr>
          <a:xfrm>
            <a:off x="411480" y="2834640"/>
            <a:ext cx="2624328" cy="1828800"/>
          </a:xfrm>
          <a:prstGeom prst="rect">
            <a:avLst/>
          </a:prstGeom>
          <a:solidFill>
            <a:srgbClr val="161B22"/>
          </a:solidFill>
          <a:ln w="12700">
            <a:solidFill>
              <a:srgbClr val="30363D"/>
            </a:solidFill>
            <a:prstDash val="solid"/>
          </a:ln>
        </p:spPr>
      </p:sp>
      <p:sp>
        <p:nvSpPr>
          <p:cNvPr id="24" name="Shape 22"/>
          <p:cNvSpPr/>
          <p:nvPr/>
        </p:nvSpPr>
        <p:spPr>
          <a:xfrm>
            <a:off x="411480" y="2834640"/>
            <a:ext cx="2624328" cy="64008"/>
          </a:xfrm>
          <a:prstGeom prst="rect">
            <a:avLst/>
          </a:prstGeom>
          <a:solidFill>
            <a:srgbClr val="3FB950"/>
          </a:solidFill>
          <a:ln w="12700">
            <a:solidFill>
              <a:srgbClr val="3FB950"/>
            </a:solidFill>
            <a:prstDash val="solid"/>
          </a:ln>
        </p:spPr>
      </p:sp>
      <p:sp>
        <p:nvSpPr>
          <p:cNvPr id="25" name="Shape 23"/>
          <p:cNvSpPr/>
          <p:nvPr/>
        </p:nvSpPr>
        <p:spPr>
          <a:xfrm>
            <a:off x="557784" y="3017520"/>
            <a:ext cx="713232" cy="274320"/>
          </a:xfrm>
          <a:prstGeom prst="rect">
            <a:avLst/>
          </a:prstGeom>
          <a:solidFill>
            <a:srgbClr val="0F2A18"/>
          </a:solidFill>
          <a:ln w="9525">
            <a:solidFill>
              <a:srgbClr val="3FB950"/>
            </a:solidFill>
            <a:prstDash val="solid"/>
          </a:ln>
        </p:spPr>
      </p:sp>
      <p:sp>
        <p:nvSpPr>
          <p:cNvPr id="26" name="Text 24"/>
          <p:cNvSpPr/>
          <p:nvPr/>
        </p:nvSpPr>
        <p:spPr>
          <a:xfrm>
            <a:off x="557784" y="3017520"/>
            <a:ext cx="713232" cy="274320"/>
          </a:xfrm>
          <a:prstGeom prst="rect">
            <a:avLst/>
          </a:prstGeom>
          <a:noFill/>
          <a:ln/>
        </p:spPr>
        <p:txBody>
          <a:bodyPr wrap="square" lIns="0" tIns="0" rIns="0" bIns="0" rtlCol="0" anchor="ctr"/>
          <a:lstStyle/>
          <a:p>
            <a:pPr algn="ctr" indent="0" marL="0">
              <a:buNone/>
            </a:pPr>
            <a:r>
              <a:rPr lang="en-US" sz="850" b="1" spc="100" kern="0" dirty="0">
                <a:solidFill>
                  <a:srgbClr val="56D364"/>
                </a:solidFill>
                <a:latin typeface="Courier New" pitchFamily="34" charset="0"/>
                <a:ea typeface="Courier New" pitchFamily="34" charset="-122"/>
                <a:cs typeface="Courier New" pitchFamily="34" charset="-120"/>
              </a:rPr>
              <a:t>LOW</a:t>
            </a:r>
            <a:endParaRPr lang="en-US" sz="850" dirty="0"/>
          </a:p>
        </p:txBody>
      </p:sp>
      <p:sp>
        <p:nvSpPr>
          <p:cNvPr id="27" name="Text 25"/>
          <p:cNvSpPr/>
          <p:nvPr/>
        </p:nvSpPr>
        <p:spPr>
          <a:xfrm>
            <a:off x="557784" y="3364992"/>
            <a:ext cx="2377440" cy="347472"/>
          </a:xfrm>
          <a:prstGeom prst="rect">
            <a:avLst/>
          </a:prstGeom>
          <a:noFill/>
          <a:ln/>
        </p:spPr>
        <p:txBody>
          <a:bodyPr wrap="square" lIns="0" tIns="0" rIns="0" bIns="0" rtlCol="0" anchor="ctr"/>
          <a:lstStyle/>
          <a:p>
            <a:pPr indent="0" marL="0">
              <a:buNone/>
            </a:pPr>
            <a:r>
              <a:rPr lang="en-US" sz="1100" b="1" dirty="0">
                <a:solidFill>
                  <a:srgbClr val="F0F6FC"/>
                </a:solidFill>
                <a:latin typeface="Calibri" pitchFamily="34" charset="0"/>
                <a:ea typeface="Calibri" pitchFamily="34" charset="-122"/>
                <a:cs typeface="Calibri" pitchFamily="34" charset="-120"/>
              </a:rPr>
              <a:t>ボット検知</a:t>
            </a:r>
            <a:endParaRPr lang="en-US" sz="1100" dirty="0"/>
          </a:p>
        </p:txBody>
      </p:sp>
      <p:sp>
        <p:nvSpPr>
          <p:cNvPr id="28" name="Text 26"/>
          <p:cNvSpPr/>
          <p:nvPr/>
        </p:nvSpPr>
        <p:spPr>
          <a:xfrm>
            <a:off x="557784" y="3749040"/>
            <a:ext cx="2359152" cy="841248"/>
          </a:xfrm>
          <a:prstGeom prst="rect">
            <a:avLst/>
          </a:prstGeom>
          <a:noFill/>
          <a:ln/>
        </p:spPr>
        <p:txBody>
          <a:bodyPr wrap="square" lIns="0" tIns="0" rIns="0" bIns="0" rtlCol="0" anchor="ctr"/>
          <a:lstStyle/>
          <a:p>
            <a:pPr indent="0" marL="0">
              <a:lnSpc>
                <a:spcPct val="122000"/>
              </a:lnSpc>
              <a:buNone/>
            </a:pPr>
            <a:r>
              <a:rPr lang="en-US" sz="900" dirty="0">
                <a:solidFill>
                  <a:srgbClr val="8B949E"/>
                </a:solidFill>
                <a:latin typeface="Calibri" pitchFamily="34" charset="0"/>
                <a:ea typeface="Calibri" pitchFamily="34" charset="-122"/>
                <a:cs typeface="Calibri" pitchFamily="34" charset="-120"/>
              </a:rPr>
              <a:t>Figma 側の検知強化で UA 偽装等が効かなくなる可能性 (現状は回避実装済み)</a:t>
            </a:r>
            <a:endParaRPr lang="en-US" sz="900" dirty="0"/>
          </a:p>
        </p:txBody>
      </p:sp>
      <p:sp>
        <p:nvSpPr>
          <p:cNvPr id="29" name="Shape 27"/>
          <p:cNvSpPr/>
          <p:nvPr/>
        </p:nvSpPr>
        <p:spPr>
          <a:xfrm>
            <a:off x="3218688" y="2834640"/>
            <a:ext cx="2624328" cy="1828800"/>
          </a:xfrm>
          <a:prstGeom prst="rect">
            <a:avLst/>
          </a:prstGeom>
          <a:solidFill>
            <a:srgbClr val="161B22"/>
          </a:solidFill>
          <a:ln w="12700">
            <a:solidFill>
              <a:srgbClr val="30363D"/>
            </a:solidFill>
            <a:prstDash val="solid"/>
          </a:ln>
        </p:spPr>
      </p:sp>
      <p:sp>
        <p:nvSpPr>
          <p:cNvPr id="30" name="Shape 28"/>
          <p:cNvSpPr/>
          <p:nvPr/>
        </p:nvSpPr>
        <p:spPr>
          <a:xfrm>
            <a:off x="3218688" y="2834640"/>
            <a:ext cx="2624328" cy="64008"/>
          </a:xfrm>
          <a:prstGeom prst="rect">
            <a:avLst/>
          </a:prstGeom>
          <a:solidFill>
            <a:srgbClr val="3FB950"/>
          </a:solidFill>
          <a:ln w="12700">
            <a:solidFill>
              <a:srgbClr val="3FB950"/>
            </a:solidFill>
            <a:prstDash val="solid"/>
          </a:ln>
        </p:spPr>
      </p:sp>
      <p:sp>
        <p:nvSpPr>
          <p:cNvPr id="31" name="Shape 29"/>
          <p:cNvSpPr/>
          <p:nvPr/>
        </p:nvSpPr>
        <p:spPr>
          <a:xfrm>
            <a:off x="3364992" y="3017520"/>
            <a:ext cx="713232" cy="274320"/>
          </a:xfrm>
          <a:prstGeom prst="rect">
            <a:avLst/>
          </a:prstGeom>
          <a:solidFill>
            <a:srgbClr val="0F2A18"/>
          </a:solidFill>
          <a:ln w="9525">
            <a:solidFill>
              <a:srgbClr val="3FB950"/>
            </a:solidFill>
            <a:prstDash val="solid"/>
          </a:ln>
        </p:spPr>
      </p:sp>
      <p:sp>
        <p:nvSpPr>
          <p:cNvPr id="32" name="Text 30"/>
          <p:cNvSpPr/>
          <p:nvPr/>
        </p:nvSpPr>
        <p:spPr>
          <a:xfrm>
            <a:off x="3364992" y="3017520"/>
            <a:ext cx="713232" cy="274320"/>
          </a:xfrm>
          <a:prstGeom prst="rect">
            <a:avLst/>
          </a:prstGeom>
          <a:noFill/>
          <a:ln/>
        </p:spPr>
        <p:txBody>
          <a:bodyPr wrap="square" lIns="0" tIns="0" rIns="0" bIns="0" rtlCol="0" anchor="ctr"/>
          <a:lstStyle/>
          <a:p>
            <a:pPr algn="ctr" indent="0" marL="0">
              <a:buNone/>
            </a:pPr>
            <a:r>
              <a:rPr lang="en-US" sz="850" b="1" spc="100" kern="0" dirty="0">
                <a:solidFill>
                  <a:srgbClr val="56D364"/>
                </a:solidFill>
                <a:latin typeface="Courier New" pitchFamily="34" charset="0"/>
                <a:ea typeface="Courier New" pitchFamily="34" charset="-122"/>
                <a:cs typeface="Courier New" pitchFamily="34" charset="-120"/>
              </a:rPr>
              <a:t>LOW</a:t>
            </a:r>
            <a:endParaRPr lang="en-US" sz="850" dirty="0"/>
          </a:p>
        </p:txBody>
      </p:sp>
      <p:sp>
        <p:nvSpPr>
          <p:cNvPr id="33" name="Text 31"/>
          <p:cNvSpPr/>
          <p:nvPr/>
        </p:nvSpPr>
        <p:spPr>
          <a:xfrm>
            <a:off x="3364992" y="3364992"/>
            <a:ext cx="2377440" cy="347472"/>
          </a:xfrm>
          <a:prstGeom prst="rect">
            <a:avLst/>
          </a:prstGeom>
          <a:noFill/>
          <a:ln/>
        </p:spPr>
        <p:txBody>
          <a:bodyPr wrap="square" lIns="0" tIns="0" rIns="0" bIns="0" rtlCol="0" anchor="ctr"/>
          <a:lstStyle/>
          <a:p>
            <a:pPr indent="0" marL="0">
              <a:buNone/>
            </a:pPr>
            <a:r>
              <a:rPr lang="en-US" sz="1100" b="1" dirty="0">
                <a:solidFill>
                  <a:srgbClr val="F0F6FC"/>
                </a:solidFill>
                <a:latin typeface="Calibri" pitchFamily="34" charset="0"/>
                <a:ea typeface="Calibri" pitchFamily="34" charset="-122"/>
                <a:cs typeface="Calibri" pitchFamily="34" charset="-120"/>
              </a:rPr>
              <a:t>Figma 利用規約</a:t>
            </a:r>
            <a:endParaRPr lang="en-US" sz="1100" dirty="0"/>
          </a:p>
        </p:txBody>
      </p:sp>
      <p:sp>
        <p:nvSpPr>
          <p:cNvPr id="34" name="Text 32"/>
          <p:cNvSpPr/>
          <p:nvPr/>
        </p:nvSpPr>
        <p:spPr>
          <a:xfrm>
            <a:off x="3364992" y="3749040"/>
            <a:ext cx="2359152" cy="841248"/>
          </a:xfrm>
          <a:prstGeom prst="rect">
            <a:avLst/>
          </a:prstGeom>
          <a:noFill/>
          <a:ln/>
        </p:spPr>
        <p:txBody>
          <a:bodyPr wrap="square" lIns="0" tIns="0" rIns="0" bIns="0" rtlCol="0" anchor="ctr"/>
          <a:lstStyle/>
          <a:p>
            <a:pPr indent="0" marL="0">
              <a:lnSpc>
                <a:spcPct val="122000"/>
              </a:lnSpc>
              <a:buNone/>
            </a:pPr>
            <a:r>
              <a:rPr lang="en-US" sz="900" dirty="0">
                <a:solidFill>
                  <a:srgbClr val="8B949E"/>
                </a:solidFill>
                <a:latin typeface="Calibri" pitchFamily="34" charset="0"/>
                <a:ea typeface="Calibri" pitchFamily="34" charset="-122"/>
                <a:cs typeface="Calibri" pitchFamily="34" charset="-120"/>
              </a:rPr>
              <a:t>Playwright での自動操作が Figma ToS と整合するか、法務・セキュリティに確認要</a:t>
            </a:r>
            <a:endParaRPr lang="en-US" sz="900" dirty="0"/>
          </a:p>
        </p:txBody>
      </p:sp>
      <p:sp>
        <p:nvSpPr>
          <p:cNvPr id="35" name="Shape 33"/>
          <p:cNvSpPr/>
          <p:nvPr/>
        </p:nvSpPr>
        <p:spPr>
          <a:xfrm>
            <a:off x="6025896" y="2834640"/>
            <a:ext cx="2624328" cy="1828800"/>
          </a:xfrm>
          <a:prstGeom prst="rect">
            <a:avLst/>
          </a:prstGeom>
          <a:solidFill>
            <a:srgbClr val="161B22"/>
          </a:solidFill>
          <a:ln w="12700">
            <a:solidFill>
              <a:srgbClr val="30363D"/>
            </a:solidFill>
            <a:prstDash val="solid"/>
          </a:ln>
        </p:spPr>
      </p:sp>
      <p:sp>
        <p:nvSpPr>
          <p:cNvPr id="36" name="Shape 34"/>
          <p:cNvSpPr/>
          <p:nvPr/>
        </p:nvSpPr>
        <p:spPr>
          <a:xfrm>
            <a:off x="6025896" y="2834640"/>
            <a:ext cx="2624328" cy="64008"/>
          </a:xfrm>
          <a:prstGeom prst="rect">
            <a:avLst/>
          </a:prstGeom>
          <a:solidFill>
            <a:srgbClr val="3FB950"/>
          </a:solidFill>
          <a:ln w="12700">
            <a:solidFill>
              <a:srgbClr val="3FB950"/>
            </a:solidFill>
            <a:prstDash val="solid"/>
          </a:ln>
        </p:spPr>
      </p:sp>
      <p:sp>
        <p:nvSpPr>
          <p:cNvPr id="37" name="Shape 35"/>
          <p:cNvSpPr/>
          <p:nvPr/>
        </p:nvSpPr>
        <p:spPr>
          <a:xfrm>
            <a:off x="6172200" y="3017520"/>
            <a:ext cx="713232" cy="274320"/>
          </a:xfrm>
          <a:prstGeom prst="rect">
            <a:avLst/>
          </a:prstGeom>
          <a:solidFill>
            <a:srgbClr val="0F2A18"/>
          </a:solidFill>
          <a:ln w="9525">
            <a:solidFill>
              <a:srgbClr val="3FB950"/>
            </a:solidFill>
            <a:prstDash val="solid"/>
          </a:ln>
        </p:spPr>
      </p:sp>
      <p:sp>
        <p:nvSpPr>
          <p:cNvPr id="38" name="Text 36"/>
          <p:cNvSpPr/>
          <p:nvPr/>
        </p:nvSpPr>
        <p:spPr>
          <a:xfrm>
            <a:off x="6172200" y="3017520"/>
            <a:ext cx="713232" cy="274320"/>
          </a:xfrm>
          <a:prstGeom prst="rect">
            <a:avLst/>
          </a:prstGeom>
          <a:noFill/>
          <a:ln/>
        </p:spPr>
        <p:txBody>
          <a:bodyPr wrap="square" lIns="0" tIns="0" rIns="0" bIns="0" rtlCol="0" anchor="ctr"/>
          <a:lstStyle/>
          <a:p>
            <a:pPr algn="ctr" indent="0" marL="0">
              <a:buNone/>
            </a:pPr>
            <a:r>
              <a:rPr lang="en-US" sz="850" b="1" spc="100" kern="0" dirty="0">
                <a:solidFill>
                  <a:srgbClr val="56D364"/>
                </a:solidFill>
                <a:latin typeface="Courier New" pitchFamily="34" charset="0"/>
                <a:ea typeface="Courier New" pitchFamily="34" charset="-122"/>
                <a:cs typeface="Courier New" pitchFamily="34" charset="-120"/>
              </a:rPr>
              <a:t>LOW</a:t>
            </a:r>
            <a:endParaRPr lang="en-US" sz="850" dirty="0"/>
          </a:p>
        </p:txBody>
      </p:sp>
      <p:sp>
        <p:nvSpPr>
          <p:cNvPr id="39" name="Text 37"/>
          <p:cNvSpPr/>
          <p:nvPr/>
        </p:nvSpPr>
        <p:spPr>
          <a:xfrm>
            <a:off x="6172200" y="3364992"/>
            <a:ext cx="2377440" cy="347472"/>
          </a:xfrm>
          <a:prstGeom prst="rect">
            <a:avLst/>
          </a:prstGeom>
          <a:noFill/>
          <a:ln/>
        </p:spPr>
        <p:txBody>
          <a:bodyPr wrap="square" lIns="0" tIns="0" rIns="0" bIns="0" rtlCol="0" anchor="ctr"/>
          <a:lstStyle/>
          <a:p>
            <a:pPr indent="0" marL="0">
              <a:buNone/>
            </a:pPr>
            <a:r>
              <a:rPr lang="en-US" sz="1100" b="1" dirty="0">
                <a:solidFill>
                  <a:srgbClr val="F0F6FC"/>
                </a:solidFill>
                <a:latin typeface="Calibri" pitchFamily="34" charset="0"/>
                <a:ea typeface="Calibri" pitchFamily="34" charset="-122"/>
                <a:cs typeface="Calibri" pitchFamily="34" charset="-120"/>
              </a:rPr>
              <a:t>スケール</a:t>
            </a:r>
            <a:endParaRPr lang="en-US" sz="1100" dirty="0"/>
          </a:p>
        </p:txBody>
      </p:sp>
      <p:sp>
        <p:nvSpPr>
          <p:cNvPr id="40" name="Text 38"/>
          <p:cNvSpPr/>
          <p:nvPr/>
        </p:nvSpPr>
        <p:spPr>
          <a:xfrm>
            <a:off x="6172200" y="3749040"/>
            <a:ext cx="2359152" cy="841248"/>
          </a:xfrm>
          <a:prstGeom prst="rect">
            <a:avLst/>
          </a:prstGeom>
          <a:noFill/>
          <a:ln/>
        </p:spPr>
        <p:txBody>
          <a:bodyPr wrap="square" lIns="0" tIns="0" rIns="0" bIns="0" rtlCol="0" anchor="ctr"/>
          <a:lstStyle/>
          <a:p>
            <a:pPr indent="0" marL="0">
              <a:lnSpc>
                <a:spcPct val="122000"/>
              </a:lnSpc>
              <a:buNone/>
            </a:pPr>
            <a:r>
              <a:rPr lang="en-US" sz="900" dirty="0">
                <a:solidFill>
                  <a:srgbClr val="8B949E"/>
                </a:solidFill>
                <a:latin typeface="Calibri" pitchFamily="34" charset="0"/>
                <a:ea typeface="Calibri" pitchFamily="34" charset="-122"/>
                <a:cs typeface="Calibri" pitchFamily="34" charset="-120"/>
              </a:rPr>
              <a:t>MCP セッションはプロセス内メモリ。水平スケールには Redis 等が必要 (現状は単一プロセス)</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9</Slides>
  <Notes>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9</vt:i4>
      </vt:variant>
    </vt:vector>
  </HeadingPairs>
  <TitlesOfParts>
    <vt:vector size="1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Playwright ベースの自作 Figma MCP — 提案</dc:title>
  <dc:subject>PptxGenJS Presentation</dc:subject>
  <dc:creator>PptxGenJS</dc:creator>
  <cp:lastModifiedBy>PptxGenJS</cp:lastModifiedBy>
  <cp:revision>1</cp:revision>
  <dcterms:created xsi:type="dcterms:W3CDTF">2026-05-22T05:47:33Z</dcterms:created>
  <dcterms:modified xsi:type="dcterms:W3CDTF">2026-05-22T05:47:33Z</dcterms:modified>
</cp:coreProperties>
</file>